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35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F30"/>
          </a:solidFill>
          <a:ln/>
        </p:spPr>
      </p:sp>
      <p:sp>
        <p:nvSpPr>
          <p:cNvPr id="3" name="Shape 1"/>
          <p:cNvSpPr/>
          <p:nvPr/>
        </p:nvSpPr>
        <p:spPr>
          <a:xfrm>
            <a:off x="8412480" y="-2926080"/>
            <a:ext cx="7315200" cy="7315200"/>
          </a:xfrm>
          <a:prstGeom prst="ellipse">
            <a:avLst/>
          </a:prstGeom>
          <a:solidFill>
            <a:srgbClr val="12786B"/>
          </a:solidFill>
          <a:ln/>
        </p:spPr>
      </p:sp>
      <p:sp>
        <p:nvSpPr>
          <p:cNvPr id="4" name="Shape 2"/>
          <p:cNvSpPr/>
          <p:nvPr/>
        </p:nvSpPr>
        <p:spPr>
          <a:xfrm>
            <a:off x="8138160" y="2743200"/>
            <a:ext cx="4937760" cy="4937760"/>
          </a:xfrm>
          <a:prstGeom prst="ellipse">
            <a:avLst/>
          </a:prstGeom>
          <a:solidFill>
            <a:srgbClr val="E3A343"/>
          </a:solidFill>
          <a:ln/>
        </p:spPr>
      </p:sp>
      <p:sp>
        <p:nvSpPr>
          <p:cNvPr id="5" name="Text 3"/>
          <p:cNvSpPr/>
          <p:nvPr/>
        </p:nvSpPr>
        <p:spPr>
          <a:xfrm>
            <a:off x="731520" y="1234440"/>
            <a:ext cx="8229600" cy="320040"/>
          </a:xfrm>
          <a:prstGeom prst="rect">
            <a:avLst/>
          </a:prstGeom>
          <a:noFill/>
          <a:ln/>
        </p:spPr>
        <p:txBody>
          <a:bodyPr wrap="square" lIns="0" tIns="0" rIns="0" bIns="0" rtlCol="0" anchor="ctr"/>
          <a:lstStyle/>
          <a:p>
            <a:pPr indent="0" marL="0">
              <a:buNone/>
            </a:pPr>
            <a:r>
              <a:rPr lang="en-US" sz="1300" b="1" spc="200" kern="0" dirty="0">
                <a:solidFill>
                  <a:srgbClr val="E3A343"/>
                </a:solidFill>
                <a:latin typeface="Calibri" pitchFamily="34" charset="0"/>
                <a:ea typeface="Calibri" pitchFamily="34" charset="-122"/>
                <a:cs typeface="Calibri" pitchFamily="34" charset="-120"/>
              </a:rPr>
              <a:t>DECISION SUPPORT SYSTEMS  ·  FINAL PRESENTATION</a:t>
            </a:r>
            <a:endParaRPr lang="en-US" sz="1300" dirty="0"/>
          </a:p>
        </p:txBody>
      </p:sp>
      <p:sp>
        <p:nvSpPr>
          <p:cNvPr id="6" name="Text 4"/>
          <p:cNvSpPr/>
          <p:nvPr/>
        </p:nvSpPr>
        <p:spPr>
          <a:xfrm>
            <a:off x="685800" y="1600200"/>
            <a:ext cx="8229600" cy="118872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BudgetAI</a:t>
            </a:r>
            <a:endParaRPr lang="en-US" sz="6400" dirty="0"/>
          </a:p>
        </p:txBody>
      </p:sp>
      <p:sp>
        <p:nvSpPr>
          <p:cNvPr id="7" name="Text 5"/>
          <p:cNvSpPr/>
          <p:nvPr/>
        </p:nvSpPr>
        <p:spPr>
          <a:xfrm>
            <a:off x="731520" y="2697480"/>
            <a:ext cx="7863840" cy="640080"/>
          </a:xfrm>
          <a:prstGeom prst="rect">
            <a:avLst/>
          </a:prstGeom>
          <a:noFill/>
          <a:ln/>
        </p:spPr>
        <p:txBody>
          <a:bodyPr wrap="square" lIns="0" tIns="0" rIns="0" bIns="0" rtlCol="0" anchor="ctr"/>
          <a:lstStyle/>
          <a:p>
            <a:pPr indent="0" marL="0">
              <a:buNone/>
            </a:pPr>
            <a:r>
              <a:rPr lang="en-US" sz="1800" dirty="0">
                <a:solidFill>
                  <a:srgbClr val="CADCE0"/>
                </a:solidFill>
                <a:latin typeface="Calibri" pitchFamily="34" charset="0"/>
                <a:ea typeface="Calibri" pitchFamily="34" charset="-122"/>
                <a:cs typeface="Calibri" pitchFamily="34" charset="-120"/>
              </a:rPr>
              <a:t>An AI-Powered Decision Support System for Proactive Personal Finance</a:t>
            </a:r>
            <a:endParaRPr lang="en-US" sz="1800" dirty="0"/>
          </a:p>
        </p:txBody>
      </p:sp>
      <p:sp>
        <p:nvSpPr>
          <p:cNvPr id="8" name="Shape 6"/>
          <p:cNvSpPr/>
          <p:nvPr/>
        </p:nvSpPr>
        <p:spPr>
          <a:xfrm>
            <a:off x="731520" y="3520440"/>
            <a:ext cx="2926080" cy="0"/>
          </a:xfrm>
          <a:prstGeom prst="line">
            <a:avLst/>
          </a:prstGeom>
          <a:noFill/>
          <a:ln w="25400">
            <a:solidFill>
              <a:srgbClr val="12786B"/>
            </a:solidFill>
            <a:prstDash val="solid"/>
          </a:ln>
        </p:spPr>
      </p:sp>
      <p:sp>
        <p:nvSpPr>
          <p:cNvPr id="9" name="Text 7"/>
          <p:cNvSpPr/>
          <p:nvPr/>
        </p:nvSpPr>
        <p:spPr>
          <a:xfrm>
            <a:off x="731520" y="3703320"/>
            <a:ext cx="7315200" cy="365760"/>
          </a:xfrm>
          <a:prstGeom prst="rect">
            <a:avLst/>
          </a:prstGeom>
          <a:noFill/>
          <a:ln/>
        </p:spPr>
        <p:txBody>
          <a:bodyPr wrap="square" lIns="0" tIns="0" rIns="0" bIns="0" rtlCol="0" anchor="ctr"/>
          <a:lstStyle/>
          <a:p>
            <a:pPr indent="0" marL="0">
              <a:buNone/>
            </a:pPr>
            <a:r>
              <a:rPr lang="en-US" sz="1300" dirty="0">
                <a:solidFill>
                  <a:srgbClr val="9FB4C0"/>
                </a:solidFill>
                <a:latin typeface="Calibri" pitchFamily="34" charset="0"/>
                <a:ea typeface="Calibri" pitchFamily="34" charset="-122"/>
                <a:cs typeface="Calibri" pitchFamily="34" charset="-120"/>
              </a:rPr>
              <a:t>AIML_CSCN8030 — Artificial Intelligence for Business Decisions and Transformation</a:t>
            </a:r>
            <a:endParaRPr lang="en-US" sz="1300" dirty="0"/>
          </a:p>
        </p:txBody>
      </p:sp>
      <p:sp>
        <p:nvSpPr>
          <p:cNvPr id="10" name="Text 8"/>
          <p:cNvSpPr/>
          <p:nvPr/>
        </p:nvSpPr>
        <p:spPr>
          <a:xfrm>
            <a:off x="731520" y="5989320"/>
            <a:ext cx="9144000" cy="365760"/>
          </a:xfrm>
          <a:prstGeom prst="rect">
            <a:avLst/>
          </a:prstGeom>
          <a:noFill/>
          <a:ln/>
        </p:spPr>
        <p:txBody>
          <a:bodyPr wrap="square" lIns="0" tIns="0" rIns="0" bIns="0" rtlCol="0" anchor="ctr"/>
          <a:lstStyle/>
          <a:p>
            <a:pPr indent="0" marL="0">
              <a:buNone/>
            </a:pPr>
            <a:r>
              <a:rPr lang="en-US" sz="1250" dirty="0">
                <a:solidFill>
                  <a:srgbClr val="CADCE0"/>
                </a:solidFill>
                <a:latin typeface="Calibri" pitchFamily="34" charset="0"/>
                <a:ea typeface="Calibri" pitchFamily="34" charset="-122"/>
                <a:cs typeface="Calibri" pitchFamily="34" charset="-120"/>
              </a:rPr>
              <a:t>Team: Anthony Izevbokun  ·  Preeja Anilah  ·  Miih Thuan Truong  ·  Abdalla Mohamed</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335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F30"/>
          </a:solidFill>
          <a:ln/>
        </p:spPr>
      </p:sp>
      <p:sp>
        <p:nvSpPr>
          <p:cNvPr id="3" name="Shape 1"/>
          <p:cNvSpPr/>
          <p:nvPr/>
        </p:nvSpPr>
        <p:spPr>
          <a:xfrm>
            <a:off x="9692640" y="-2377440"/>
            <a:ext cx="5943600" cy="5943600"/>
          </a:xfrm>
          <a:prstGeom prst="ellipse">
            <a:avLst/>
          </a:prstGeom>
          <a:solidFill>
            <a:srgbClr val="12786B"/>
          </a:solidFill>
          <a:ln/>
        </p:spPr>
      </p:sp>
      <p:sp>
        <p:nvSpPr>
          <p:cNvPr id="4" name="Shape 2"/>
          <p:cNvSpPr/>
          <p:nvPr/>
        </p:nvSpPr>
        <p:spPr>
          <a:xfrm>
            <a:off x="-3291840" y="6035040"/>
            <a:ext cx="3291840" cy="3291840"/>
          </a:xfrm>
          <a:prstGeom prst="ellipse">
            <a:avLst/>
          </a:prstGeom>
          <a:solidFill>
            <a:srgbClr val="E3A343"/>
          </a:solidFill>
          <a:ln/>
        </p:spPr>
      </p:sp>
      <p:sp>
        <p:nvSpPr>
          <p:cNvPr id="5" name="Text 3"/>
          <p:cNvSpPr/>
          <p:nvPr/>
        </p:nvSpPr>
        <p:spPr>
          <a:xfrm>
            <a:off x="731520" y="1965960"/>
            <a:ext cx="5486400" cy="365760"/>
          </a:xfrm>
          <a:prstGeom prst="rect">
            <a:avLst/>
          </a:prstGeom>
          <a:noFill/>
          <a:ln/>
        </p:spPr>
        <p:txBody>
          <a:bodyPr wrap="square" lIns="0" tIns="0" rIns="0" bIns="0" rtlCol="0" anchor="ctr"/>
          <a:lstStyle/>
          <a:p>
            <a:pPr indent="0" marL="0">
              <a:buNone/>
            </a:pPr>
            <a:r>
              <a:rPr lang="en-US" sz="1400" b="1" spc="200" kern="0" dirty="0">
                <a:solidFill>
                  <a:srgbClr val="E3A343"/>
                </a:solidFill>
                <a:latin typeface="Calibri" pitchFamily="34" charset="0"/>
                <a:ea typeface="Calibri" pitchFamily="34" charset="-122"/>
                <a:cs typeface="Calibri" pitchFamily="34" charset="-120"/>
              </a:rPr>
              <a:t>SECTION 01</a:t>
            </a:r>
            <a:endParaRPr lang="en-US" sz="1400" dirty="0"/>
          </a:p>
        </p:txBody>
      </p:sp>
      <p:sp>
        <p:nvSpPr>
          <p:cNvPr id="6" name="Text 4"/>
          <p:cNvSpPr/>
          <p:nvPr/>
        </p:nvSpPr>
        <p:spPr>
          <a:xfrm>
            <a:off x="713232" y="2331720"/>
            <a:ext cx="9601200" cy="155448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Introduction to</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Decision Support Systems</a:t>
            </a:r>
            <a:endParaRPr lang="en-US" sz="4000" dirty="0"/>
          </a:p>
        </p:txBody>
      </p:sp>
      <p:sp>
        <p:nvSpPr>
          <p:cNvPr id="7" name="Shape 5"/>
          <p:cNvSpPr/>
          <p:nvPr/>
        </p:nvSpPr>
        <p:spPr>
          <a:xfrm>
            <a:off x="731520" y="3977640"/>
            <a:ext cx="2148840" cy="502920"/>
          </a:xfrm>
          <a:prstGeom prst="roundRect">
            <a:avLst>
              <a:gd name="adj" fmla="val 50909"/>
            </a:avLst>
          </a:prstGeom>
          <a:solidFill>
            <a:srgbClr val="12786B"/>
          </a:solidFill>
          <a:ln/>
        </p:spPr>
      </p:sp>
      <p:sp>
        <p:nvSpPr>
          <p:cNvPr id="8" name="Text 6"/>
          <p:cNvSpPr/>
          <p:nvPr/>
        </p:nvSpPr>
        <p:spPr>
          <a:xfrm>
            <a:off x="731520" y="3977640"/>
            <a:ext cx="21488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 MINUTES</a:t>
            </a:r>
            <a:endParaRPr lang="en-US" sz="1300" dirty="0"/>
          </a:p>
        </p:txBody>
      </p:sp>
      <p:sp>
        <p:nvSpPr>
          <p:cNvPr id="9" name="Text 7"/>
          <p:cNvSpPr/>
          <p:nvPr/>
        </p:nvSpPr>
        <p:spPr>
          <a:xfrm>
            <a:off x="749808" y="480060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The business problem behind BudgetAI</a:t>
            </a:r>
            <a:endParaRPr lang="en-US" sz="1400" dirty="0"/>
          </a:p>
        </p:txBody>
      </p:sp>
      <p:sp>
        <p:nvSpPr>
          <p:cNvPr id="10" name="Text 8"/>
          <p:cNvSpPr/>
          <p:nvPr/>
        </p:nvSpPr>
        <p:spPr>
          <a:xfrm>
            <a:off x="749808" y="516636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DSS techniques: dashboards, ML, optimization</a:t>
            </a:r>
            <a:endParaRPr lang="en-US" sz="1400" dirty="0"/>
          </a:p>
        </p:txBody>
      </p:sp>
      <p:sp>
        <p:nvSpPr>
          <p:cNvPr id="11" name="Text 9"/>
          <p:cNvSpPr/>
          <p:nvPr/>
        </p:nvSpPr>
        <p:spPr>
          <a:xfrm>
            <a:off x="749808" y="553212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Equity, accessibility and fairness commitments</a:t>
            </a:r>
            <a:endParaRPr lang="en-US" sz="1400" dirty="0"/>
          </a:p>
        </p:txBody>
      </p:sp>
      <p:sp>
        <p:nvSpPr>
          <p:cNvPr id="12" name="Text 10"/>
          <p:cNvSpPr/>
          <p:nvPr/>
        </p:nvSpPr>
        <p:spPr>
          <a:xfrm>
            <a:off x="749808" y="589788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KPIs and evaluation approach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INTRODUCTION TO DSS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The Business Problem</a:t>
            </a:r>
            <a:endParaRPr lang="en-US" sz="3000" dirty="0"/>
          </a:p>
        </p:txBody>
      </p:sp>
      <p:sp>
        <p:nvSpPr>
          <p:cNvPr id="4" name="Text 2"/>
          <p:cNvSpPr/>
          <p:nvPr/>
        </p:nvSpPr>
        <p:spPr>
          <a:xfrm>
            <a:off x="548640" y="1463040"/>
            <a:ext cx="6035040" cy="1463040"/>
          </a:xfrm>
          <a:prstGeom prst="rect">
            <a:avLst/>
          </a:prstGeom>
          <a:noFill/>
          <a:ln/>
        </p:spPr>
        <p:txBody>
          <a:bodyPr wrap="square" lIns="0" tIns="0" rIns="0" bIns="0" rtlCol="0" anchor="ctr"/>
          <a:lstStyle/>
          <a:p>
            <a:pPr indent="0" marL="0">
              <a:lnSpc>
                <a:spcPct val="120000"/>
              </a:lnSpc>
              <a:buNone/>
            </a:pPr>
            <a:r>
              <a:rPr lang="en-US" sz="1350" dirty="0">
                <a:solidFill>
                  <a:srgbClr val="1C2B36"/>
                </a:solidFill>
                <a:latin typeface="Calibri" pitchFamily="34" charset="0"/>
                <a:ea typeface="Calibri" pitchFamily="34" charset="-122"/>
                <a:cs typeface="Calibri" pitchFamily="34" charset="-120"/>
              </a:rPr>
              <a:t>Standard budgeting apps only report what already happened. Individuals struggle with irregular income, behavioural spending patterns, and reactive tools that surface problems only after money is already gone. BudgetAI's dataset user illustrates the pattern precisely:</a:t>
            </a:r>
            <a:endParaRPr lang="en-US" sz="1350" dirty="0"/>
          </a:p>
        </p:txBody>
      </p:sp>
      <p:sp>
        <p:nvSpPr>
          <p:cNvPr id="5" name="Shape 3"/>
          <p:cNvSpPr/>
          <p:nvPr/>
        </p:nvSpPr>
        <p:spPr>
          <a:xfrm>
            <a:off x="548640" y="3017520"/>
            <a:ext cx="82296" cy="685800"/>
          </a:xfrm>
          <a:prstGeom prst="roundRect">
            <a:avLst/>
          </a:prstGeom>
          <a:solidFill>
            <a:srgbClr val="E3A343"/>
          </a:solidFill>
          <a:ln/>
        </p:spPr>
      </p:sp>
      <p:sp>
        <p:nvSpPr>
          <p:cNvPr id="6" name="Text 4"/>
          <p:cNvSpPr/>
          <p:nvPr/>
        </p:nvSpPr>
        <p:spPr>
          <a:xfrm>
            <a:off x="777240" y="2999232"/>
            <a:ext cx="5760720" cy="292608"/>
          </a:xfrm>
          <a:prstGeom prst="rect">
            <a:avLst/>
          </a:prstGeom>
          <a:noFill/>
          <a:ln/>
        </p:spPr>
        <p:txBody>
          <a:bodyPr wrap="square" lIns="0" tIns="0" rIns="0" bIns="0" rtlCol="0" anchor="ctr"/>
          <a:lstStyle/>
          <a:p>
            <a:pPr indent="0" marL="0">
              <a:buNone/>
            </a:pPr>
            <a:r>
              <a:rPr lang="en-US" sz="1350" b="1" dirty="0">
                <a:solidFill>
                  <a:srgbClr val="0B3350"/>
                </a:solidFill>
                <a:latin typeface="Calibri" pitchFamily="34" charset="0"/>
                <a:ea typeface="Calibri" pitchFamily="34" charset="-122"/>
                <a:cs typeface="Calibri" pitchFamily="34" charset="-120"/>
              </a:rPr>
              <a:t>Reactive, not proactive</a:t>
            </a:r>
            <a:endParaRPr lang="en-US" sz="1350" dirty="0"/>
          </a:p>
        </p:txBody>
      </p:sp>
      <p:sp>
        <p:nvSpPr>
          <p:cNvPr id="7" name="Text 5"/>
          <p:cNvSpPr/>
          <p:nvPr/>
        </p:nvSpPr>
        <p:spPr>
          <a:xfrm>
            <a:off x="777240" y="3273552"/>
            <a:ext cx="5760720" cy="457200"/>
          </a:xfrm>
          <a:prstGeom prst="rect">
            <a:avLst/>
          </a:prstGeom>
          <a:noFill/>
          <a:ln/>
        </p:spPr>
        <p:txBody>
          <a:bodyPr wrap="square" lIns="0" tIns="0" rIns="0" bIns="0" rtlCol="0" anchor="ctr"/>
          <a:lstStyle/>
          <a:p>
            <a:pPr indent="0" marL="0">
              <a:lnSpc>
                <a:spcPct val="110000"/>
              </a:lnSpc>
              <a:buNone/>
            </a:pPr>
            <a:r>
              <a:rPr lang="en-US" sz="1150" dirty="0">
                <a:solidFill>
                  <a:srgbClr val="5B6B76"/>
                </a:solidFill>
                <a:latin typeface="Calibri" pitchFamily="34" charset="0"/>
                <a:ea typeface="Calibri" pitchFamily="34" charset="-122"/>
                <a:cs typeface="Calibri" pitchFamily="34" charset="-120"/>
              </a:rPr>
              <a:t>Users learn about shortfalls only after transactions post — no advance warning.</a:t>
            </a:r>
            <a:endParaRPr lang="en-US" sz="1150" dirty="0"/>
          </a:p>
        </p:txBody>
      </p:sp>
      <p:sp>
        <p:nvSpPr>
          <p:cNvPr id="8" name="Shape 6"/>
          <p:cNvSpPr/>
          <p:nvPr/>
        </p:nvSpPr>
        <p:spPr>
          <a:xfrm>
            <a:off x="548640" y="3886200"/>
            <a:ext cx="82296" cy="685800"/>
          </a:xfrm>
          <a:prstGeom prst="roundRect">
            <a:avLst/>
          </a:prstGeom>
          <a:solidFill>
            <a:srgbClr val="E3A343"/>
          </a:solidFill>
          <a:ln/>
        </p:spPr>
      </p:sp>
      <p:sp>
        <p:nvSpPr>
          <p:cNvPr id="9" name="Text 7"/>
          <p:cNvSpPr/>
          <p:nvPr/>
        </p:nvSpPr>
        <p:spPr>
          <a:xfrm>
            <a:off x="777240" y="3867912"/>
            <a:ext cx="5760720" cy="292608"/>
          </a:xfrm>
          <a:prstGeom prst="rect">
            <a:avLst/>
          </a:prstGeom>
          <a:noFill/>
          <a:ln/>
        </p:spPr>
        <p:txBody>
          <a:bodyPr wrap="square" lIns="0" tIns="0" rIns="0" bIns="0" rtlCol="0" anchor="ctr"/>
          <a:lstStyle/>
          <a:p>
            <a:pPr indent="0" marL="0">
              <a:buNone/>
            </a:pPr>
            <a:r>
              <a:rPr lang="en-US" sz="1350" b="1" dirty="0">
                <a:solidFill>
                  <a:srgbClr val="0B3350"/>
                </a:solidFill>
                <a:latin typeface="Calibri" pitchFamily="34" charset="0"/>
                <a:ea typeface="Calibri" pitchFamily="34" charset="-122"/>
                <a:cs typeface="Calibri" pitchFamily="34" charset="-120"/>
              </a:rPr>
              <a:t>Behavioural blind spots</a:t>
            </a:r>
            <a:endParaRPr lang="en-US" sz="1350" dirty="0"/>
          </a:p>
        </p:txBody>
      </p:sp>
      <p:sp>
        <p:nvSpPr>
          <p:cNvPr id="10" name="Text 8"/>
          <p:cNvSpPr/>
          <p:nvPr/>
        </p:nvSpPr>
        <p:spPr>
          <a:xfrm>
            <a:off x="777240" y="4142232"/>
            <a:ext cx="5760720" cy="457200"/>
          </a:xfrm>
          <a:prstGeom prst="rect">
            <a:avLst/>
          </a:prstGeom>
          <a:noFill/>
          <a:ln/>
        </p:spPr>
        <p:txBody>
          <a:bodyPr wrap="square" lIns="0" tIns="0" rIns="0" bIns="0" rtlCol="0" anchor="ctr"/>
          <a:lstStyle/>
          <a:p>
            <a:pPr indent="0" marL="0">
              <a:lnSpc>
                <a:spcPct val="110000"/>
              </a:lnSpc>
              <a:buNone/>
            </a:pPr>
            <a:r>
              <a:rPr lang="en-US" sz="1150" dirty="0">
                <a:solidFill>
                  <a:srgbClr val="5B6B76"/>
                </a:solidFill>
                <a:latin typeface="Calibri" pitchFamily="34" charset="0"/>
                <a:ea typeface="Calibri" pitchFamily="34" charset="-122"/>
                <a:cs typeface="Calibri" pitchFamily="34" charset="-120"/>
              </a:rPr>
              <a:t>Weekend spend runs 18% above weekday average ($80 vs $68/day); no tool flags the pattern.</a:t>
            </a:r>
            <a:endParaRPr lang="en-US" sz="1150" dirty="0"/>
          </a:p>
        </p:txBody>
      </p:sp>
      <p:sp>
        <p:nvSpPr>
          <p:cNvPr id="11" name="Shape 9"/>
          <p:cNvSpPr/>
          <p:nvPr/>
        </p:nvSpPr>
        <p:spPr>
          <a:xfrm>
            <a:off x="548640" y="4754880"/>
            <a:ext cx="82296" cy="685800"/>
          </a:xfrm>
          <a:prstGeom prst="roundRect">
            <a:avLst/>
          </a:prstGeom>
          <a:solidFill>
            <a:srgbClr val="E3A343"/>
          </a:solidFill>
          <a:ln/>
        </p:spPr>
      </p:sp>
      <p:sp>
        <p:nvSpPr>
          <p:cNvPr id="12" name="Text 10"/>
          <p:cNvSpPr/>
          <p:nvPr/>
        </p:nvSpPr>
        <p:spPr>
          <a:xfrm>
            <a:off x="777240" y="4736592"/>
            <a:ext cx="5760720" cy="292608"/>
          </a:xfrm>
          <a:prstGeom prst="rect">
            <a:avLst/>
          </a:prstGeom>
          <a:noFill/>
          <a:ln/>
        </p:spPr>
        <p:txBody>
          <a:bodyPr wrap="square" lIns="0" tIns="0" rIns="0" bIns="0" rtlCol="0" anchor="ctr"/>
          <a:lstStyle/>
          <a:p>
            <a:pPr indent="0" marL="0">
              <a:buNone/>
            </a:pPr>
            <a:r>
              <a:rPr lang="en-US" sz="1350" b="1" dirty="0">
                <a:solidFill>
                  <a:srgbClr val="0B3350"/>
                </a:solidFill>
                <a:latin typeface="Calibri" pitchFamily="34" charset="0"/>
                <a:ea typeface="Calibri" pitchFamily="34" charset="-122"/>
                <a:cs typeface="Calibri" pitchFamily="34" charset="-120"/>
              </a:rPr>
              <a:t>Structural under-saving</a:t>
            </a:r>
            <a:endParaRPr lang="en-US" sz="1350" dirty="0"/>
          </a:p>
        </p:txBody>
      </p:sp>
      <p:sp>
        <p:nvSpPr>
          <p:cNvPr id="13" name="Text 11"/>
          <p:cNvSpPr/>
          <p:nvPr/>
        </p:nvSpPr>
        <p:spPr>
          <a:xfrm>
            <a:off x="777240" y="5010912"/>
            <a:ext cx="5760720" cy="457200"/>
          </a:xfrm>
          <a:prstGeom prst="rect">
            <a:avLst/>
          </a:prstGeom>
          <a:noFill/>
          <a:ln/>
        </p:spPr>
        <p:txBody>
          <a:bodyPr wrap="square" lIns="0" tIns="0" rIns="0" bIns="0" rtlCol="0" anchor="ctr"/>
          <a:lstStyle/>
          <a:p>
            <a:pPr indent="0" marL="0">
              <a:lnSpc>
                <a:spcPct val="110000"/>
              </a:lnSpc>
              <a:buNone/>
            </a:pPr>
            <a:r>
              <a:rPr lang="en-US" sz="1150" dirty="0">
                <a:solidFill>
                  <a:srgbClr val="5B6B76"/>
                </a:solidFill>
                <a:latin typeface="Calibri" pitchFamily="34" charset="0"/>
                <a:ea typeface="Calibri" pitchFamily="34" charset="-122"/>
                <a:cs typeface="Calibri" pitchFamily="34" charset="-120"/>
              </a:rPr>
              <a:t>12 straight months below the 15% savings target signal a systemic issue, not a lapse.</a:t>
            </a:r>
            <a:endParaRPr lang="en-US" sz="1150" dirty="0"/>
          </a:p>
        </p:txBody>
      </p:sp>
      <p:sp>
        <p:nvSpPr>
          <p:cNvPr id="14" name="Shape 12"/>
          <p:cNvSpPr/>
          <p:nvPr/>
        </p:nvSpPr>
        <p:spPr>
          <a:xfrm>
            <a:off x="6995160" y="1463040"/>
            <a:ext cx="2212848" cy="1234440"/>
          </a:xfrm>
          <a:prstGeom prst="roundRect">
            <a:avLst>
              <a:gd name="adj" fmla="val 5926"/>
            </a:avLst>
          </a:prstGeom>
          <a:solidFill>
            <a:srgbClr val="EEF2F4"/>
          </a:solidFill>
          <a:ln/>
          <a:effectLst>
            <a:outerShdw sx="100000" sy="100000" kx="0" ky="0" algn="bl" rotWithShape="0" blurRad="76200" dist="25400" dir="5400000">
              <a:srgbClr val="1B2A38">
                <a:alpha val="12000"/>
              </a:srgbClr>
            </a:outerShdw>
          </a:effectLst>
        </p:spPr>
      </p:sp>
      <p:sp>
        <p:nvSpPr>
          <p:cNvPr id="15" name="Text 13"/>
          <p:cNvSpPr/>
          <p:nvPr/>
        </p:nvSpPr>
        <p:spPr>
          <a:xfrm>
            <a:off x="7132320" y="1572768"/>
            <a:ext cx="1938528" cy="678942"/>
          </a:xfrm>
          <a:prstGeom prst="rect">
            <a:avLst/>
          </a:prstGeom>
          <a:noFill/>
          <a:ln/>
        </p:spPr>
        <p:txBody>
          <a:bodyPr wrap="square" lIns="0" tIns="0" rIns="0" bIns="0" rtlCol="0" anchor="ctr"/>
          <a:lstStyle/>
          <a:p>
            <a:pPr algn="l" indent="0" marL="0">
              <a:buNone/>
            </a:pPr>
            <a:r>
              <a:rPr lang="en-US" sz="2600" b="1" dirty="0">
                <a:solidFill>
                  <a:srgbClr val="B4443C"/>
                </a:solidFill>
                <a:latin typeface="Cambria" pitchFamily="34" charset="0"/>
                <a:ea typeface="Cambria" pitchFamily="34" charset="-122"/>
                <a:cs typeface="Cambria" pitchFamily="34" charset="-120"/>
              </a:rPr>
              <a:t>7.7%</a:t>
            </a:r>
            <a:endParaRPr lang="en-US" sz="2600" dirty="0"/>
          </a:p>
        </p:txBody>
      </p:sp>
      <p:sp>
        <p:nvSpPr>
          <p:cNvPr id="16" name="Text 14"/>
          <p:cNvSpPr/>
          <p:nvPr/>
        </p:nvSpPr>
        <p:spPr>
          <a:xfrm>
            <a:off x="7132320" y="2203704"/>
            <a:ext cx="1938528" cy="469087"/>
          </a:xfrm>
          <a:prstGeom prst="rect">
            <a:avLst/>
          </a:prstGeom>
          <a:noFill/>
          <a:ln/>
        </p:spPr>
        <p:txBody>
          <a:bodyPr wrap="square" lIns="0" tIns="0" rIns="0" bIns="0" rtlCol="0" anchor="ctr"/>
          <a:lstStyle/>
          <a:p>
            <a:pPr algn="l" indent="0" marL="0">
              <a:lnSpc>
                <a:spcPct val="105000"/>
              </a:lnSpc>
              <a:buNone/>
            </a:pPr>
            <a:r>
              <a:rPr lang="en-US" sz="1050" dirty="0">
                <a:solidFill>
                  <a:srgbClr val="5B6B76"/>
                </a:solidFill>
                <a:latin typeface="Calibri" pitchFamily="34" charset="0"/>
                <a:ea typeface="Calibri" pitchFamily="34" charset="-122"/>
                <a:cs typeface="Calibri" pitchFamily="34" charset="-120"/>
              </a:rPr>
              <a:t>actual savings rate vs. 15% target</a:t>
            </a:r>
            <a:endParaRPr lang="en-US" sz="1050" dirty="0"/>
          </a:p>
        </p:txBody>
      </p:sp>
      <p:sp>
        <p:nvSpPr>
          <p:cNvPr id="17" name="Shape 15"/>
          <p:cNvSpPr/>
          <p:nvPr/>
        </p:nvSpPr>
        <p:spPr>
          <a:xfrm>
            <a:off x="9326880" y="1463040"/>
            <a:ext cx="2286000" cy="1234440"/>
          </a:xfrm>
          <a:prstGeom prst="roundRect">
            <a:avLst>
              <a:gd name="adj" fmla="val 5926"/>
            </a:avLst>
          </a:prstGeom>
          <a:solidFill>
            <a:srgbClr val="EEF2F4"/>
          </a:solidFill>
          <a:ln/>
          <a:effectLst>
            <a:outerShdw sx="100000" sy="100000" kx="0" ky="0" algn="bl" rotWithShape="0" blurRad="76200" dist="25400" dir="5400000">
              <a:srgbClr val="1B2A38">
                <a:alpha val="12000"/>
              </a:srgbClr>
            </a:outerShdw>
          </a:effectLst>
        </p:spPr>
      </p:sp>
      <p:sp>
        <p:nvSpPr>
          <p:cNvPr id="18" name="Text 16"/>
          <p:cNvSpPr/>
          <p:nvPr/>
        </p:nvSpPr>
        <p:spPr>
          <a:xfrm>
            <a:off x="9464040" y="1572768"/>
            <a:ext cx="2011680" cy="678942"/>
          </a:xfrm>
          <a:prstGeom prst="rect">
            <a:avLst/>
          </a:prstGeom>
          <a:noFill/>
          <a:ln/>
        </p:spPr>
        <p:txBody>
          <a:bodyPr wrap="square" lIns="0" tIns="0" rIns="0" bIns="0" rtlCol="0" anchor="ctr"/>
          <a:lstStyle/>
          <a:p>
            <a:pPr algn="l" indent="0" marL="0">
              <a:buNone/>
            </a:pPr>
            <a:r>
              <a:rPr lang="en-US" sz="2600" b="1" dirty="0">
                <a:solidFill>
                  <a:srgbClr val="E3A343"/>
                </a:solidFill>
                <a:latin typeface="Cambria" pitchFamily="34" charset="0"/>
                <a:ea typeface="Cambria" pitchFamily="34" charset="-122"/>
                <a:cs typeface="Cambria" pitchFamily="34" charset="-120"/>
              </a:rPr>
              <a:t>26.1%</a:t>
            </a:r>
            <a:endParaRPr lang="en-US" sz="2600" dirty="0"/>
          </a:p>
        </p:txBody>
      </p:sp>
      <p:sp>
        <p:nvSpPr>
          <p:cNvPr id="19" name="Text 17"/>
          <p:cNvSpPr/>
          <p:nvPr/>
        </p:nvSpPr>
        <p:spPr>
          <a:xfrm>
            <a:off x="9464040" y="2203704"/>
            <a:ext cx="2011680" cy="469087"/>
          </a:xfrm>
          <a:prstGeom prst="rect">
            <a:avLst/>
          </a:prstGeom>
          <a:noFill/>
          <a:ln/>
        </p:spPr>
        <p:txBody>
          <a:bodyPr wrap="square" lIns="0" tIns="0" rIns="0" bIns="0" rtlCol="0" anchor="ctr"/>
          <a:lstStyle/>
          <a:p>
            <a:pPr algn="l" indent="0" marL="0">
              <a:lnSpc>
                <a:spcPct val="105000"/>
              </a:lnSpc>
              <a:buNone/>
            </a:pPr>
            <a:r>
              <a:rPr lang="en-US" sz="1050" dirty="0">
                <a:solidFill>
                  <a:srgbClr val="5B6B76"/>
                </a:solidFill>
                <a:latin typeface="Calibri" pitchFamily="34" charset="0"/>
                <a:ea typeface="Calibri" pitchFamily="34" charset="-122"/>
                <a:cs typeface="Calibri" pitchFamily="34" charset="-120"/>
              </a:rPr>
              <a:t>of spend is controllable Dining + Entertainment</a:t>
            </a:r>
            <a:endParaRPr lang="en-US" sz="1050" dirty="0"/>
          </a:p>
        </p:txBody>
      </p:sp>
      <p:sp>
        <p:nvSpPr>
          <p:cNvPr id="20" name="Shape 18"/>
          <p:cNvSpPr/>
          <p:nvPr/>
        </p:nvSpPr>
        <p:spPr>
          <a:xfrm>
            <a:off x="6995160" y="2880360"/>
            <a:ext cx="2212848" cy="1234440"/>
          </a:xfrm>
          <a:prstGeom prst="roundRect">
            <a:avLst>
              <a:gd name="adj" fmla="val 5926"/>
            </a:avLst>
          </a:prstGeom>
          <a:solidFill>
            <a:srgbClr val="EEF2F4"/>
          </a:solidFill>
          <a:ln/>
          <a:effectLst>
            <a:outerShdw sx="100000" sy="100000" kx="0" ky="0" algn="bl" rotWithShape="0" blurRad="76200" dist="25400" dir="5400000">
              <a:srgbClr val="1B2A38">
                <a:alpha val="12000"/>
              </a:srgbClr>
            </a:outerShdw>
          </a:effectLst>
        </p:spPr>
      </p:sp>
      <p:sp>
        <p:nvSpPr>
          <p:cNvPr id="21" name="Text 19"/>
          <p:cNvSpPr/>
          <p:nvPr/>
        </p:nvSpPr>
        <p:spPr>
          <a:xfrm>
            <a:off x="7132320" y="2990088"/>
            <a:ext cx="1938528" cy="678942"/>
          </a:xfrm>
          <a:prstGeom prst="rect">
            <a:avLst/>
          </a:prstGeom>
          <a:noFill/>
          <a:ln/>
        </p:spPr>
        <p:txBody>
          <a:bodyPr wrap="square" lIns="0" tIns="0" rIns="0" bIns="0" rtlCol="0" anchor="ctr"/>
          <a:lstStyle/>
          <a:p>
            <a:pPr algn="l" indent="0" marL="0">
              <a:buNone/>
            </a:pPr>
            <a:r>
              <a:rPr lang="en-US" sz="2600" b="1" dirty="0">
                <a:solidFill>
                  <a:srgbClr val="12786B"/>
                </a:solidFill>
                <a:latin typeface="Cambria" pitchFamily="34" charset="0"/>
                <a:ea typeface="Cambria" pitchFamily="34" charset="-122"/>
                <a:cs typeface="Cambria" pitchFamily="34" charset="-120"/>
              </a:rPr>
              <a:t>$6,554</a:t>
            </a:r>
            <a:endParaRPr lang="en-US" sz="2600" dirty="0"/>
          </a:p>
        </p:txBody>
      </p:sp>
      <p:sp>
        <p:nvSpPr>
          <p:cNvPr id="22" name="Text 20"/>
          <p:cNvSpPr/>
          <p:nvPr/>
        </p:nvSpPr>
        <p:spPr>
          <a:xfrm>
            <a:off x="7132320" y="3621024"/>
            <a:ext cx="1938528" cy="469087"/>
          </a:xfrm>
          <a:prstGeom prst="rect">
            <a:avLst/>
          </a:prstGeom>
          <a:noFill/>
          <a:ln/>
        </p:spPr>
        <p:txBody>
          <a:bodyPr wrap="square" lIns="0" tIns="0" rIns="0" bIns="0" rtlCol="0" anchor="ctr"/>
          <a:lstStyle/>
          <a:p>
            <a:pPr algn="l" indent="0" marL="0">
              <a:lnSpc>
                <a:spcPct val="105000"/>
              </a:lnSpc>
              <a:buNone/>
            </a:pPr>
            <a:r>
              <a:rPr lang="en-US" sz="1050" dirty="0">
                <a:solidFill>
                  <a:srgbClr val="5B6B76"/>
                </a:solidFill>
                <a:latin typeface="Calibri" pitchFamily="34" charset="0"/>
                <a:ea typeface="Calibri" pitchFamily="34" charset="-122"/>
                <a:cs typeface="Calibri" pitchFamily="34" charset="-120"/>
              </a:rPr>
              <a:t>annual Dining spend — largest controllable category</a:t>
            </a:r>
            <a:endParaRPr lang="en-US" sz="1050" dirty="0"/>
          </a:p>
        </p:txBody>
      </p:sp>
      <p:sp>
        <p:nvSpPr>
          <p:cNvPr id="23" name="Shape 21"/>
          <p:cNvSpPr/>
          <p:nvPr/>
        </p:nvSpPr>
        <p:spPr>
          <a:xfrm>
            <a:off x="9326880" y="2880360"/>
            <a:ext cx="2286000" cy="1234440"/>
          </a:xfrm>
          <a:prstGeom prst="roundRect">
            <a:avLst>
              <a:gd name="adj" fmla="val 5926"/>
            </a:avLst>
          </a:prstGeom>
          <a:solidFill>
            <a:srgbClr val="EEF2F4"/>
          </a:solidFill>
          <a:ln/>
          <a:effectLst>
            <a:outerShdw sx="100000" sy="100000" kx="0" ky="0" algn="bl" rotWithShape="0" blurRad="76200" dist="25400" dir="5400000">
              <a:srgbClr val="1B2A38">
                <a:alpha val="12000"/>
              </a:srgbClr>
            </a:outerShdw>
          </a:effectLst>
        </p:spPr>
      </p:sp>
      <p:sp>
        <p:nvSpPr>
          <p:cNvPr id="24" name="Text 22"/>
          <p:cNvSpPr/>
          <p:nvPr/>
        </p:nvSpPr>
        <p:spPr>
          <a:xfrm>
            <a:off x="9464040" y="2990088"/>
            <a:ext cx="2011680" cy="678942"/>
          </a:xfrm>
          <a:prstGeom prst="rect">
            <a:avLst/>
          </a:prstGeom>
          <a:noFill/>
          <a:ln/>
        </p:spPr>
        <p:txBody>
          <a:bodyPr wrap="square" lIns="0" tIns="0" rIns="0" bIns="0" rtlCol="0" anchor="ctr"/>
          <a:lstStyle/>
          <a:p>
            <a:pPr algn="l" indent="0" marL="0">
              <a:buNone/>
            </a:pPr>
            <a:r>
              <a:rPr lang="en-US" sz="2600" b="1" dirty="0">
                <a:solidFill>
                  <a:srgbClr val="0B3350"/>
                </a:solidFill>
                <a:latin typeface="Cambria" pitchFamily="34" charset="0"/>
                <a:ea typeface="Cambria" pitchFamily="34" charset="-122"/>
                <a:cs typeface="Cambria" pitchFamily="34" charset="-120"/>
              </a:rPr>
              <a:t>12</a:t>
            </a:r>
            <a:endParaRPr lang="en-US" sz="2600" dirty="0"/>
          </a:p>
        </p:txBody>
      </p:sp>
      <p:sp>
        <p:nvSpPr>
          <p:cNvPr id="25" name="Text 23"/>
          <p:cNvSpPr/>
          <p:nvPr/>
        </p:nvSpPr>
        <p:spPr>
          <a:xfrm>
            <a:off x="9464040" y="3621024"/>
            <a:ext cx="2011680" cy="469087"/>
          </a:xfrm>
          <a:prstGeom prst="rect">
            <a:avLst/>
          </a:prstGeom>
          <a:noFill/>
          <a:ln/>
        </p:spPr>
        <p:txBody>
          <a:bodyPr wrap="square" lIns="0" tIns="0" rIns="0" bIns="0" rtlCol="0" anchor="ctr"/>
          <a:lstStyle/>
          <a:p>
            <a:pPr algn="l" indent="0" marL="0">
              <a:lnSpc>
                <a:spcPct val="105000"/>
              </a:lnSpc>
              <a:buNone/>
            </a:pPr>
            <a:r>
              <a:rPr lang="en-US" sz="1050" dirty="0">
                <a:solidFill>
                  <a:srgbClr val="5B6B76"/>
                </a:solidFill>
                <a:latin typeface="Calibri" pitchFamily="34" charset="0"/>
                <a:ea typeface="Calibri" pitchFamily="34" charset="-122"/>
                <a:cs typeface="Calibri" pitchFamily="34" charset="-120"/>
              </a:rPr>
              <a:t>months of transaction history analyzed (783 txns)</a:t>
            </a:r>
            <a:endParaRPr lang="en-US" sz="1050" dirty="0"/>
          </a:p>
        </p:txBody>
      </p:sp>
      <p:sp>
        <p:nvSpPr>
          <p:cNvPr id="26" name="Shape 24"/>
          <p:cNvSpPr/>
          <p:nvPr/>
        </p:nvSpPr>
        <p:spPr>
          <a:xfrm>
            <a:off x="6995160" y="4297680"/>
            <a:ext cx="4617720" cy="1417320"/>
          </a:xfrm>
          <a:prstGeom prst="roundRect">
            <a:avLst>
              <a:gd name="adj" fmla="val 5161"/>
            </a:avLst>
          </a:prstGeom>
          <a:solidFill>
            <a:srgbClr val="0B3350"/>
          </a:solidFill>
          <a:ln/>
        </p:spPr>
      </p:sp>
      <p:sp>
        <p:nvSpPr>
          <p:cNvPr id="27" name="Text 25"/>
          <p:cNvSpPr/>
          <p:nvPr/>
        </p:nvSpPr>
        <p:spPr>
          <a:xfrm>
            <a:off x="7269480" y="4434840"/>
            <a:ext cx="4114800" cy="1143000"/>
          </a:xfrm>
          <a:prstGeom prst="rect">
            <a:avLst/>
          </a:prstGeom>
          <a:noFill/>
          <a:ln/>
        </p:spPr>
        <p:txBody>
          <a:bodyPr wrap="square" lIns="0" tIns="0" rIns="0" bIns="0" rtlCol="0" anchor="ctr"/>
          <a:lstStyle/>
          <a:p>
            <a:pPr indent="0" marL="0">
              <a:lnSpc>
                <a:spcPct val="115000"/>
              </a:lnSpc>
              <a:buNone/>
            </a:pPr>
            <a:r>
              <a:rPr lang="en-US" sz="1200" i="1" dirty="0">
                <a:solidFill>
                  <a:srgbClr val="E7EEF1"/>
                </a:solidFill>
                <a:latin typeface="Calibri" pitchFamily="34" charset="0"/>
                <a:ea typeface="Calibri" pitchFamily="34" charset="-122"/>
                <a:cs typeface="Calibri" pitchFamily="34" charset="-120"/>
              </a:rPr>
              <a:t>Several months show negative net cash flow with zero advance warning — the core gap BudgetAI's DSS closes.</a:t>
            </a:r>
            <a:endParaRPr lang="en-US" sz="1200" dirty="0"/>
          </a:p>
        </p:txBody>
      </p:sp>
      <p:sp>
        <p:nvSpPr>
          <p:cNvPr id="28" name="Text 2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INTRODUCTION TO DSS</a:t>
            </a:r>
            <a:endParaRPr lang="en-US" sz="900" dirty="0"/>
          </a:p>
        </p:txBody>
      </p:sp>
      <p:sp>
        <p:nvSpPr>
          <p:cNvPr id="29" name="Text 27"/>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30" name="Text 28"/>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INTRODUCTION TO DSS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Techniques Behind the System</a:t>
            </a:r>
            <a:endParaRPr lang="en-US" sz="3000" dirty="0"/>
          </a:p>
        </p:txBody>
      </p:sp>
      <p:sp>
        <p:nvSpPr>
          <p:cNvPr id="4" name="Text 2"/>
          <p:cNvSpPr/>
          <p:nvPr/>
        </p:nvSpPr>
        <p:spPr>
          <a:xfrm>
            <a:off x="548640" y="1417320"/>
            <a:ext cx="11064240" cy="457200"/>
          </a:xfrm>
          <a:prstGeom prst="rect">
            <a:avLst/>
          </a:prstGeom>
          <a:noFill/>
          <a:ln/>
        </p:spPr>
        <p:txBody>
          <a:bodyPr wrap="square" lIns="0" tIns="0" rIns="0" bIns="0" rtlCol="0" anchor="ctr"/>
          <a:lstStyle/>
          <a:p>
            <a:pPr indent="0" marL="0">
              <a:buNone/>
            </a:pPr>
            <a:r>
              <a:rPr lang="en-US" sz="1300" dirty="0">
                <a:solidFill>
                  <a:srgbClr val="5B6B76"/>
                </a:solidFill>
                <a:latin typeface="Calibri" pitchFamily="34" charset="0"/>
                <a:ea typeface="Calibri" pitchFamily="34" charset="-122"/>
                <a:cs typeface="Calibri" pitchFamily="34" charset="-120"/>
              </a:rPr>
              <a:t>BudgetAI is a layered DSS combining an interactive dashboard, four core ML engines, and a reinforcement-learning optimizer — all sharing one feature pipeline.</a:t>
            </a:r>
            <a:endParaRPr lang="en-US" sz="1300" dirty="0"/>
          </a:p>
        </p:txBody>
      </p:sp>
      <p:sp>
        <p:nvSpPr>
          <p:cNvPr id="5" name="Shape 3"/>
          <p:cNvSpPr/>
          <p:nvPr/>
        </p:nvSpPr>
        <p:spPr>
          <a:xfrm>
            <a:off x="548640" y="2057400"/>
            <a:ext cx="5440680" cy="1417320"/>
          </a:xfrm>
          <a:prstGeom prst="roundRect">
            <a:avLst>
              <a:gd name="adj" fmla="val 5161"/>
            </a:avLst>
          </a:prstGeom>
          <a:solidFill>
            <a:srgbClr val="EEF2F4"/>
          </a:solidFill>
          <a:ln/>
        </p:spPr>
      </p:sp>
      <p:sp>
        <p:nvSpPr>
          <p:cNvPr id="6" name="Shape 4"/>
          <p:cNvSpPr/>
          <p:nvPr/>
        </p:nvSpPr>
        <p:spPr>
          <a:xfrm>
            <a:off x="777240" y="2377440"/>
            <a:ext cx="457200" cy="457200"/>
          </a:xfrm>
          <a:prstGeom prst="ellipse">
            <a:avLst/>
          </a:prstGeom>
          <a:solidFill>
            <a:srgbClr val="12786B"/>
          </a:solidFill>
          <a:ln/>
        </p:spPr>
      </p:sp>
      <p:sp>
        <p:nvSpPr>
          <p:cNvPr id="7" name="Text 5"/>
          <p:cNvSpPr/>
          <p:nvPr/>
        </p:nvSpPr>
        <p:spPr>
          <a:xfrm>
            <a:off x="777240" y="2377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399032" y="2322576"/>
            <a:ext cx="4343400" cy="310896"/>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Interactive Dashboard</a:t>
            </a:r>
            <a:endParaRPr lang="en-US" sz="1500" dirty="0"/>
          </a:p>
        </p:txBody>
      </p:sp>
      <p:sp>
        <p:nvSpPr>
          <p:cNvPr id="9" name="Text 7"/>
          <p:cNvSpPr/>
          <p:nvPr/>
        </p:nvSpPr>
        <p:spPr>
          <a:xfrm>
            <a:off x="1399032" y="2615184"/>
            <a:ext cx="4343400" cy="685800"/>
          </a:xfrm>
          <a:prstGeom prst="rect">
            <a:avLst/>
          </a:prstGeom>
          <a:noFill/>
          <a:ln/>
        </p:spPr>
        <p:txBody>
          <a:bodyPr wrap="square" lIns="0" tIns="0" rIns="0" bIns="0" rtlCol="0" anchor="ctr"/>
          <a:lstStyle/>
          <a:p>
            <a:pPr indent="0" marL="0">
              <a:lnSpc>
                <a:spcPct val="108000"/>
              </a:lnSpc>
              <a:buNone/>
            </a:pPr>
            <a:r>
              <a:rPr lang="en-US" sz="1150" dirty="0">
                <a:solidFill>
                  <a:srgbClr val="5B6B76"/>
                </a:solidFill>
                <a:latin typeface="Calibri" pitchFamily="34" charset="0"/>
                <a:ea typeface="Calibri" pitchFamily="34" charset="-122"/>
                <a:cs typeface="Calibri" pitchFamily="34" charset="-120"/>
              </a:rPr>
              <a:t>Chart.js web dashboard: forecasting, risk, anomalies, transactions, budget &amp; goals pages.</a:t>
            </a:r>
            <a:endParaRPr lang="en-US" sz="1150" dirty="0"/>
          </a:p>
        </p:txBody>
      </p:sp>
      <p:sp>
        <p:nvSpPr>
          <p:cNvPr id="10" name="Shape 8"/>
          <p:cNvSpPr/>
          <p:nvPr/>
        </p:nvSpPr>
        <p:spPr>
          <a:xfrm>
            <a:off x="6537960" y="2057400"/>
            <a:ext cx="5440680" cy="1417320"/>
          </a:xfrm>
          <a:prstGeom prst="roundRect">
            <a:avLst>
              <a:gd name="adj" fmla="val 5161"/>
            </a:avLst>
          </a:prstGeom>
          <a:solidFill>
            <a:srgbClr val="EEF2F4"/>
          </a:solidFill>
          <a:ln/>
        </p:spPr>
      </p:sp>
      <p:sp>
        <p:nvSpPr>
          <p:cNvPr id="11" name="Shape 9"/>
          <p:cNvSpPr/>
          <p:nvPr/>
        </p:nvSpPr>
        <p:spPr>
          <a:xfrm>
            <a:off x="6766560" y="2377440"/>
            <a:ext cx="457200" cy="457200"/>
          </a:xfrm>
          <a:prstGeom prst="ellipse">
            <a:avLst/>
          </a:prstGeom>
          <a:solidFill>
            <a:srgbClr val="0B3350"/>
          </a:solidFill>
          <a:ln/>
        </p:spPr>
      </p:sp>
      <p:sp>
        <p:nvSpPr>
          <p:cNvPr id="12" name="Text 10"/>
          <p:cNvSpPr/>
          <p:nvPr/>
        </p:nvSpPr>
        <p:spPr>
          <a:xfrm>
            <a:off x="6766560" y="2377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7388352" y="2322576"/>
            <a:ext cx="4343400" cy="310896"/>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Bi-LSTM Forecaster</a:t>
            </a:r>
            <a:endParaRPr lang="en-US" sz="1500" dirty="0"/>
          </a:p>
        </p:txBody>
      </p:sp>
      <p:sp>
        <p:nvSpPr>
          <p:cNvPr id="14" name="Text 12"/>
          <p:cNvSpPr/>
          <p:nvPr/>
        </p:nvSpPr>
        <p:spPr>
          <a:xfrm>
            <a:off x="7388352" y="2615184"/>
            <a:ext cx="4343400" cy="685800"/>
          </a:xfrm>
          <a:prstGeom prst="rect">
            <a:avLst/>
          </a:prstGeom>
          <a:noFill/>
          <a:ln/>
        </p:spPr>
        <p:txBody>
          <a:bodyPr wrap="square" lIns="0" tIns="0" rIns="0" bIns="0" rtlCol="0" anchor="ctr"/>
          <a:lstStyle/>
          <a:p>
            <a:pPr indent="0" marL="0">
              <a:lnSpc>
                <a:spcPct val="108000"/>
              </a:lnSpc>
              <a:buNone/>
            </a:pPr>
            <a:r>
              <a:rPr lang="en-US" sz="1150" dirty="0">
                <a:solidFill>
                  <a:srgbClr val="5B6B76"/>
                </a:solidFill>
                <a:latin typeface="Calibri" pitchFamily="34" charset="0"/>
                <a:ea typeface="Calibri" pitchFamily="34" charset="-122"/>
                <a:cs typeface="Calibri" pitchFamily="34" charset="-120"/>
              </a:rPr>
              <a:t>3-layer bidirectional LSTM + Monte Carlo dropout for 30-day spend/balance forecasts with 95% CI.</a:t>
            </a:r>
            <a:endParaRPr lang="en-US" sz="1150" dirty="0"/>
          </a:p>
        </p:txBody>
      </p:sp>
      <p:sp>
        <p:nvSpPr>
          <p:cNvPr id="15" name="Shape 13"/>
          <p:cNvSpPr/>
          <p:nvPr/>
        </p:nvSpPr>
        <p:spPr>
          <a:xfrm>
            <a:off x="548640" y="3611880"/>
            <a:ext cx="5440680" cy="1417320"/>
          </a:xfrm>
          <a:prstGeom prst="roundRect">
            <a:avLst>
              <a:gd name="adj" fmla="val 5161"/>
            </a:avLst>
          </a:prstGeom>
          <a:solidFill>
            <a:srgbClr val="EEF2F4"/>
          </a:solidFill>
          <a:ln/>
        </p:spPr>
      </p:sp>
      <p:sp>
        <p:nvSpPr>
          <p:cNvPr id="16" name="Shape 14"/>
          <p:cNvSpPr/>
          <p:nvPr/>
        </p:nvSpPr>
        <p:spPr>
          <a:xfrm>
            <a:off x="777240" y="3931920"/>
            <a:ext cx="457200" cy="457200"/>
          </a:xfrm>
          <a:prstGeom prst="ellipse">
            <a:avLst/>
          </a:prstGeom>
          <a:solidFill>
            <a:srgbClr val="E3A343"/>
          </a:solidFill>
          <a:ln/>
        </p:spPr>
      </p:sp>
      <p:sp>
        <p:nvSpPr>
          <p:cNvPr id="17" name="Text 15"/>
          <p:cNvSpPr/>
          <p:nvPr/>
        </p:nvSpPr>
        <p:spPr>
          <a:xfrm>
            <a:off x="777240"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399032" y="3877056"/>
            <a:ext cx="4343400" cy="310896"/>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XGBoost Risk Classifier</a:t>
            </a:r>
            <a:endParaRPr lang="en-US" sz="1500" dirty="0"/>
          </a:p>
        </p:txBody>
      </p:sp>
      <p:sp>
        <p:nvSpPr>
          <p:cNvPr id="19" name="Text 17"/>
          <p:cNvSpPr/>
          <p:nvPr/>
        </p:nvSpPr>
        <p:spPr>
          <a:xfrm>
            <a:off x="1399032" y="4169664"/>
            <a:ext cx="4343400" cy="685800"/>
          </a:xfrm>
          <a:prstGeom prst="rect">
            <a:avLst/>
          </a:prstGeom>
          <a:noFill/>
          <a:ln/>
        </p:spPr>
        <p:txBody>
          <a:bodyPr wrap="square" lIns="0" tIns="0" rIns="0" bIns="0" rtlCol="0" anchor="ctr"/>
          <a:lstStyle/>
          <a:p>
            <a:pPr indent="0" marL="0">
              <a:lnSpc>
                <a:spcPct val="108000"/>
              </a:lnSpc>
              <a:buNone/>
            </a:pPr>
            <a:r>
              <a:rPr lang="en-US" sz="1150" dirty="0">
                <a:solidFill>
                  <a:srgbClr val="5B6B76"/>
                </a:solidFill>
                <a:latin typeface="Calibri" pitchFamily="34" charset="0"/>
                <a:ea typeface="Calibri" pitchFamily="34" charset="-122"/>
                <a:cs typeface="Calibri" pitchFamily="34" charset="-120"/>
              </a:rPr>
              <a:t>3 classifiers (overdraft, overrun, cash-flow stress) explained with SHAP TreeExplainer.</a:t>
            </a:r>
            <a:endParaRPr lang="en-US" sz="1150" dirty="0"/>
          </a:p>
        </p:txBody>
      </p:sp>
      <p:sp>
        <p:nvSpPr>
          <p:cNvPr id="20" name="Shape 18"/>
          <p:cNvSpPr/>
          <p:nvPr/>
        </p:nvSpPr>
        <p:spPr>
          <a:xfrm>
            <a:off x="6537960" y="3611880"/>
            <a:ext cx="5440680" cy="1417320"/>
          </a:xfrm>
          <a:prstGeom prst="roundRect">
            <a:avLst>
              <a:gd name="adj" fmla="val 5161"/>
            </a:avLst>
          </a:prstGeom>
          <a:solidFill>
            <a:srgbClr val="EEF2F4"/>
          </a:solidFill>
          <a:ln/>
        </p:spPr>
      </p:sp>
      <p:sp>
        <p:nvSpPr>
          <p:cNvPr id="21" name="Shape 19"/>
          <p:cNvSpPr/>
          <p:nvPr/>
        </p:nvSpPr>
        <p:spPr>
          <a:xfrm>
            <a:off x="6766560" y="3931920"/>
            <a:ext cx="457200" cy="457200"/>
          </a:xfrm>
          <a:prstGeom prst="ellipse">
            <a:avLst/>
          </a:prstGeom>
          <a:solidFill>
            <a:srgbClr val="12786B"/>
          </a:solidFill>
          <a:ln/>
        </p:spPr>
      </p:sp>
      <p:sp>
        <p:nvSpPr>
          <p:cNvPr id="22" name="Text 20"/>
          <p:cNvSpPr/>
          <p:nvPr/>
        </p:nvSpPr>
        <p:spPr>
          <a:xfrm>
            <a:off x="6766560"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7388352" y="3877056"/>
            <a:ext cx="4343400" cy="310896"/>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Isolation Forest + LSTM Autoencoder</a:t>
            </a:r>
            <a:endParaRPr lang="en-US" sz="1500" dirty="0"/>
          </a:p>
        </p:txBody>
      </p:sp>
      <p:sp>
        <p:nvSpPr>
          <p:cNvPr id="24" name="Text 22"/>
          <p:cNvSpPr/>
          <p:nvPr/>
        </p:nvSpPr>
        <p:spPr>
          <a:xfrm>
            <a:off x="7388352" y="4169664"/>
            <a:ext cx="4343400" cy="685800"/>
          </a:xfrm>
          <a:prstGeom prst="rect">
            <a:avLst/>
          </a:prstGeom>
          <a:noFill/>
          <a:ln/>
        </p:spPr>
        <p:txBody>
          <a:bodyPr wrap="square" lIns="0" tIns="0" rIns="0" bIns="0" rtlCol="0" anchor="ctr"/>
          <a:lstStyle/>
          <a:p>
            <a:pPr indent="0" marL="0">
              <a:lnSpc>
                <a:spcPct val="108000"/>
              </a:lnSpc>
              <a:buNone/>
            </a:pPr>
            <a:r>
              <a:rPr lang="en-US" sz="1150" dirty="0">
                <a:solidFill>
                  <a:srgbClr val="5B6B76"/>
                </a:solidFill>
                <a:latin typeface="Calibri" pitchFamily="34" charset="0"/>
                <a:ea typeface="Calibri" pitchFamily="34" charset="-122"/>
                <a:cs typeface="Calibri" pitchFamily="34" charset="-120"/>
              </a:rPr>
              <a:t>Dual-layer anomaly detection: single outlier transactions and multi-week behavioural drift.</a:t>
            </a:r>
            <a:endParaRPr lang="en-US" sz="1150" dirty="0"/>
          </a:p>
        </p:txBody>
      </p:sp>
      <p:sp>
        <p:nvSpPr>
          <p:cNvPr id="25" name="Shape 23"/>
          <p:cNvSpPr/>
          <p:nvPr/>
        </p:nvSpPr>
        <p:spPr>
          <a:xfrm>
            <a:off x="548640" y="5166360"/>
            <a:ext cx="5440680" cy="1417320"/>
          </a:xfrm>
          <a:prstGeom prst="roundRect">
            <a:avLst>
              <a:gd name="adj" fmla="val 5161"/>
            </a:avLst>
          </a:prstGeom>
          <a:solidFill>
            <a:srgbClr val="EEF2F4"/>
          </a:solidFill>
          <a:ln/>
        </p:spPr>
      </p:sp>
      <p:sp>
        <p:nvSpPr>
          <p:cNvPr id="26" name="Shape 24"/>
          <p:cNvSpPr/>
          <p:nvPr/>
        </p:nvSpPr>
        <p:spPr>
          <a:xfrm>
            <a:off x="777240" y="5486400"/>
            <a:ext cx="457200" cy="457200"/>
          </a:xfrm>
          <a:prstGeom prst="ellipse">
            <a:avLst/>
          </a:prstGeom>
          <a:solidFill>
            <a:srgbClr val="0B3350"/>
          </a:solidFill>
          <a:ln/>
        </p:spPr>
      </p:sp>
      <p:sp>
        <p:nvSpPr>
          <p:cNvPr id="27" name="Text 25"/>
          <p:cNvSpPr/>
          <p:nvPr/>
        </p:nvSpPr>
        <p:spPr>
          <a:xfrm>
            <a:off x="777240" y="5486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1399032" y="5431536"/>
            <a:ext cx="4343400" cy="310896"/>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DQN Budget Optimizer</a:t>
            </a:r>
            <a:endParaRPr lang="en-US" sz="1500" dirty="0"/>
          </a:p>
        </p:txBody>
      </p:sp>
      <p:sp>
        <p:nvSpPr>
          <p:cNvPr id="29" name="Text 27"/>
          <p:cNvSpPr/>
          <p:nvPr/>
        </p:nvSpPr>
        <p:spPr>
          <a:xfrm>
            <a:off x="1399032" y="5724144"/>
            <a:ext cx="4343400" cy="685800"/>
          </a:xfrm>
          <a:prstGeom prst="rect">
            <a:avLst/>
          </a:prstGeom>
          <a:noFill/>
          <a:ln/>
        </p:spPr>
        <p:txBody>
          <a:bodyPr wrap="square" lIns="0" tIns="0" rIns="0" bIns="0" rtlCol="0" anchor="ctr"/>
          <a:lstStyle/>
          <a:p>
            <a:pPr indent="0" marL="0">
              <a:lnSpc>
                <a:spcPct val="108000"/>
              </a:lnSpc>
              <a:buNone/>
            </a:pPr>
            <a:r>
              <a:rPr lang="en-US" sz="1150" dirty="0">
                <a:solidFill>
                  <a:srgbClr val="5B6B76"/>
                </a:solidFill>
                <a:latin typeface="Calibri" pitchFamily="34" charset="0"/>
                <a:ea typeface="Calibri" pitchFamily="34" charset="-122"/>
                <a:cs typeface="Calibri" pitchFamily="34" charset="-120"/>
              </a:rPr>
              <a:t>Reinforcement-learning agent prescribes category-level reallocations to hit savings goals.</a:t>
            </a:r>
            <a:endParaRPr lang="en-US" sz="1150" dirty="0"/>
          </a:p>
        </p:txBody>
      </p:sp>
      <p:sp>
        <p:nvSpPr>
          <p:cNvPr id="30" name="Shape 28"/>
          <p:cNvSpPr/>
          <p:nvPr/>
        </p:nvSpPr>
        <p:spPr>
          <a:xfrm>
            <a:off x="6537960" y="5166360"/>
            <a:ext cx="5440680" cy="1417320"/>
          </a:xfrm>
          <a:prstGeom prst="roundRect">
            <a:avLst>
              <a:gd name="adj" fmla="val 5161"/>
            </a:avLst>
          </a:prstGeom>
          <a:solidFill>
            <a:srgbClr val="EEF2F4"/>
          </a:solidFill>
          <a:ln/>
        </p:spPr>
      </p:sp>
      <p:sp>
        <p:nvSpPr>
          <p:cNvPr id="31" name="Shape 29"/>
          <p:cNvSpPr/>
          <p:nvPr/>
        </p:nvSpPr>
        <p:spPr>
          <a:xfrm>
            <a:off x="6766560" y="5486400"/>
            <a:ext cx="457200" cy="457200"/>
          </a:xfrm>
          <a:prstGeom prst="ellipse">
            <a:avLst/>
          </a:prstGeom>
          <a:solidFill>
            <a:srgbClr val="E3A343"/>
          </a:solidFill>
          <a:ln/>
        </p:spPr>
      </p:sp>
      <p:sp>
        <p:nvSpPr>
          <p:cNvPr id="32" name="Text 30"/>
          <p:cNvSpPr/>
          <p:nvPr/>
        </p:nvSpPr>
        <p:spPr>
          <a:xfrm>
            <a:off x="6766560" y="5486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33" name="Text 31"/>
          <p:cNvSpPr/>
          <p:nvPr/>
        </p:nvSpPr>
        <p:spPr>
          <a:xfrm>
            <a:off x="7388352" y="5431536"/>
            <a:ext cx="4343400" cy="310896"/>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K-Means + NLP</a:t>
            </a:r>
            <a:endParaRPr lang="en-US" sz="1500" dirty="0"/>
          </a:p>
        </p:txBody>
      </p:sp>
      <p:sp>
        <p:nvSpPr>
          <p:cNvPr id="34" name="Text 32"/>
          <p:cNvSpPr/>
          <p:nvPr/>
        </p:nvSpPr>
        <p:spPr>
          <a:xfrm>
            <a:off x="7388352" y="5724144"/>
            <a:ext cx="4343400" cy="685800"/>
          </a:xfrm>
          <a:prstGeom prst="rect">
            <a:avLst/>
          </a:prstGeom>
          <a:noFill/>
          <a:ln/>
        </p:spPr>
        <p:txBody>
          <a:bodyPr wrap="square" lIns="0" tIns="0" rIns="0" bIns="0" rtlCol="0" anchor="ctr"/>
          <a:lstStyle/>
          <a:p>
            <a:pPr indent="0" marL="0">
              <a:lnSpc>
                <a:spcPct val="108000"/>
              </a:lnSpc>
              <a:buNone/>
            </a:pPr>
            <a:r>
              <a:rPr lang="en-US" sz="1150" dirty="0">
                <a:solidFill>
                  <a:srgbClr val="5B6B76"/>
                </a:solidFill>
                <a:latin typeface="Calibri" pitchFamily="34" charset="0"/>
                <a:ea typeface="Calibri" pitchFamily="34" charset="-122"/>
                <a:cs typeface="Calibri" pitchFamily="34" charset="-120"/>
              </a:rPr>
              <a:t>Behavioural cohorts for cold-start users; TF-IDF/Logistic Regression auto-categorizes transactions.</a:t>
            </a:r>
            <a:endParaRPr lang="en-US" sz="1150" dirty="0"/>
          </a:p>
        </p:txBody>
      </p:sp>
      <p:sp>
        <p:nvSpPr>
          <p:cNvPr id="35" name="Text 33"/>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INTRODUCTION TO DSS</a:t>
            </a:r>
            <a:endParaRPr lang="en-US" sz="900" dirty="0"/>
          </a:p>
        </p:txBody>
      </p:sp>
      <p:sp>
        <p:nvSpPr>
          <p:cNvPr id="36" name="Text 34"/>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37" name="Text 35"/>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INTRODUCTION TO DSS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Equity, Accessibility &amp; Fairness</a:t>
            </a:r>
            <a:endParaRPr lang="en-US" sz="3000" dirty="0"/>
          </a:p>
        </p:txBody>
      </p:sp>
      <p:sp>
        <p:nvSpPr>
          <p:cNvPr id="4" name="Shape 2"/>
          <p:cNvSpPr/>
          <p:nvPr/>
        </p:nvSpPr>
        <p:spPr>
          <a:xfrm>
            <a:off x="548640" y="1508760"/>
            <a:ext cx="3611880" cy="4434840"/>
          </a:xfrm>
          <a:prstGeom prst="roundRect">
            <a:avLst>
              <a:gd name="adj" fmla="val 2278"/>
            </a:avLst>
          </a:prstGeom>
          <a:solidFill>
            <a:srgbClr val="FFFFFF"/>
          </a:solidFill>
          <a:ln w="12700">
            <a:solidFill>
              <a:srgbClr val="DCE3E7"/>
            </a:solidFill>
            <a:prstDash val="solid"/>
          </a:ln>
        </p:spPr>
      </p:sp>
      <p:sp>
        <p:nvSpPr>
          <p:cNvPr id="5" name="Shape 3"/>
          <p:cNvSpPr/>
          <p:nvPr/>
        </p:nvSpPr>
        <p:spPr>
          <a:xfrm>
            <a:off x="548640" y="1508760"/>
            <a:ext cx="3611880" cy="594360"/>
          </a:xfrm>
          <a:prstGeom prst="roundRect">
            <a:avLst>
              <a:gd name="adj" fmla="val 13846"/>
            </a:avLst>
          </a:prstGeom>
          <a:solidFill>
            <a:srgbClr val="12786B"/>
          </a:solidFill>
          <a:ln/>
        </p:spPr>
      </p:sp>
      <p:sp>
        <p:nvSpPr>
          <p:cNvPr id="6" name="Shape 4"/>
          <p:cNvSpPr/>
          <p:nvPr/>
        </p:nvSpPr>
        <p:spPr>
          <a:xfrm>
            <a:off x="548640" y="1874520"/>
            <a:ext cx="3611880" cy="228600"/>
          </a:xfrm>
          <a:prstGeom prst="rect">
            <a:avLst/>
          </a:prstGeom>
          <a:solidFill>
            <a:srgbClr val="12786B"/>
          </a:solidFill>
          <a:ln/>
        </p:spPr>
      </p:sp>
      <p:sp>
        <p:nvSpPr>
          <p:cNvPr id="7" name="Text 5"/>
          <p:cNvSpPr/>
          <p:nvPr/>
        </p:nvSpPr>
        <p:spPr>
          <a:xfrm>
            <a:off x="731520" y="1508760"/>
            <a:ext cx="3246120" cy="5943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Financial inclusion</a:t>
            </a:r>
            <a:endParaRPr lang="en-US" sz="1450" dirty="0"/>
          </a:p>
        </p:txBody>
      </p:sp>
      <p:sp>
        <p:nvSpPr>
          <p:cNvPr id="8" name="Text 6"/>
          <p:cNvSpPr/>
          <p:nvPr/>
        </p:nvSpPr>
        <p:spPr>
          <a:xfrm>
            <a:off x="749808" y="2240280"/>
            <a:ext cx="3227832" cy="1508760"/>
          </a:xfrm>
          <a:prstGeom prst="rect">
            <a:avLst/>
          </a:prstGeom>
          <a:noFill/>
          <a:ln/>
        </p:spPr>
        <p:txBody>
          <a:bodyPr wrap="square" lIns="0" tIns="0" rIns="0" bIns="0" rtlCol="0" anchor="ctr"/>
          <a:lstStyle/>
          <a:p>
            <a:pPr indent="0" marL="0">
              <a:lnSpc>
                <a:spcPct val="118000"/>
              </a:lnSpc>
              <a:buNone/>
            </a:pPr>
            <a:r>
              <a:rPr lang="en-US" sz="1150" dirty="0">
                <a:solidFill>
                  <a:srgbClr val="1C2B36"/>
                </a:solidFill>
                <a:latin typeface="Calibri" pitchFamily="34" charset="0"/>
                <a:ea typeface="Calibri" pitchFamily="34" charset="-122"/>
                <a:cs typeface="Calibri" pitchFamily="34" charset="-120"/>
              </a:rPr>
              <a:t>•  Income modelled as its own forecast target (not a fixed feature) so gig-workers and irregular earners are represented, not penalized.</a:t>
            </a:r>
            <a:endParaRPr lang="en-US" sz="1150" dirty="0"/>
          </a:p>
        </p:txBody>
      </p:sp>
      <p:sp>
        <p:nvSpPr>
          <p:cNvPr id="9" name="Text 7"/>
          <p:cNvSpPr/>
          <p:nvPr/>
        </p:nvSpPr>
        <p:spPr>
          <a:xfrm>
            <a:off x="749808" y="3977640"/>
            <a:ext cx="3227832" cy="1508760"/>
          </a:xfrm>
          <a:prstGeom prst="rect">
            <a:avLst/>
          </a:prstGeom>
          <a:noFill/>
          <a:ln/>
        </p:spPr>
        <p:txBody>
          <a:bodyPr wrap="square" lIns="0" tIns="0" rIns="0" bIns="0" rtlCol="0" anchor="ctr"/>
          <a:lstStyle/>
          <a:p>
            <a:pPr indent="0" marL="0">
              <a:lnSpc>
                <a:spcPct val="118000"/>
              </a:lnSpc>
              <a:buNone/>
            </a:pPr>
            <a:r>
              <a:rPr lang="en-US" sz="1150" dirty="0">
                <a:solidFill>
                  <a:srgbClr val="1C2B36"/>
                </a:solidFill>
                <a:latin typeface="Calibri" pitchFamily="34" charset="0"/>
                <a:ea typeface="Calibri" pitchFamily="34" charset="-122"/>
                <a:cs typeface="Calibri" pitchFamily="34" charset="-120"/>
              </a:rPr>
              <a:t>•  K-Means cohorts warm-start recommendations for new / thin-file users within their first 30 days — no long history required.</a:t>
            </a:r>
            <a:endParaRPr lang="en-US" sz="1150" dirty="0"/>
          </a:p>
        </p:txBody>
      </p:sp>
      <p:sp>
        <p:nvSpPr>
          <p:cNvPr id="10" name="Shape 8"/>
          <p:cNvSpPr/>
          <p:nvPr/>
        </p:nvSpPr>
        <p:spPr>
          <a:xfrm>
            <a:off x="4434840" y="1508760"/>
            <a:ext cx="3611880" cy="4434840"/>
          </a:xfrm>
          <a:prstGeom prst="roundRect">
            <a:avLst>
              <a:gd name="adj" fmla="val 2278"/>
            </a:avLst>
          </a:prstGeom>
          <a:solidFill>
            <a:srgbClr val="FFFFFF"/>
          </a:solidFill>
          <a:ln w="12700">
            <a:solidFill>
              <a:srgbClr val="DCE3E7"/>
            </a:solidFill>
            <a:prstDash val="solid"/>
          </a:ln>
        </p:spPr>
      </p:sp>
      <p:sp>
        <p:nvSpPr>
          <p:cNvPr id="11" name="Shape 9"/>
          <p:cNvSpPr/>
          <p:nvPr/>
        </p:nvSpPr>
        <p:spPr>
          <a:xfrm>
            <a:off x="4434840" y="1508760"/>
            <a:ext cx="3611880" cy="594360"/>
          </a:xfrm>
          <a:prstGeom prst="roundRect">
            <a:avLst>
              <a:gd name="adj" fmla="val 13846"/>
            </a:avLst>
          </a:prstGeom>
          <a:solidFill>
            <a:srgbClr val="E3A343"/>
          </a:solidFill>
          <a:ln/>
        </p:spPr>
      </p:sp>
      <p:sp>
        <p:nvSpPr>
          <p:cNvPr id="12" name="Shape 10"/>
          <p:cNvSpPr/>
          <p:nvPr/>
        </p:nvSpPr>
        <p:spPr>
          <a:xfrm>
            <a:off x="4434840" y="1874520"/>
            <a:ext cx="3611880" cy="228600"/>
          </a:xfrm>
          <a:prstGeom prst="rect">
            <a:avLst/>
          </a:prstGeom>
          <a:solidFill>
            <a:srgbClr val="E3A343"/>
          </a:solidFill>
          <a:ln/>
        </p:spPr>
      </p:sp>
      <p:sp>
        <p:nvSpPr>
          <p:cNvPr id="13" name="Text 11"/>
          <p:cNvSpPr/>
          <p:nvPr/>
        </p:nvSpPr>
        <p:spPr>
          <a:xfrm>
            <a:off x="4617720" y="1508760"/>
            <a:ext cx="3246120" cy="5943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Cognitive &amp; literacy accessibility</a:t>
            </a:r>
            <a:endParaRPr lang="en-US" sz="1450" dirty="0"/>
          </a:p>
        </p:txBody>
      </p:sp>
      <p:sp>
        <p:nvSpPr>
          <p:cNvPr id="14" name="Text 12"/>
          <p:cNvSpPr/>
          <p:nvPr/>
        </p:nvSpPr>
        <p:spPr>
          <a:xfrm>
            <a:off x="4636008" y="2240280"/>
            <a:ext cx="3227832" cy="1508760"/>
          </a:xfrm>
          <a:prstGeom prst="rect">
            <a:avLst/>
          </a:prstGeom>
          <a:noFill/>
          <a:ln/>
        </p:spPr>
        <p:txBody>
          <a:bodyPr wrap="square" lIns="0" tIns="0" rIns="0" bIns="0" rtlCol="0" anchor="ctr"/>
          <a:lstStyle/>
          <a:p>
            <a:pPr indent="0" marL="0">
              <a:lnSpc>
                <a:spcPct val="118000"/>
              </a:lnSpc>
              <a:buNone/>
            </a:pPr>
            <a:r>
              <a:rPr lang="en-US" sz="1150" dirty="0">
                <a:solidFill>
                  <a:srgbClr val="1C2B36"/>
                </a:solidFill>
                <a:latin typeface="Calibri" pitchFamily="34" charset="0"/>
                <a:ea typeface="Calibri" pitchFamily="34" charset="-122"/>
                <a:cs typeface="Calibri" pitchFamily="34" charset="-120"/>
              </a:rPr>
              <a:t>•  Every automated adjustment ships with a plain-English SHAP explanation — no statistical literacy required to trust or act on it.</a:t>
            </a:r>
            <a:endParaRPr lang="en-US" sz="1150" dirty="0"/>
          </a:p>
        </p:txBody>
      </p:sp>
      <p:sp>
        <p:nvSpPr>
          <p:cNvPr id="15" name="Text 13"/>
          <p:cNvSpPr/>
          <p:nvPr/>
        </p:nvSpPr>
        <p:spPr>
          <a:xfrm>
            <a:off x="4636008" y="3977640"/>
            <a:ext cx="3227832" cy="1508760"/>
          </a:xfrm>
          <a:prstGeom prst="rect">
            <a:avLst/>
          </a:prstGeom>
          <a:noFill/>
          <a:ln/>
        </p:spPr>
        <p:txBody>
          <a:bodyPr wrap="square" lIns="0" tIns="0" rIns="0" bIns="0" rtlCol="0" anchor="ctr"/>
          <a:lstStyle/>
          <a:p>
            <a:pPr indent="0" marL="0">
              <a:lnSpc>
                <a:spcPct val="118000"/>
              </a:lnSpc>
              <a:buNone/>
            </a:pPr>
            <a:r>
              <a:rPr lang="en-US" sz="1150" dirty="0">
                <a:solidFill>
                  <a:srgbClr val="1C2B36"/>
                </a:solidFill>
                <a:latin typeface="Calibri" pitchFamily="34" charset="0"/>
                <a:ea typeface="Calibri" pitchFamily="34" charset="-122"/>
                <a:cs typeface="Calibri" pitchFamily="34" charset="-120"/>
              </a:rPr>
              <a:t>•  Users can dismiss recommendations that feel too restrictive, preserving autonomy over lifestyle spending.</a:t>
            </a:r>
            <a:endParaRPr lang="en-US" sz="1150" dirty="0"/>
          </a:p>
        </p:txBody>
      </p:sp>
      <p:sp>
        <p:nvSpPr>
          <p:cNvPr id="16" name="Shape 14"/>
          <p:cNvSpPr/>
          <p:nvPr/>
        </p:nvSpPr>
        <p:spPr>
          <a:xfrm>
            <a:off x="8321040" y="1508760"/>
            <a:ext cx="3611880" cy="4434840"/>
          </a:xfrm>
          <a:prstGeom prst="roundRect">
            <a:avLst>
              <a:gd name="adj" fmla="val 2278"/>
            </a:avLst>
          </a:prstGeom>
          <a:solidFill>
            <a:srgbClr val="FFFFFF"/>
          </a:solidFill>
          <a:ln w="12700">
            <a:solidFill>
              <a:srgbClr val="DCE3E7"/>
            </a:solidFill>
            <a:prstDash val="solid"/>
          </a:ln>
        </p:spPr>
      </p:sp>
      <p:sp>
        <p:nvSpPr>
          <p:cNvPr id="17" name="Shape 15"/>
          <p:cNvSpPr/>
          <p:nvPr/>
        </p:nvSpPr>
        <p:spPr>
          <a:xfrm>
            <a:off x="8321040" y="1508760"/>
            <a:ext cx="3611880" cy="594360"/>
          </a:xfrm>
          <a:prstGeom prst="roundRect">
            <a:avLst>
              <a:gd name="adj" fmla="val 13846"/>
            </a:avLst>
          </a:prstGeom>
          <a:solidFill>
            <a:srgbClr val="0B3350"/>
          </a:solidFill>
          <a:ln/>
        </p:spPr>
      </p:sp>
      <p:sp>
        <p:nvSpPr>
          <p:cNvPr id="18" name="Shape 16"/>
          <p:cNvSpPr/>
          <p:nvPr/>
        </p:nvSpPr>
        <p:spPr>
          <a:xfrm>
            <a:off x="8321040" y="1874520"/>
            <a:ext cx="3611880" cy="228600"/>
          </a:xfrm>
          <a:prstGeom prst="rect">
            <a:avLst/>
          </a:prstGeom>
          <a:solidFill>
            <a:srgbClr val="0B3350"/>
          </a:solidFill>
          <a:ln/>
        </p:spPr>
      </p:sp>
      <p:sp>
        <p:nvSpPr>
          <p:cNvPr id="19" name="Text 17"/>
          <p:cNvSpPr/>
          <p:nvPr/>
        </p:nvSpPr>
        <p:spPr>
          <a:xfrm>
            <a:off x="8503920" y="1508760"/>
            <a:ext cx="3246120" cy="5943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Algorithmic fairness governance</a:t>
            </a:r>
            <a:endParaRPr lang="en-US" sz="1450" dirty="0"/>
          </a:p>
        </p:txBody>
      </p:sp>
      <p:sp>
        <p:nvSpPr>
          <p:cNvPr id="20" name="Text 18"/>
          <p:cNvSpPr/>
          <p:nvPr/>
        </p:nvSpPr>
        <p:spPr>
          <a:xfrm>
            <a:off x="8522208" y="2240280"/>
            <a:ext cx="3227832" cy="1508760"/>
          </a:xfrm>
          <a:prstGeom prst="rect">
            <a:avLst/>
          </a:prstGeom>
          <a:noFill/>
          <a:ln/>
        </p:spPr>
        <p:txBody>
          <a:bodyPr wrap="square" lIns="0" tIns="0" rIns="0" bIns="0" rtlCol="0" anchor="ctr"/>
          <a:lstStyle/>
          <a:p>
            <a:pPr indent="0" marL="0">
              <a:lnSpc>
                <a:spcPct val="118000"/>
              </a:lnSpc>
              <a:buNone/>
            </a:pPr>
            <a:r>
              <a:rPr lang="en-US" sz="1150" dirty="0">
                <a:solidFill>
                  <a:srgbClr val="1C2B36"/>
                </a:solidFill>
                <a:latin typeface="Calibri" pitchFamily="34" charset="0"/>
                <a:ea typeface="Calibri" pitchFamily="34" charset="-122"/>
                <a:cs typeface="Calibri" pitchFamily="34" charset="-120"/>
              </a:rPr>
              <a:t>•  Compliance Officer stakeholder owns a per-cohort bias audit so low-income users aren't disproportionately flagged or penalized.</a:t>
            </a:r>
            <a:endParaRPr lang="en-US" sz="1150" dirty="0"/>
          </a:p>
        </p:txBody>
      </p:sp>
      <p:sp>
        <p:nvSpPr>
          <p:cNvPr id="21" name="Text 19"/>
          <p:cNvSpPr/>
          <p:nvPr/>
        </p:nvSpPr>
        <p:spPr>
          <a:xfrm>
            <a:off x="8522208" y="3977640"/>
            <a:ext cx="3227832" cy="1508760"/>
          </a:xfrm>
          <a:prstGeom prst="rect">
            <a:avLst/>
          </a:prstGeom>
          <a:noFill/>
          <a:ln/>
        </p:spPr>
        <p:txBody>
          <a:bodyPr wrap="square" lIns="0" tIns="0" rIns="0" bIns="0" rtlCol="0" anchor="ctr"/>
          <a:lstStyle/>
          <a:p>
            <a:pPr indent="0" marL="0">
              <a:lnSpc>
                <a:spcPct val="118000"/>
              </a:lnSpc>
              <a:buNone/>
            </a:pPr>
            <a:r>
              <a:rPr lang="en-US" sz="1150" dirty="0">
                <a:solidFill>
                  <a:srgbClr val="1C2B36"/>
                </a:solidFill>
                <a:latin typeface="Calibri" pitchFamily="34" charset="0"/>
                <a:ea typeface="Calibri" pitchFamily="34" charset="-122"/>
                <a:cs typeface="Calibri" pitchFamily="34" charset="-120"/>
              </a:rPr>
              <a:t>•  SHAP coverage target: 100% of automated adjustments carry a documented justification for audit.</a:t>
            </a:r>
            <a:endParaRPr lang="en-US" sz="1150" dirty="0"/>
          </a:p>
        </p:txBody>
      </p:sp>
      <p:sp>
        <p:nvSpPr>
          <p:cNvPr id="22" name="Text 2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INTRODUCTION TO DSS</a:t>
            </a:r>
            <a:endParaRPr lang="en-US" sz="900" dirty="0"/>
          </a:p>
        </p:txBody>
      </p:sp>
      <p:sp>
        <p:nvSpPr>
          <p:cNvPr id="23" name="Text 21"/>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24" name="Text 22"/>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INTRODUCTION TO DSS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KPIs &amp; Evaluation Techniques</a:t>
            </a:r>
            <a:endParaRPr lang="en-US" sz="3000" dirty="0"/>
          </a:p>
        </p:txBody>
      </p:sp>
      <p:sp>
        <p:nvSpPr>
          <p:cNvPr id="4" name="Text 2"/>
          <p:cNvSpPr/>
          <p:nvPr/>
        </p:nvSpPr>
        <p:spPr>
          <a:xfrm>
            <a:off x="548640" y="1417320"/>
            <a:ext cx="11064240" cy="411480"/>
          </a:xfrm>
          <a:prstGeom prst="rect">
            <a:avLst/>
          </a:prstGeom>
          <a:noFill/>
          <a:ln/>
        </p:spPr>
        <p:txBody>
          <a:bodyPr wrap="square" lIns="0" tIns="0" rIns="0" bIns="0" rtlCol="0" anchor="ctr"/>
          <a:lstStyle/>
          <a:p>
            <a:pPr indent="0" marL="0">
              <a:buNone/>
            </a:pPr>
            <a:r>
              <a:rPr lang="en-US" sz="1300" dirty="0">
                <a:solidFill>
                  <a:srgbClr val="5B6B76"/>
                </a:solidFill>
                <a:latin typeface="Calibri" pitchFamily="34" charset="0"/>
                <a:ea typeface="Calibri" pitchFamily="34" charset="-122"/>
                <a:cs typeface="Calibri" pitchFamily="34" charset="-120"/>
              </a:rPr>
              <a:t>Success metrics are defined per stakeholder (Part 1) and validated with both statistical model metrics and business outcome tracking.</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gridCol w="4206240"/>
                <a:gridCol w="4480560"/>
              </a:tblGrid>
              <a:tr h="457200">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Stakeholder</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KPI</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Evaluation Method</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777240">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End User</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Savings rate ≥ 15% in 6 months; 0 negative cash-flow months</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Monthly cohort tracking vs. baseline 7.7%</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868680">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Financial Advisor</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Forecast RMSE &lt; 5% of monthly spend; ≥80% of cuts accepted &amp; sustained 3 months</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Temporal train/val/test split (70/10/20); advisor acceptance logs</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822960">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Compliance Officer</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100% SHAP-justified adjustments; zero audit findings; bias audit passed per cohort</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SHAP coverage audit; per-cohort fairness testing</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822960">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Product / Engineering</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Anomaly alerts &lt; 2s; weekly retrain with &lt;1% accuracy loss; onboarding ≥75%</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100" dirty="0">
                          <a:solidFill>
                            <a:srgbClr val="1C2B36"/>
                          </a:solidFill>
                          <a:latin typeface="Calibri" pitchFamily="34" charset="0"/>
                          <a:ea typeface="Calibri" pitchFamily="34" charset="-122"/>
                          <a:cs typeface="Calibri" pitchFamily="34" charset="-120"/>
                        </a:rPr>
                        <a:t>Prometheus latency p95/p99; drift-detection review</a:t>
                      </a:r>
                      <a:endParaRPr lang="en-US" sz="110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bl>
          </a:graphicData>
        </a:graphic>
      </p:graphicFrame>
      <p:sp>
        <p:nvSpPr>
          <p:cNvPr id="6" name="Shape 3"/>
          <p:cNvSpPr/>
          <p:nvPr/>
        </p:nvSpPr>
        <p:spPr>
          <a:xfrm>
            <a:off x="548640" y="1965960"/>
            <a:ext cx="11064240" cy="457200"/>
          </a:xfrm>
          <a:prstGeom prst="rect">
            <a:avLst/>
          </a:prstGeom>
          <a:solidFill>
            <a:srgbClr val="0B3350"/>
          </a:solidFill>
          <a:ln/>
        </p:spPr>
      </p:sp>
      <p:sp>
        <p:nvSpPr>
          <p:cNvPr id="7" name="Text 4"/>
          <p:cNvSpPr/>
          <p:nvPr/>
        </p:nvSpPr>
        <p:spPr>
          <a:xfrm>
            <a:off x="658368" y="1965960"/>
            <a:ext cx="21945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Stakeholder</a:t>
            </a:r>
            <a:endParaRPr lang="en-US" sz="1200" dirty="0"/>
          </a:p>
        </p:txBody>
      </p:sp>
      <p:sp>
        <p:nvSpPr>
          <p:cNvPr id="8" name="Text 5"/>
          <p:cNvSpPr/>
          <p:nvPr/>
        </p:nvSpPr>
        <p:spPr>
          <a:xfrm>
            <a:off x="3035808" y="1965960"/>
            <a:ext cx="40233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p>
        </p:txBody>
      </p:sp>
      <p:sp>
        <p:nvSpPr>
          <p:cNvPr id="9" name="Text 6"/>
          <p:cNvSpPr/>
          <p:nvPr/>
        </p:nvSpPr>
        <p:spPr>
          <a:xfrm>
            <a:off x="7242048" y="1965960"/>
            <a:ext cx="42976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Evaluation Method</a:t>
            </a:r>
            <a:endParaRPr lang="en-US" sz="1200" dirty="0"/>
          </a:p>
        </p:txBody>
      </p:sp>
      <p:sp>
        <p:nvSpPr>
          <p:cNvPr id="10" name="Text 7"/>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INTRODUCTION TO DSS</a:t>
            </a:r>
            <a:endParaRPr lang="en-US" sz="900" dirty="0"/>
          </a:p>
        </p:txBody>
      </p:sp>
      <p:sp>
        <p:nvSpPr>
          <p:cNvPr id="11" name="Text 8"/>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12" name="Text 9"/>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35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F30"/>
          </a:solidFill>
          <a:ln/>
        </p:spPr>
      </p:sp>
      <p:sp>
        <p:nvSpPr>
          <p:cNvPr id="3" name="Shape 1"/>
          <p:cNvSpPr/>
          <p:nvPr/>
        </p:nvSpPr>
        <p:spPr>
          <a:xfrm>
            <a:off x="9692640" y="-2377440"/>
            <a:ext cx="5943600" cy="5943600"/>
          </a:xfrm>
          <a:prstGeom prst="ellipse">
            <a:avLst/>
          </a:prstGeom>
          <a:solidFill>
            <a:srgbClr val="12786B"/>
          </a:solidFill>
          <a:ln/>
        </p:spPr>
      </p:sp>
      <p:sp>
        <p:nvSpPr>
          <p:cNvPr id="4" name="Shape 2"/>
          <p:cNvSpPr/>
          <p:nvPr/>
        </p:nvSpPr>
        <p:spPr>
          <a:xfrm>
            <a:off x="-3291840" y="6035040"/>
            <a:ext cx="3291840" cy="3291840"/>
          </a:xfrm>
          <a:prstGeom prst="ellipse">
            <a:avLst/>
          </a:prstGeom>
          <a:solidFill>
            <a:srgbClr val="E3A343"/>
          </a:solidFill>
          <a:ln/>
        </p:spPr>
      </p:sp>
      <p:sp>
        <p:nvSpPr>
          <p:cNvPr id="5" name="Text 3"/>
          <p:cNvSpPr/>
          <p:nvPr/>
        </p:nvSpPr>
        <p:spPr>
          <a:xfrm>
            <a:off x="731520" y="1965960"/>
            <a:ext cx="5486400" cy="365760"/>
          </a:xfrm>
          <a:prstGeom prst="rect">
            <a:avLst/>
          </a:prstGeom>
          <a:noFill/>
          <a:ln/>
        </p:spPr>
        <p:txBody>
          <a:bodyPr wrap="square" lIns="0" tIns="0" rIns="0" bIns="0" rtlCol="0" anchor="ctr"/>
          <a:lstStyle/>
          <a:p>
            <a:pPr indent="0" marL="0">
              <a:buNone/>
            </a:pPr>
            <a:r>
              <a:rPr lang="en-US" sz="1400" b="1" spc="200" kern="0" dirty="0">
                <a:solidFill>
                  <a:srgbClr val="E3A343"/>
                </a:solidFill>
                <a:latin typeface="Calibri" pitchFamily="34" charset="0"/>
                <a:ea typeface="Calibri" pitchFamily="34" charset="-122"/>
                <a:cs typeface="Calibri" pitchFamily="34" charset="-120"/>
              </a:rPr>
              <a:t>SECTION 02</a:t>
            </a:r>
            <a:endParaRPr lang="en-US" sz="1400" dirty="0"/>
          </a:p>
        </p:txBody>
      </p:sp>
      <p:sp>
        <p:nvSpPr>
          <p:cNvPr id="6" name="Text 4"/>
          <p:cNvSpPr/>
          <p:nvPr/>
        </p:nvSpPr>
        <p:spPr>
          <a:xfrm>
            <a:off x="713232" y="2331720"/>
            <a:ext cx="9601200" cy="155448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Rapid Prototype</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Research &amp; Design</a:t>
            </a:r>
            <a:endParaRPr lang="en-US" sz="4000" dirty="0"/>
          </a:p>
        </p:txBody>
      </p:sp>
      <p:sp>
        <p:nvSpPr>
          <p:cNvPr id="7" name="Shape 5"/>
          <p:cNvSpPr/>
          <p:nvPr/>
        </p:nvSpPr>
        <p:spPr>
          <a:xfrm>
            <a:off x="731520" y="3977640"/>
            <a:ext cx="2148840" cy="502920"/>
          </a:xfrm>
          <a:prstGeom prst="roundRect">
            <a:avLst>
              <a:gd name="adj" fmla="val 50909"/>
            </a:avLst>
          </a:prstGeom>
          <a:solidFill>
            <a:srgbClr val="12786B"/>
          </a:solidFill>
          <a:ln/>
        </p:spPr>
      </p:sp>
      <p:sp>
        <p:nvSpPr>
          <p:cNvPr id="8" name="Text 6"/>
          <p:cNvSpPr/>
          <p:nvPr/>
        </p:nvSpPr>
        <p:spPr>
          <a:xfrm>
            <a:off x="731520" y="3977640"/>
            <a:ext cx="21488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 MINUTES</a:t>
            </a:r>
            <a:endParaRPr lang="en-US" sz="1300" dirty="0"/>
          </a:p>
        </p:txBody>
      </p:sp>
      <p:sp>
        <p:nvSpPr>
          <p:cNvPr id="9" name="Text 7"/>
          <p:cNvSpPr/>
          <p:nvPr/>
        </p:nvSpPr>
        <p:spPr>
          <a:xfrm>
            <a:off x="749808" y="480060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Research findings and the seven models developed</a:t>
            </a:r>
            <a:endParaRPr lang="en-US" sz="1400" dirty="0"/>
          </a:p>
        </p:txBody>
      </p:sp>
      <p:sp>
        <p:nvSpPr>
          <p:cNvPr id="10" name="Text 8"/>
          <p:cNvSpPr/>
          <p:nvPr/>
        </p:nvSpPr>
        <p:spPr>
          <a:xfrm>
            <a:off x="749808" y="516636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Dataset selection, quality evaluation and testing</a:t>
            </a:r>
            <a:endParaRPr lang="en-US" sz="1400" dirty="0"/>
          </a:p>
        </p:txBody>
      </p:sp>
      <p:sp>
        <p:nvSpPr>
          <p:cNvPr id="11" name="Text 9"/>
          <p:cNvSpPr/>
          <p:nvPr/>
        </p:nvSpPr>
        <p:spPr>
          <a:xfrm>
            <a:off x="749808" y="553212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Prototype architecture, wireframes and user flow</a:t>
            </a:r>
            <a:endParaRPr lang="en-US" sz="1400" dirty="0"/>
          </a:p>
        </p:txBody>
      </p:sp>
      <p:sp>
        <p:nvSpPr>
          <p:cNvPr id="12" name="Text 10"/>
          <p:cNvSpPr/>
          <p:nvPr/>
        </p:nvSpPr>
        <p:spPr>
          <a:xfrm>
            <a:off x="749808" y="589788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Walkthrough of three key decision-support features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PROTOTYPE RESEARCH &amp; DESIGN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Research Findings — Models Developed</a:t>
            </a:r>
            <a:endParaRPr lang="en-US" sz="3000" dirty="0"/>
          </a:p>
        </p:txBody>
      </p:sp>
      <p:sp>
        <p:nvSpPr>
          <p:cNvPr id="4" name="Text 2"/>
          <p:cNvSpPr/>
          <p:nvPr/>
        </p:nvSpPr>
        <p:spPr>
          <a:xfrm>
            <a:off x="548640" y="1417320"/>
            <a:ext cx="11064240" cy="365760"/>
          </a:xfrm>
          <a:prstGeom prst="rect">
            <a:avLst/>
          </a:prstGeom>
          <a:noFill/>
          <a:ln/>
        </p:spPr>
        <p:txBody>
          <a:bodyPr wrap="square" lIns="0" tIns="0" rIns="0" bIns="0" rtlCol="0" anchor="ctr"/>
          <a:lstStyle/>
          <a:p>
            <a:pPr indent="0" marL="0">
              <a:buNone/>
            </a:pPr>
            <a:r>
              <a:rPr lang="en-US" sz="1250" dirty="0">
                <a:solidFill>
                  <a:srgbClr val="5B6B76"/>
                </a:solidFill>
                <a:latin typeface="Calibri" pitchFamily="34" charset="0"/>
                <a:ea typeface="Calibri" pitchFamily="34" charset="-122"/>
                <a:cs typeface="Calibri" pitchFamily="34" charset="-120"/>
              </a:rPr>
              <a:t>Activity 3 implements all seven BudgetAI capabilities as working models on the Kaggle Personal Finance Dataset.</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457200"/>
                <a:gridCol w="2606040"/>
                <a:gridCol w="3063240"/>
                <a:gridCol w="4937760"/>
              </a:tblGrid>
              <a:tr h="384048">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Model / Feature</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Algorithm</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DSS Function</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502920">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1</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Time-Series Forecasting</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Bi-LSTM + MC Dropout</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30-day spend/balance forecast, 95% CI, proactive alerts</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502920">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2</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Risk Classification</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XGBoost + SHAP</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Overdraft / overrun / stress probabilities, plain-English risk</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502920">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3</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Anomaly Detection</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Isolation Forest + LSTM Autoencoder</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Point &amp; sequence anomalies with severity labels</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502920">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4</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Budget Optimization</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Deep Q-Network (RL)</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Learns optimal category reallocation to hit savings goals</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502920">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5</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Cold-Start Mitigation</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K-Means (K=4–8)</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Assigns new users to behavioural peer cohort instantly</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502920">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6</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NLP Categorization</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TF-IDF + Logistic Regression</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Auto-classifies free-text transactions, &gt;90% accuracy</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502920">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7</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Explainable AI</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SHAP TreeExplainer</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30" dirty="0">
                          <a:solidFill>
                            <a:srgbClr val="1C2B36"/>
                          </a:solidFill>
                          <a:latin typeface="Calibri" pitchFamily="34" charset="0"/>
                          <a:ea typeface="Calibri" pitchFamily="34" charset="-122"/>
                          <a:cs typeface="Calibri" pitchFamily="34" charset="-120"/>
                        </a:rPr>
                        <a:t>Attribution behind every automated adjustment</a:t>
                      </a:r>
                      <a:endParaRPr lang="en-US" sz="103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bl>
          </a:graphicData>
        </a:graphic>
      </p:graphicFrame>
      <p:sp>
        <p:nvSpPr>
          <p:cNvPr id="6" name="Shape 3"/>
          <p:cNvSpPr/>
          <p:nvPr/>
        </p:nvSpPr>
        <p:spPr>
          <a:xfrm>
            <a:off x="548640" y="1920240"/>
            <a:ext cx="11064240" cy="384048"/>
          </a:xfrm>
          <a:prstGeom prst="rect">
            <a:avLst/>
          </a:prstGeom>
          <a:solidFill>
            <a:srgbClr val="12786B"/>
          </a:solidFill>
          <a:ln/>
        </p:spPr>
      </p:sp>
      <p:sp>
        <p:nvSpPr>
          <p:cNvPr id="7" name="Text 4"/>
          <p:cNvSpPr/>
          <p:nvPr/>
        </p:nvSpPr>
        <p:spPr>
          <a:xfrm>
            <a:off x="640080" y="1920240"/>
            <a:ext cx="36576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8" name="Text 5"/>
          <p:cNvSpPr/>
          <p:nvPr/>
        </p:nvSpPr>
        <p:spPr>
          <a:xfrm>
            <a:off x="1097280" y="1920240"/>
            <a:ext cx="251460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Model / Feature</a:t>
            </a:r>
            <a:endParaRPr lang="en-US" sz="1100" dirty="0"/>
          </a:p>
        </p:txBody>
      </p:sp>
      <p:sp>
        <p:nvSpPr>
          <p:cNvPr id="9" name="Text 6"/>
          <p:cNvSpPr/>
          <p:nvPr/>
        </p:nvSpPr>
        <p:spPr>
          <a:xfrm>
            <a:off x="3703320" y="1920240"/>
            <a:ext cx="297180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Algorithm</a:t>
            </a:r>
            <a:endParaRPr lang="en-US" sz="1100" dirty="0"/>
          </a:p>
        </p:txBody>
      </p:sp>
      <p:sp>
        <p:nvSpPr>
          <p:cNvPr id="10" name="Text 7"/>
          <p:cNvSpPr/>
          <p:nvPr/>
        </p:nvSpPr>
        <p:spPr>
          <a:xfrm>
            <a:off x="6766560" y="1920240"/>
            <a:ext cx="48463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DSS Function</a:t>
            </a:r>
            <a:endParaRPr lang="en-US" sz="1100" dirty="0"/>
          </a:p>
        </p:txBody>
      </p:sp>
      <p:sp>
        <p:nvSpPr>
          <p:cNvPr id="11" name="Text 8"/>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PROTOTYPE RESEARCH &amp; DESIGN</a:t>
            </a:r>
            <a:endParaRPr lang="en-US" sz="900" dirty="0"/>
          </a:p>
        </p:txBody>
      </p:sp>
      <p:sp>
        <p:nvSpPr>
          <p:cNvPr id="12" name="Text 9"/>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13" name="Text 10"/>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PROTOTYPE RESEARCH &amp; DESIGN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Data Sourcing &amp; Quality Evaluation</a:t>
            </a:r>
            <a:endParaRPr lang="en-US" sz="3000" dirty="0"/>
          </a:p>
        </p:txBody>
      </p:sp>
      <p:sp>
        <p:nvSpPr>
          <p:cNvPr id="4" name="Shape 2"/>
          <p:cNvSpPr/>
          <p:nvPr/>
        </p:nvSpPr>
        <p:spPr>
          <a:xfrm>
            <a:off x="548640" y="1508760"/>
            <a:ext cx="5394960" cy="2286000"/>
          </a:xfrm>
          <a:prstGeom prst="roundRect">
            <a:avLst>
              <a:gd name="adj" fmla="val 3200"/>
            </a:avLst>
          </a:prstGeom>
          <a:solidFill>
            <a:srgbClr val="EEF2F4"/>
          </a:solidFill>
          <a:ln/>
        </p:spPr>
      </p:sp>
      <p:sp>
        <p:nvSpPr>
          <p:cNvPr id="5" name="Text 3"/>
          <p:cNvSpPr/>
          <p:nvPr/>
        </p:nvSpPr>
        <p:spPr>
          <a:xfrm>
            <a:off x="777240" y="1664208"/>
            <a:ext cx="4937760" cy="365760"/>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Kaggle Personal Finance Dataset</a:t>
            </a:r>
            <a:endParaRPr lang="en-US" sz="1500" dirty="0"/>
          </a:p>
        </p:txBody>
      </p:sp>
      <p:sp>
        <p:nvSpPr>
          <p:cNvPr id="6" name="Text 4"/>
          <p:cNvSpPr/>
          <p:nvPr/>
        </p:nvSpPr>
        <p:spPr>
          <a:xfrm>
            <a:off x="777240" y="2148840"/>
            <a:ext cx="1280160" cy="365760"/>
          </a:xfrm>
          <a:prstGeom prst="rect">
            <a:avLst/>
          </a:prstGeom>
          <a:noFill/>
          <a:ln/>
        </p:spPr>
        <p:txBody>
          <a:bodyPr wrap="square" lIns="0" tIns="0" rIns="0" bIns="0" rtlCol="0" anchor="ctr"/>
          <a:lstStyle/>
          <a:p>
            <a:pPr indent="0" marL="0">
              <a:buNone/>
            </a:pPr>
            <a:r>
              <a:rPr lang="en-US" sz="1150" b="1" dirty="0">
                <a:solidFill>
                  <a:srgbClr val="12786B"/>
                </a:solidFill>
                <a:latin typeface="Calibri" pitchFamily="34" charset="0"/>
                <a:ea typeface="Calibri" pitchFamily="34" charset="-122"/>
                <a:cs typeface="Calibri" pitchFamily="34" charset="-120"/>
              </a:rPr>
              <a:t>Volume:  </a:t>
            </a:r>
            <a:endParaRPr lang="en-US" sz="1150" dirty="0"/>
          </a:p>
        </p:txBody>
      </p:sp>
      <p:sp>
        <p:nvSpPr>
          <p:cNvPr id="7" name="Text 5"/>
          <p:cNvSpPr/>
          <p:nvPr/>
        </p:nvSpPr>
        <p:spPr>
          <a:xfrm>
            <a:off x="1965960" y="2148840"/>
            <a:ext cx="3840480" cy="457200"/>
          </a:xfrm>
          <a:prstGeom prst="rect">
            <a:avLst/>
          </a:prstGeom>
          <a:noFill/>
          <a:ln/>
        </p:spPr>
        <p:txBody>
          <a:bodyPr wrap="square" lIns="0" tIns="0" rIns="0" bIns="0" rtlCol="0" anchor="ctr"/>
          <a:lstStyle/>
          <a:p>
            <a:pPr indent="0" marL="0">
              <a:lnSpc>
                <a:spcPct val="110000"/>
              </a:lnSpc>
              <a:buNone/>
            </a:pPr>
            <a:r>
              <a:rPr lang="en-US" sz="1150" dirty="0">
                <a:solidFill>
                  <a:srgbClr val="1C2B36"/>
                </a:solidFill>
                <a:latin typeface="Calibri" pitchFamily="34" charset="0"/>
                <a:ea typeface="Calibri" pitchFamily="34" charset="-122"/>
                <a:cs typeface="Calibri" pitchFamily="34" charset="-120"/>
              </a:rPr>
              <a:t>783 real transactions, Jan–Dec 2023</a:t>
            </a:r>
            <a:endParaRPr lang="en-US" sz="1150" dirty="0"/>
          </a:p>
        </p:txBody>
      </p:sp>
      <p:sp>
        <p:nvSpPr>
          <p:cNvPr id="8" name="Text 6"/>
          <p:cNvSpPr/>
          <p:nvPr/>
        </p:nvSpPr>
        <p:spPr>
          <a:xfrm>
            <a:off x="777240" y="2651760"/>
            <a:ext cx="1280160" cy="365760"/>
          </a:xfrm>
          <a:prstGeom prst="rect">
            <a:avLst/>
          </a:prstGeom>
          <a:noFill/>
          <a:ln/>
        </p:spPr>
        <p:txBody>
          <a:bodyPr wrap="square" lIns="0" tIns="0" rIns="0" bIns="0" rtlCol="0" anchor="ctr"/>
          <a:lstStyle/>
          <a:p>
            <a:pPr indent="0" marL="0">
              <a:buNone/>
            </a:pPr>
            <a:r>
              <a:rPr lang="en-US" sz="1150" b="1" dirty="0">
                <a:solidFill>
                  <a:srgbClr val="12786B"/>
                </a:solidFill>
                <a:latin typeface="Calibri" pitchFamily="34" charset="0"/>
                <a:ea typeface="Calibri" pitchFamily="34" charset="-122"/>
                <a:cs typeface="Calibri" pitchFamily="34" charset="-120"/>
              </a:rPr>
              <a:t>Coverage:  </a:t>
            </a:r>
            <a:endParaRPr lang="en-US" sz="1150" dirty="0"/>
          </a:p>
        </p:txBody>
      </p:sp>
      <p:sp>
        <p:nvSpPr>
          <p:cNvPr id="9" name="Text 7"/>
          <p:cNvSpPr/>
          <p:nvPr/>
        </p:nvSpPr>
        <p:spPr>
          <a:xfrm>
            <a:off x="1965960" y="2651760"/>
            <a:ext cx="3840480" cy="457200"/>
          </a:xfrm>
          <a:prstGeom prst="rect">
            <a:avLst/>
          </a:prstGeom>
          <a:noFill/>
          <a:ln/>
        </p:spPr>
        <p:txBody>
          <a:bodyPr wrap="square" lIns="0" tIns="0" rIns="0" bIns="0" rtlCol="0" anchor="ctr"/>
          <a:lstStyle/>
          <a:p>
            <a:pPr indent="0" marL="0">
              <a:lnSpc>
                <a:spcPct val="110000"/>
              </a:lnSpc>
              <a:buNone/>
            </a:pPr>
            <a:r>
              <a:rPr lang="en-US" sz="1150" dirty="0">
                <a:solidFill>
                  <a:srgbClr val="1C2B36"/>
                </a:solidFill>
                <a:latin typeface="Calibri" pitchFamily="34" charset="0"/>
                <a:ea typeface="Calibri" pitchFamily="34" charset="-122"/>
                <a:cs typeface="Calibri" pitchFamily="34" charset="-120"/>
              </a:rPr>
              <a:t>10 spending categories, ~$57,600 annual income</a:t>
            </a:r>
            <a:endParaRPr lang="en-US" sz="1150" dirty="0"/>
          </a:p>
        </p:txBody>
      </p:sp>
      <p:sp>
        <p:nvSpPr>
          <p:cNvPr id="10" name="Text 8"/>
          <p:cNvSpPr/>
          <p:nvPr/>
        </p:nvSpPr>
        <p:spPr>
          <a:xfrm>
            <a:off x="777240" y="3154680"/>
            <a:ext cx="1280160" cy="365760"/>
          </a:xfrm>
          <a:prstGeom prst="rect">
            <a:avLst/>
          </a:prstGeom>
          <a:noFill/>
          <a:ln/>
        </p:spPr>
        <p:txBody>
          <a:bodyPr wrap="square" lIns="0" tIns="0" rIns="0" bIns="0" rtlCol="0" anchor="ctr"/>
          <a:lstStyle/>
          <a:p>
            <a:pPr indent="0" marL="0">
              <a:buNone/>
            </a:pPr>
            <a:r>
              <a:rPr lang="en-US" sz="1150" b="1" dirty="0">
                <a:solidFill>
                  <a:srgbClr val="12786B"/>
                </a:solidFill>
                <a:latin typeface="Calibri" pitchFamily="34" charset="0"/>
                <a:ea typeface="Calibri" pitchFamily="34" charset="-122"/>
                <a:cs typeface="Calibri" pitchFamily="34" charset="-120"/>
              </a:rPr>
              <a:t>Grain:  </a:t>
            </a:r>
            <a:endParaRPr lang="en-US" sz="1150" dirty="0"/>
          </a:p>
        </p:txBody>
      </p:sp>
      <p:sp>
        <p:nvSpPr>
          <p:cNvPr id="11" name="Text 9"/>
          <p:cNvSpPr/>
          <p:nvPr/>
        </p:nvSpPr>
        <p:spPr>
          <a:xfrm>
            <a:off x="1965960" y="3154680"/>
            <a:ext cx="3840480" cy="457200"/>
          </a:xfrm>
          <a:prstGeom prst="rect">
            <a:avLst/>
          </a:prstGeom>
          <a:noFill/>
          <a:ln/>
        </p:spPr>
        <p:txBody>
          <a:bodyPr wrap="square" lIns="0" tIns="0" rIns="0" bIns="0" rtlCol="0" anchor="ctr"/>
          <a:lstStyle/>
          <a:p>
            <a:pPr indent="0" marL="0">
              <a:lnSpc>
                <a:spcPct val="110000"/>
              </a:lnSpc>
              <a:buNone/>
            </a:pPr>
            <a:r>
              <a:rPr lang="en-US" sz="1150" dirty="0">
                <a:solidFill>
                  <a:srgbClr val="1C2B36"/>
                </a:solidFill>
                <a:latin typeface="Calibri" pitchFamily="34" charset="0"/>
                <a:ea typeface="Calibri" pitchFamily="34" charset="-122"/>
                <a:cs typeface="Calibri" pitchFamily="34" charset="-120"/>
              </a:rPr>
              <a:t>Daily-level, transaction-level, and monthly aggregates</a:t>
            </a:r>
            <a:endParaRPr lang="en-US" sz="1150" dirty="0"/>
          </a:p>
        </p:txBody>
      </p:sp>
      <p:sp>
        <p:nvSpPr>
          <p:cNvPr id="12" name="Shape 10"/>
          <p:cNvSpPr/>
          <p:nvPr/>
        </p:nvSpPr>
        <p:spPr>
          <a:xfrm>
            <a:off x="6172200" y="1508760"/>
            <a:ext cx="5440680" cy="2286000"/>
          </a:xfrm>
          <a:prstGeom prst="roundRect">
            <a:avLst>
              <a:gd name="adj" fmla="val 3200"/>
            </a:avLst>
          </a:prstGeom>
          <a:solidFill>
            <a:srgbClr val="EEF2F4"/>
          </a:solidFill>
          <a:ln/>
        </p:spPr>
      </p:sp>
      <p:sp>
        <p:nvSpPr>
          <p:cNvPr id="13" name="Text 11"/>
          <p:cNvSpPr/>
          <p:nvPr/>
        </p:nvSpPr>
        <p:spPr>
          <a:xfrm>
            <a:off x="6400800" y="1664208"/>
            <a:ext cx="4937760" cy="365760"/>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Quality Evaluation Steps</a:t>
            </a:r>
            <a:endParaRPr lang="en-US" sz="1500" dirty="0"/>
          </a:p>
        </p:txBody>
      </p:sp>
      <p:sp>
        <p:nvSpPr>
          <p:cNvPr id="14" name="Text 12"/>
          <p:cNvSpPr/>
          <p:nvPr/>
        </p:nvSpPr>
        <p:spPr>
          <a:xfrm>
            <a:off x="6400800" y="2103120"/>
            <a:ext cx="5029200" cy="548640"/>
          </a:xfrm>
          <a:prstGeom prst="rect">
            <a:avLst/>
          </a:prstGeom>
          <a:noFill/>
          <a:ln/>
        </p:spPr>
        <p:txBody>
          <a:bodyPr wrap="square" lIns="0" tIns="0" rIns="0" bIns="0" rtlCol="0" anchor="ctr"/>
          <a:lstStyle/>
          <a:p>
            <a:pPr indent="0" marL="0">
              <a:lnSpc>
                <a:spcPct val="112000"/>
              </a:lnSpc>
              <a:buNone/>
            </a:pPr>
            <a:r>
              <a:rPr lang="en-US" sz="1100" dirty="0">
                <a:solidFill>
                  <a:srgbClr val="1C2B36"/>
                </a:solidFill>
                <a:latin typeface="Calibri" pitchFamily="34" charset="0"/>
                <a:ea typeface="Calibri" pitchFamily="34" charset="-122"/>
                <a:cs typeface="Calibri" pitchFamily="34" charset="-120"/>
              </a:rPr>
              <a:t>•  Distribution &amp; correlation checks across all 10 categories (Fig. 7)</a:t>
            </a:r>
            <a:endParaRPr lang="en-US" sz="1100" dirty="0"/>
          </a:p>
        </p:txBody>
      </p:sp>
      <p:sp>
        <p:nvSpPr>
          <p:cNvPr id="15" name="Text 13"/>
          <p:cNvSpPr/>
          <p:nvPr/>
        </p:nvSpPr>
        <p:spPr>
          <a:xfrm>
            <a:off x="6400800" y="2670048"/>
            <a:ext cx="5029200" cy="548640"/>
          </a:xfrm>
          <a:prstGeom prst="rect">
            <a:avLst/>
          </a:prstGeom>
          <a:noFill/>
          <a:ln/>
        </p:spPr>
        <p:txBody>
          <a:bodyPr wrap="square" lIns="0" tIns="0" rIns="0" bIns="0" rtlCol="0" anchor="ctr"/>
          <a:lstStyle/>
          <a:p>
            <a:pPr indent="0" marL="0">
              <a:lnSpc>
                <a:spcPct val="112000"/>
              </a:lnSpc>
              <a:buNone/>
            </a:pPr>
            <a:r>
              <a:rPr lang="en-US" sz="1100" dirty="0">
                <a:solidFill>
                  <a:srgbClr val="1C2B36"/>
                </a:solidFill>
                <a:latin typeface="Calibri" pitchFamily="34" charset="0"/>
                <a:ea typeface="Calibri" pitchFamily="34" charset="-122"/>
                <a:cs typeface="Calibri" pitchFamily="34" charset="-120"/>
              </a:rPr>
              <a:t>•  2σ spike / rolling-average review to confirm volatility is real, not noisy</a:t>
            </a:r>
            <a:endParaRPr lang="en-US" sz="1100" dirty="0"/>
          </a:p>
        </p:txBody>
      </p:sp>
      <p:sp>
        <p:nvSpPr>
          <p:cNvPr id="16" name="Text 14"/>
          <p:cNvSpPr/>
          <p:nvPr/>
        </p:nvSpPr>
        <p:spPr>
          <a:xfrm>
            <a:off x="6400800" y="3236976"/>
            <a:ext cx="5029200" cy="548640"/>
          </a:xfrm>
          <a:prstGeom prst="rect">
            <a:avLst/>
          </a:prstGeom>
          <a:noFill/>
          <a:ln/>
        </p:spPr>
        <p:txBody>
          <a:bodyPr wrap="square" lIns="0" tIns="0" rIns="0" bIns="0" rtlCol="0" anchor="ctr"/>
          <a:lstStyle/>
          <a:p>
            <a:pPr indent="0" marL="0">
              <a:lnSpc>
                <a:spcPct val="112000"/>
              </a:lnSpc>
              <a:buNone/>
            </a:pPr>
            <a:r>
              <a:rPr lang="en-US" sz="1100" dirty="0">
                <a:solidFill>
                  <a:srgbClr val="1C2B36"/>
                </a:solidFill>
                <a:latin typeface="Calibri" pitchFamily="34" charset="0"/>
                <a:ea typeface="Calibri" pitchFamily="34" charset="-122"/>
                <a:cs typeface="Calibri" pitchFamily="34" charset="-120"/>
              </a:rPr>
              <a:t>•  Labelled test set built by injecting 12 known anomalies into 793 real rows for precision/recall scoring</a:t>
            </a:r>
            <a:endParaRPr lang="en-US" sz="1100" dirty="0"/>
          </a:p>
        </p:txBody>
      </p:sp>
      <p:sp>
        <p:nvSpPr>
          <p:cNvPr id="17" name="Shape 15"/>
          <p:cNvSpPr/>
          <p:nvPr/>
        </p:nvSpPr>
        <p:spPr>
          <a:xfrm>
            <a:off x="548640" y="3977640"/>
            <a:ext cx="11064240" cy="1737360"/>
          </a:xfrm>
          <a:prstGeom prst="roundRect">
            <a:avLst>
              <a:gd name="adj" fmla="val 4211"/>
            </a:avLst>
          </a:prstGeom>
          <a:solidFill>
            <a:srgbClr val="0B3350"/>
          </a:solidFill>
          <a:ln/>
        </p:spPr>
      </p:sp>
      <p:sp>
        <p:nvSpPr>
          <p:cNvPr id="18" name="Text 16"/>
          <p:cNvSpPr/>
          <p:nvPr/>
        </p:nvSpPr>
        <p:spPr>
          <a:xfrm>
            <a:off x="822960" y="4114800"/>
            <a:ext cx="7315200" cy="320040"/>
          </a:xfrm>
          <a:prstGeom prst="rect">
            <a:avLst/>
          </a:prstGeom>
          <a:noFill/>
          <a:ln/>
        </p:spPr>
        <p:txBody>
          <a:bodyPr wrap="square" lIns="0" tIns="0" rIns="0" bIns="0" rtlCol="0" anchor="ctr"/>
          <a:lstStyle/>
          <a:p>
            <a:pPr indent="0" marL="0">
              <a:buNone/>
            </a:pPr>
            <a:r>
              <a:rPr lang="en-US" sz="1350" b="1" dirty="0">
                <a:solidFill>
                  <a:srgbClr val="E3A343"/>
                </a:solidFill>
                <a:latin typeface="Calibri" pitchFamily="34" charset="0"/>
                <a:ea typeface="Calibri" pitchFamily="34" charset="-122"/>
                <a:cs typeface="Calibri" pitchFamily="34" charset="-120"/>
              </a:rPr>
              <a:t>Synthetic Data for Cold-Start &amp; Load Testing</a:t>
            </a:r>
            <a:endParaRPr lang="en-US" sz="1350" dirty="0"/>
          </a:p>
        </p:txBody>
      </p:sp>
      <p:sp>
        <p:nvSpPr>
          <p:cNvPr id="19" name="Text 17"/>
          <p:cNvSpPr/>
          <p:nvPr/>
        </p:nvSpPr>
        <p:spPr>
          <a:xfrm>
            <a:off x="822960" y="4462272"/>
            <a:ext cx="10424160" cy="1143000"/>
          </a:xfrm>
          <a:prstGeom prst="rect">
            <a:avLst/>
          </a:prstGeom>
          <a:noFill/>
          <a:ln/>
        </p:spPr>
        <p:txBody>
          <a:bodyPr wrap="square" lIns="0" tIns="0" rIns="0" bIns="0" rtlCol="0" anchor="ctr"/>
          <a:lstStyle/>
          <a:p>
            <a:pPr indent="0" marL="0">
              <a:lnSpc>
                <a:spcPct val="120000"/>
              </a:lnSpc>
              <a:buNone/>
            </a:pPr>
            <a:r>
              <a:rPr lang="en-US" sz="1150" dirty="0">
                <a:solidFill>
                  <a:srgbClr val="E7EEF1"/>
                </a:solidFill>
                <a:latin typeface="Calibri" pitchFamily="34" charset="0"/>
                <a:ea typeface="Calibri" pitchFamily="34" charset="-122"/>
                <a:cs typeface="Calibri" pitchFamily="34" charset="-120"/>
              </a:rPr>
              <a:t>The Docker Compose trainer generates a synthetic transaction stream to bootstrap all 5 models in ~5 minutes for local development, then swaps to the real Kaggle CSV for evaluation — letting the team validate the full pipeline before any real data is required, and stress-test cold-start behavioural cohorts safely.</a:t>
            </a:r>
            <a:endParaRPr lang="en-US" sz="1150" dirty="0"/>
          </a:p>
        </p:txBody>
      </p:sp>
      <p:sp>
        <p:nvSpPr>
          <p:cNvPr id="20" name="Text 18"/>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PROTOTYPE RESEARCH &amp; DESIGN</a:t>
            </a:r>
            <a:endParaRPr lang="en-US" sz="900" dirty="0"/>
          </a:p>
        </p:txBody>
      </p:sp>
      <p:sp>
        <p:nvSpPr>
          <p:cNvPr id="21" name="Text 19"/>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22" name="Text 20"/>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PROTOTYPE RESEARCH &amp; DESIGN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Prototype Architecture Overview</a:t>
            </a:r>
            <a:endParaRPr lang="en-US" sz="3000" dirty="0"/>
          </a:p>
        </p:txBody>
      </p:sp>
      <p:sp>
        <p:nvSpPr>
          <p:cNvPr id="4" name="Shape 2"/>
          <p:cNvSpPr/>
          <p:nvPr/>
        </p:nvSpPr>
        <p:spPr>
          <a:xfrm>
            <a:off x="548640" y="1691640"/>
            <a:ext cx="1691640" cy="960120"/>
          </a:xfrm>
          <a:prstGeom prst="roundRect">
            <a:avLst>
              <a:gd name="adj" fmla="val 8571"/>
            </a:avLst>
          </a:prstGeom>
          <a:solidFill>
            <a:srgbClr val="12786B"/>
          </a:solidFill>
          <a:ln/>
        </p:spPr>
      </p:sp>
      <p:sp>
        <p:nvSpPr>
          <p:cNvPr id="5" name="Text 3"/>
          <p:cNvSpPr/>
          <p:nvPr/>
        </p:nvSpPr>
        <p:spPr>
          <a:xfrm>
            <a:off x="621792" y="1691640"/>
            <a:ext cx="1545336"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Ingest</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(CSV / Open Banking / Webhook)</a:t>
            </a:r>
            <a:endParaRPr lang="en-US" sz="1050" dirty="0"/>
          </a:p>
        </p:txBody>
      </p:sp>
      <p:sp>
        <p:nvSpPr>
          <p:cNvPr id="6" name="Text 4"/>
          <p:cNvSpPr/>
          <p:nvPr/>
        </p:nvSpPr>
        <p:spPr>
          <a:xfrm>
            <a:off x="2240280" y="1691640"/>
            <a:ext cx="137160" cy="960120"/>
          </a:xfrm>
          <a:prstGeom prst="rect">
            <a:avLst/>
          </a:prstGeom>
          <a:noFill/>
          <a:ln/>
        </p:spPr>
        <p:txBody>
          <a:bodyPr wrap="square" lIns="0" tIns="0" rIns="0" bIns="0" rtlCol="0" anchor="ctr"/>
          <a:lstStyle/>
          <a:p>
            <a:pPr algn="ctr" indent="0" marL="0">
              <a:buNone/>
            </a:pPr>
            <a:r>
              <a:rPr lang="en-US" sz="1600" dirty="0">
                <a:solidFill>
                  <a:srgbClr val="5B6B76"/>
                </a:solidFill>
                <a:latin typeface="Arial" pitchFamily="34" charset="0"/>
                <a:ea typeface="Arial" pitchFamily="34" charset="-122"/>
                <a:cs typeface="Arial" pitchFamily="34" charset="-120"/>
              </a:rPr>
              <a:t>→</a:t>
            </a:r>
            <a:endParaRPr lang="en-US" sz="1600" dirty="0"/>
          </a:p>
        </p:txBody>
      </p:sp>
      <p:sp>
        <p:nvSpPr>
          <p:cNvPr id="7" name="Shape 5"/>
          <p:cNvSpPr/>
          <p:nvPr/>
        </p:nvSpPr>
        <p:spPr>
          <a:xfrm>
            <a:off x="2359152" y="1691640"/>
            <a:ext cx="1691640" cy="960120"/>
          </a:xfrm>
          <a:prstGeom prst="roundRect">
            <a:avLst>
              <a:gd name="adj" fmla="val 8571"/>
            </a:avLst>
          </a:prstGeom>
          <a:solidFill>
            <a:srgbClr val="0B3350"/>
          </a:solidFill>
          <a:ln/>
        </p:spPr>
      </p:sp>
      <p:sp>
        <p:nvSpPr>
          <p:cNvPr id="8" name="Text 6"/>
          <p:cNvSpPr/>
          <p:nvPr/>
        </p:nvSpPr>
        <p:spPr>
          <a:xfrm>
            <a:off x="2432304" y="1691640"/>
            <a:ext cx="1545336"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NLP</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Auto-categorize</a:t>
            </a:r>
            <a:endParaRPr lang="en-US" sz="1050" dirty="0"/>
          </a:p>
        </p:txBody>
      </p:sp>
      <p:sp>
        <p:nvSpPr>
          <p:cNvPr id="9" name="Text 7"/>
          <p:cNvSpPr/>
          <p:nvPr/>
        </p:nvSpPr>
        <p:spPr>
          <a:xfrm>
            <a:off x="4050792" y="1691640"/>
            <a:ext cx="137160" cy="960120"/>
          </a:xfrm>
          <a:prstGeom prst="rect">
            <a:avLst/>
          </a:prstGeom>
          <a:noFill/>
          <a:ln/>
        </p:spPr>
        <p:txBody>
          <a:bodyPr wrap="square" lIns="0" tIns="0" rIns="0" bIns="0" rtlCol="0" anchor="ctr"/>
          <a:lstStyle/>
          <a:p>
            <a:pPr algn="ctr" indent="0" marL="0">
              <a:buNone/>
            </a:pPr>
            <a:r>
              <a:rPr lang="en-US" sz="1600" dirty="0">
                <a:solidFill>
                  <a:srgbClr val="5B6B76"/>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4169664" y="1691640"/>
            <a:ext cx="1691640" cy="960120"/>
          </a:xfrm>
          <a:prstGeom prst="roundRect">
            <a:avLst>
              <a:gd name="adj" fmla="val 8571"/>
            </a:avLst>
          </a:prstGeom>
          <a:solidFill>
            <a:srgbClr val="12786B"/>
          </a:solidFill>
          <a:ln/>
        </p:spPr>
      </p:sp>
      <p:sp>
        <p:nvSpPr>
          <p:cNvPr id="11" name="Text 9"/>
          <p:cNvSpPr/>
          <p:nvPr/>
        </p:nvSpPr>
        <p:spPr>
          <a:xfrm>
            <a:off x="4242816" y="1691640"/>
            <a:ext cx="1545336"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Engineering</a:t>
            </a:r>
            <a:endParaRPr lang="en-US" sz="1050" dirty="0"/>
          </a:p>
        </p:txBody>
      </p:sp>
      <p:sp>
        <p:nvSpPr>
          <p:cNvPr id="12" name="Text 10"/>
          <p:cNvSpPr/>
          <p:nvPr/>
        </p:nvSpPr>
        <p:spPr>
          <a:xfrm>
            <a:off x="5861304" y="1691640"/>
            <a:ext cx="137160" cy="960120"/>
          </a:xfrm>
          <a:prstGeom prst="rect">
            <a:avLst/>
          </a:prstGeom>
          <a:noFill/>
          <a:ln/>
        </p:spPr>
        <p:txBody>
          <a:bodyPr wrap="square" lIns="0" tIns="0" rIns="0" bIns="0" rtlCol="0" anchor="ctr"/>
          <a:lstStyle/>
          <a:p>
            <a:pPr algn="ctr" indent="0" marL="0">
              <a:buNone/>
            </a:pPr>
            <a:r>
              <a:rPr lang="en-US" sz="1600" dirty="0">
                <a:solidFill>
                  <a:srgbClr val="5B6B76"/>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5980176" y="1691640"/>
            <a:ext cx="1691640" cy="960120"/>
          </a:xfrm>
          <a:prstGeom prst="roundRect">
            <a:avLst>
              <a:gd name="adj" fmla="val 8571"/>
            </a:avLst>
          </a:prstGeom>
          <a:solidFill>
            <a:srgbClr val="0B3350"/>
          </a:solidFill>
          <a:ln/>
        </p:spPr>
      </p:sp>
      <p:sp>
        <p:nvSpPr>
          <p:cNvPr id="14" name="Text 12"/>
          <p:cNvSpPr/>
          <p:nvPr/>
        </p:nvSpPr>
        <p:spPr>
          <a:xfrm>
            <a:off x="6053328" y="1691640"/>
            <a:ext cx="1545336"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Inference</a:t>
            </a:r>
            <a:endParaRPr lang="en-US" sz="1050" dirty="0"/>
          </a:p>
        </p:txBody>
      </p:sp>
      <p:sp>
        <p:nvSpPr>
          <p:cNvPr id="15" name="Text 13"/>
          <p:cNvSpPr/>
          <p:nvPr/>
        </p:nvSpPr>
        <p:spPr>
          <a:xfrm>
            <a:off x="7671816" y="1691640"/>
            <a:ext cx="137160" cy="960120"/>
          </a:xfrm>
          <a:prstGeom prst="rect">
            <a:avLst/>
          </a:prstGeom>
          <a:noFill/>
          <a:ln/>
        </p:spPr>
        <p:txBody>
          <a:bodyPr wrap="square" lIns="0" tIns="0" rIns="0" bIns="0" rtlCol="0" anchor="ctr"/>
          <a:lstStyle/>
          <a:p>
            <a:pPr algn="ctr" indent="0" marL="0">
              <a:buNone/>
            </a:pPr>
            <a:r>
              <a:rPr lang="en-US" sz="1600" dirty="0">
                <a:solidFill>
                  <a:srgbClr val="5B6B76"/>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7790688" y="1691640"/>
            <a:ext cx="1691640" cy="960120"/>
          </a:xfrm>
          <a:prstGeom prst="roundRect">
            <a:avLst>
              <a:gd name="adj" fmla="val 8571"/>
            </a:avLst>
          </a:prstGeom>
          <a:solidFill>
            <a:srgbClr val="12786B"/>
          </a:solidFill>
          <a:ln/>
        </p:spPr>
      </p:sp>
      <p:sp>
        <p:nvSpPr>
          <p:cNvPr id="17" name="Text 15"/>
          <p:cNvSpPr/>
          <p:nvPr/>
        </p:nvSpPr>
        <p:spPr>
          <a:xfrm>
            <a:off x="7863840" y="1691640"/>
            <a:ext cx="1545336"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Dashboard</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Rendering</a:t>
            </a:r>
            <a:endParaRPr lang="en-US" sz="1050" dirty="0"/>
          </a:p>
        </p:txBody>
      </p:sp>
      <p:sp>
        <p:nvSpPr>
          <p:cNvPr id="18" name="Text 16"/>
          <p:cNvSpPr/>
          <p:nvPr/>
        </p:nvSpPr>
        <p:spPr>
          <a:xfrm>
            <a:off x="9482328" y="1691640"/>
            <a:ext cx="137160" cy="960120"/>
          </a:xfrm>
          <a:prstGeom prst="rect">
            <a:avLst/>
          </a:prstGeom>
          <a:noFill/>
          <a:ln/>
        </p:spPr>
        <p:txBody>
          <a:bodyPr wrap="square" lIns="0" tIns="0" rIns="0" bIns="0" rtlCol="0" anchor="ctr"/>
          <a:lstStyle/>
          <a:p>
            <a:pPr algn="ctr" indent="0" marL="0">
              <a:buNone/>
            </a:pPr>
            <a:r>
              <a:rPr lang="en-US" sz="1600" dirty="0">
                <a:solidFill>
                  <a:srgbClr val="5B6B76"/>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9601200" y="1691640"/>
            <a:ext cx="1691640" cy="960120"/>
          </a:xfrm>
          <a:prstGeom prst="roundRect">
            <a:avLst>
              <a:gd name="adj" fmla="val 8571"/>
            </a:avLst>
          </a:prstGeom>
          <a:solidFill>
            <a:srgbClr val="0B3350"/>
          </a:solidFill>
          <a:ln/>
        </p:spPr>
      </p:sp>
      <p:sp>
        <p:nvSpPr>
          <p:cNvPr id="20" name="Text 18"/>
          <p:cNvSpPr/>
          <p:nvPr/>
        </p:nvSpPr>
        <p:spPr>
          <a:xfrm>
            <a:off x="9674352" y="1691640"/>
            <a:ext cx="1545336"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Weekly</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Retraining</a:t>
            </a:r>
            <a:endParaRPr lang="en-US" sz="1050" dirty="0"/>
          </a:p>
        </p:txBody>
      </p:sp>
      <p:sp>
        <p:nvSpPr>
          <p:cNvPr id="21" name="Text 19"/>
          <p:cNvSpPr/>
          <p:nvPr/>
        </p:nvSpPr>
        <p:spPr>
          <a:xfrm>
            <a:off x="548640" y="2971800"/>
            <a:ext cx="4572000" cy="320040"/>
          </a:xfrm>
          <a:prstGeom prst="rect">
            <a:avLst/>
          </a:prstGeom>
          <a:noFill/>
          <a:ln/>
        </p:spPr>
        <p:txBody>
          <a:bodyPr wrap="square" lIns="0" tIns="0" rIns="0" bIns="0" rtlCol="0" anchor="ctr"/>
          <a:lstStyle/>
          <a:p>
            <a:pPr indent="0" marL="0">
              <a:buNone/>
            </a:pPr>
            <a:r>
              <a:rPr lang="en-US" sz="1400" b="1" dirty="0">
                <a:solidFill>
                  <a:srgbClr val="0B3350"/>
                </a:solidFill>
                <a:latin typeface="Calibri" pitchFamily="34" charset="0"/>
                <a:ea typeface="Calibri" pitchFamily="34" charset="-122"/>
                <a:cs typeface="Calibri" pitchFamily="34" charset="-120"/>
              </a:rPr>
              <a:t>Technology Stack</a:t>
            </a:r>
            <a:endParaRPr lang="en-US" sz="1400" dirty="0"/>
          </a:p>
        </p:txBody>
      </p:sp>
      <p:sp>
        <p:nvSpPr>
          <p:cNvPr id="22" name="Text 20"/>
          <p:cNvSpPr/>
          <p:nvPr/>
        </p:nvSpPr>
        <p:spPr>
          <a:xfrm>
            <a:off x="548640" y="3364992"/>
            <a:ext cx="5486400" cy="365760"/>
          </a:xfrm>
          <a:prstGeom prst="rect">
            <a:avLst/>
          </a:prstGeom>
          <a:noFill/>
          <a:ln/>
        </p:spPr>
        <p:txBody>
          <a:bodyPr wrap="square" lIns="0" tIns="0" rIns="0" bIns="0" rtlCol="0" anchor="ctr"/>
          <a:lstStyle/>
          <a:p>
            <a:pPr indent="0" marL="0">
              <a:buNone/>
            </a:pPr>
            <a:r>
              <a:rPr lang="en-US" sz="1150" dirty="0">
                <a:solidFill>
                  <a:srgbClr val="1C2B36"/>
                </a:solidFill>
                <a:latin typeface="Calibri" pitchFamily="34" charset="0"/>
                <a:ea typeface="Calibri" pitchFamily="34" charset="-122"/>
                <a:cs typeface="Calibri" pitchFamily="34" charset="-120"/>
              </a:rPr>
              <a:t>•  Python FastAPI backend, 4 independent model endpoints</a:t>
            </a:r>
            <a:endParaRPr lang="en-US" sz="1150" dirty="0"/>
          </a:p>
        </p:txBody>
      </p:sp>
      <p:sp>
        <p:nvSpPr>
          <p:cNvPr id="23" name="Text 21"/>
          <p:cNvSpPr/>
          <p:nvPr/>
        </p:nvSpPr>
        <p:spPr>
          <a:xfrm>
            <a:off x="548640" y="3730752"/>
            <a:ext cx="5486400" cy="365760"/>
          </a:xfrm>
          <a:prstGeom prst="rect">
            <a:avLst/>
          </a:prstGeom>
          <a:noFill/>
          <a:ln/>
        </p:spPr>
        <p:txBody>
          <a:bodyPr wrap="square" lIns="0" tIns="0" rIns="0" bIns="0" rtlCol="0" anchor="ctr"/>
          <a:lstStyle/>
          <a:p>
            <a:pPr indent="0" marL="0">
              <a:buNone/>
            </a:pPr>
            <a:r>
              <a:rPr lang="en-US" sz="1150" dirty="0">
                <a:solidFill>
                  <a:srgbClr val="1C2B36"/>
                </a:solidFill>
                <a:latin typeface="Calibri" pitchFamily="34" charset="0"/>
                <a:ea typeface="Calibri" pitchFamily="34" charset="-122"/>
                <a:cs typeface="Calibri" pitchFamily="34" charset="-120"/>
              </a:rPr>
              <a:t>•  PyTorch (Bi-LSTM, DQN, LSTM Autoencoder)</a:t>
            </a:r>
            <a:endParaRPr lang="en-US" sz="1150" dirty="0"/>
          </a:p>
        </p:txBody>
      </p:sp>
      <p:sp>
        <p:nvSpPr>
          <p:cNvPr id="24" name="Text 22"/>
          <p:cNvSpPr/>
          <p:nvPr/>
        </p:nvSpPr>
        <p:spPr>
          <a:xfrm>
            <a:off x="548640" y="4096512"/>
            <a:ext cx="5486400" cy="365760"/>
          </a:xfrm>
          <a:prstGeom prst="rect">
            <a:avLst/>
          </a:prstGeom>
          <a:noFill/>
          <a:ln/>
        </p:spPr>
        <p:txBody>
          <a:bodyPr wrap="square" lIns="0" tIns="0" rIns="0" bIns="0" rtlCol="0" anchor="ctr"/>
          <a:lstStyle/>
          <a:p>
            <a:pPr indent="0" marL="0">
              <a:buNone/>
            </a:pPr>
            <a:r>
              <a:rPr lang="en-US" sz="1150" dirty="0">
                <a:solidFill>
                  <a:srgbClr val="1C2B36"/>
                </a:solidFill>
                <a:latin typeface="Calibri" pitchFamily="34" charset="0"/>
                <a:ea typeface="Calibri" pitchFamily="34" charset="-122"/>
                <a:cs typeface="Calibri" pitchFamily="34" charset="-120"/>
              </a:rPr>
              <a:t>•  XGBoost + SHAP · scikit-learn (K-Means, Isolation Forest, TF-IDF)</a:t>
            </a:r>
            <a:endParaRPr lang="en-US" sz="1150" dirty="0"/>
          </a:p>
        </p:txBody>
      </p:sp>
      <p:sp>
        <p:nvSpPr>
          <p:cNvPr id="25" name="Text 23"/>
          <p:cNvSpPr/>
          <p:nvPr/>
        </p:nvSpPr>
        <p:spPr>
          <a:xfrm>
            <a:off x="548640" y="4462272"/>
            <a:ext cx="5486400" cy="365760"/>
          </a:xfrm>
          <a:prstGeom prst="rect">
            <a:avLst/>
          </a:prstGeom>
          <a:noFill/>
          <a:ln/>
        </p:spPr>
        <p:txBody>
          <a:bodyPr wrap="square" lIns="0" tIns="0" rIns="0" bIns="0" rtlCol="0" anchor="ctr"/>
          <a:lstStyle/>
          <a:p>
            <a:pPr indent="0" marL="0">
              <a:buNone/>
            </a:pPr>
            <a:r>
              <a:rPr lang="en-US" sz="1150" dirty="0">
                <a:solidFill>
                  <a:srgbClr val="1C2B36"/>
                </a:solidFill>
                <a:latin typeface="Calibri" pitchFamily="34" charset="0"/>
                <a:ea typeface="Calibri" pitchFamily="34" charset="-122"/>
                <a:cs typeface="Calibri" pitchFamily="34" charset="-120"/>
              </a:rPr>
              <a:t>•  PostgreSQL (prod) / SQLite (dev) · Redis cache &amp; task queue</a:t>
            </a:r>
            <a:endParaRPr lang="en-US" sz="1150" dirty="0"/>
          </a:p>
        </p:txBody>
      </p:sp>
      <p:sp>
        <p:nvSpPr>
          <p:cNvPr id="26" name="Text 24"/>
          <p:cNvSpPr/>
          <p:nvPr/>
        </p:nvSpPr>
        <p:spPr>
          <a:xfrm>
            <a:off x="548640" y="4828032"/>
            <a:ext cx="5486400" cy="365760"/>
          </a:xfrm>
          <a:prstGeom prst="rect">
            <a:avLst/>
          </a:prstGeom>
          <a:noFill/>
          <a:ln/>
        </p:spPr>
        <p:txBody>
          <a:bodyPr wrap="square" lIns="0" tIns="0" rIns="0" bIns="0" rtlCol="0" anchor="ctr"/>
          <a:lstStyle/>
          <a:p>
            <a:pPr indent="0" marL="0">
              <a:buNone/>
            </a:pPr>
            <a:r>
              <a:rPr lang="en-US" sz="1150" dirty="0">
                <a:solidFill>
                  <a:srgbClr val="1C2B36"/>
                </a:solidFill>
                <a:latin typeface="Calibri" pitchFamily="34" charset="0"/>
                <a:ea typeface="Calibri" pitchFamily="34" charset="-122"/>
                <a:cs typeface="Calibri" pitchFamily="34" charset="-120"/>
              </a:rPr>
              <a:t>•  Celery async weekly retraining · Chart.js dashboard</a:t>
            </a:r>
            <a:endParaRPr lang="en-US" sz="1150" dirty="0"/>
          </a:p>
        </p:txBody>
      </p:sp>
      <p:sp>
        <p:nvSpPr>
          <p:cNvPr id="27" name="Shape 25"/>
          <p:cNvSpPr/>
          <p:nvPr/>
        </p:nvSpPr>
        <p:spPr>
          <a:xfrm>
            <a:off x="6355080" y="2971800"/>
            <a:ext cx="5257800" cy="2743200"/>
          </a:xfrm>
          <a:prstGeom prst="roundRect">
            <a:avLst>
              <a:gd name="adj" fmla="val 2667"/>
            </a:avLst>
          </a:prstGeom>
          <a:solidFill>
            <a:srgbClr val="EEF2F4"/>
          </a:solidFill>
          <a:ln/>
        </p:spPr>
      </p:sp>
      <p:sp>
        <p:nvSpPr>
          <p:cNvPr id="28" name="Text 26"/>
          <p:cNvSpPr/>
          <p:nvPr/>
        </p:nvSpPr>
        <p:spPr>
          <a:xfrm>
            <a:off x="6583680" y="3127248"/>
            <a:ext cx="4754880" cy="320040"/>
          </a:xfrm>
          <a:prstGeom prst="rect">
            <a:avLst/>
          </a:prstGeom>
          <a:noFill/>
          <a:ln/>
        </p:spPr>
        <p:txBody>
          <a:bodyPr wrap="square" lIns="0" tIns="0" rIns="0" bIns="0" rtlCol="0" anchor="ctr"/>
          <a:lstStyle/>
          <a:p>
            <a:pPr indent="0" marL="0">
              <a:buNone/>
            </a:pPr>
            <a:r>
              <a:rPr lang="en-US" sz="1400" b="1" dirty="0">
                <a:solidFill>
                  <a:srgbClr val="0B3350"/>
                </a:solidFill>
                <a:latin typeface="Calibri" pitchFamily="34" charset="0"/>
                <a:ea typeface="Calibri" pitchFamily="34" charset="-122"/>
                <a:cs typeface="Calibri" pitchFamily="34" charset="-120"/>
              </a:rPr>
              <a:t>Modular API Endpoints</a:t>
            </a:r>
            <a:endParaRPr lang="en-US" sz="1400" dirty="0"/>
          </a:p>
        </p:txBody>
      </p:sp>
      <p:sp>
        <p:nvSpPr>
          <p:cNvPr id="29" name="Shape 27"/>
          <p:cNvSpPr/>
          <p:nvPr/>
        </p:nvSpPr>
        <p:spPr>
          <a:xfrm>
            <a:off x="6583680" y="3520440"/>
            <a:ext cx="4800600" cy="438912"/>
          </a:xfrm>
          <a:prstGeom prst="roundRect">
            <a:avLst>
              <a:gd name="adj" fmla="val 12500"/>
            </a:avLst>
          </a:prstGeom>
          <a:solidFill>
            <a:srgbClr val="FFFFFF"/>
          </a:solidFill>
          <a:ln w="9525">
            <a:solidFill>
              <a:srgbClr val="DCE3E7"/>
            </a:solidFill>
            <a:prstDash val="solid"/>
          </a:ln>
        </p:spPr>
      </p:sp>
      <p:sp>
        <p:nvSpPr>
          <p:cNvPr id="30" name="Text 28"/>
          <p:cNvSpPr/>
          <p:nvPr/>
        </p:nvSpPr>
        <p:spPr>
          <a:xfrm>
            <a:off x="6720840" y="3520440"/>
            <a:ext cx="4572000" cy="438912"/>
          </a:xfrm>
          <a:prstGeom prst="rect">
            <a:avLst/>
          </a:prstGeom>
          <a:noFill/>
          <a:ln/>
        </p:spPr>
        <p:txBody>
          <a:bodyPr wrap="square" lIns="0" tIns="0" rIns="0" bIns="0" rtlCol="0" anchor="ctr"/>
          <a:lstStyle/>
          <a:p>
            <a:pPr indent="0" marL="0">
              <a:buNone/>
            </a:pPr>
            <a:r>
              <a:rPr lang="en-US" sz="1000" dirty="0">
                <a:solidFill>
                  <a:srgbClr val="1C2B36"/>
                </a:solidFill>
                <a:latin typeface="Courier New" pitchFamily="34" charset="0"/>
                <a:ea typeface="Courier New" pitchFamily="34" charset="-122"/>
                <a:cs typeface="Courier New" pitchFamily="34" charset="-120"/>
              </a:rPr>
              <a:t>/forecast/spending  →  Bi-LSTM Forecaster</a:t>
            </a:r>
            <a:endParaRPr lang="en-US" sz="1000" dirty="0"/>
          </a:p>
        </p:txBody>
      </p:sp>
      <p:sp>
        <p:nvSpPr>
          <p:cNvPr id="31" name="Shape 29"/>
          <p:cNvSpPr/>
          <p:nvPr/>
        </p:nvSpPr>
        <p:spPr>
          <a:xfrm>
            <a:off x="6583680" y="4069080"/>
            <a:ext cx="4800600" cy="438912"/>
          </a:xfrm>
          <a:prstGeom prst="roundRect">
            <a:avLst>
              <a:gd name="adj" fmla="val 12500"/>
            </a:avLst>
          </a:prstGeom>
          <a:solidFill>
            <a:srgbClr val="FFFFFF"/>
          </a:solidFill>
          <a:ln w="9525">
            <a:solidFill>
              <a:srgbClr val="DCE3E7"/>
            </a:solidFill>
            <a:prstDash val="solid"/>
          </a:ln>
        </p:spPr>
      </p:sp>
      <p:sp>
        <p:nvSpPr>
          <p:cNvPr id="32" name="Text 30"/>
          <p:cNvSpPr/>
          <p:nvPr/>
        </p:nvSpPr>
        <p:spPr>
          <a:xfrm>
            <a:off x="6720840" y="4069080"/>
            <a:ext cx="4572000" cy="438912"/>
          </a:xfrm>
          <a:prstGeom prst="rect">
            <a:avLst/>
          </a:prstGeom>
          <a:noFill/>
          <a:ln/>
        </p:spPr>
        <p:txBody>
          <a:bodyPr wrap="square" lIns="0" tIns="0" rIns="0" bIns="0" rtlCol="0" anchor="ctr"/>
          <a:lstStyle/>
          <a:p>
            <a:pPr indent="0" marL="0">
              <a:buNone/>
            </a:pPr>
            <a:r>
              <a:rPr lang="en-US" sz="1000" dirty="0">
                <a:solidFill>
                  <a:srgbClr val="1C2B36"/>
                </a:solidFill>
                <a:latin typeface="Courier New" pitchFamily="34" charset="0"/>
                <a:ea typeface="Courier New" pitchFamily="34" charset="-122"/>
                <a:cs typeface="Courier New" pitchFamily="34" charset="-120"/>
              </a:rPr>
              <a:t>/classify/risk  →  XGBoost Risk Classifier</a:t>
            </a:r>
            <a:endParaRPr lang="en-US" sz="1000" dirty="0"/>
          </a:p>
        </p:txBody>
      </p:sp>
      <p:sp>
        <p:nvSpPr>
          <p:cNvPr id="33" name="Shape 31"/>
          <p:cNvSpPr/>
          <p:nvPr/>
        </p:nvSpPr>
        <p:spPr>
          <a:xfrm>
            <a:off x="6583680" y="4617720"/>
            <a:ext cx="4800600" cy="438912"/>
          </a:xfrm>
          <a:prstGeom prst="roundRect">
            <a:avLst>
              <a:gd name="adj" fmla="val 12500"/>
            </a:avLst>
          </a:prstGeom>
          <a:solidFill>
            <a:srgbClr val="FFFFFF"/>
          </a:solidFill>
          <a:ln w="9525">
            <a:solidFill>
              <a:srgbClr val="DCE3E7"/>
            </a:solidFill>
            <a:prstDash val="solid"/>
          </a:ln>
        </p:spPr>
      </p:sp>
      <p:sp>
        <p:nvSpPr>
          <p:cNvPr id="34" name="Text 32"/>
          <p:cNvSpPr/>
          <p:nvPr/>
        </p:nvSpPr>
        <p:spPr>
          <a:xfrm>
            <a:off x="6720840" y="4617720"/>
            <a:ext cx="4572000" cy="438912"/>
          </a:xfrm>
          <a:prstGeom prst="rect">
            <a:avLst/>
          </a:prstGeom>
          <a:noFill/>
          <a:ln/>
        </p:spPr>
        <p:txBody>
          <a:bodyPr wrap="square" lIns="0" tIns="0" rIns="0" bIns="0" rtlCol="0" anchor="ctr"/>
          <a:lstStyle/>
          <a:p>
            <a:pPr indent="0" marL="0">
              <a:buNone/>
            </a:pPr>
            <a:r>
              <a:rPr lang="en-US" sz="1000" dirty="0">
                <a:solidFill>
                  <a:srgbClr val="1C2B36"/>
                </a:solidFill>
                <a:latin typeface="Courier New" pitchFamily="34" charset="0"/>
                <a:ea typeface="Courier New" pitchFamily="34" charset="-122"/>
                <a:cs typeface="Courier New" pitchFamily="34" charset="-120"/>
              </a:rPr>
              <a:t>/anomaly/detect  →  Isolation Forest + Autoencoder</a:t>
            </a:r>
            <a:endParaRPr lang="en-US" sz="1000" dirty="0"/>
          </a:p>
        </p:txBody>
      </p:sp>
      <p:sp>
        <p:nvSpPr>
          <p:cNvPr id="35" name="Shape 33"/>
          <p:cNvSpPr/>
          <p:nvPr/>
        </p:nvSpPr>
        <p:spPr>
          <a:xfrm>
            <a:off x="6583680" y="5166360"/>
            <a:ext cx="4800600" cy="438912"/>
          </a:xfrm>
          <a:prstGeom prst="roundRect">
            <a:avLst>
              <a:gd name="adj" fmla="val 12500"/>
            </a:avLst>
          </a:prstGeom>
          <a:solidFill>
            <a:srgbClr val="FFFFFF"/>
          </a:solidFill>
          <a:ln w="9525">
            <a:solidFill>
              <a:srgbClr val="DCE3E7"/>
            </a:solidFill>
            <a:prstDash val="solid"/>
          </a:ln>
        </p:spPr>
      </p:sp>
      <p:sp>
        <p:nvSpPr>
          <p:cNvPr id="36" name="Text 34"/>
          <p:cNvSpPr/>
          <p:nvPr/>
        </p:nvSpPr>
        <p:spPr>
          <a:xfrm>
            <a:off x="6720840" y="5166360"/>
            <a:ext cx="4572000" cy="438912"/>
          </a:xfrm>
          <a:prstGeom prst="rect">
            <a:avLst/>
          </a:prstGeom>
          <a:noFill/>
          <a:ln/>
        </p:spPr>
        <p:txBody>
          <a:bodyPr wrap="square" lIns="0" tIns="0" rIns="0" bIns="0" rtlCol="0" anchor="ctr"/>
          <a:lstStyle/>
          <a:p>
            <a:pPr indent="0" marL="0">
              <a:buNone/>
            </a:pPr>
            <a:r>
              <a:rPr lang="en-US" sz="1000" dirty="0">
                <a:solidFill>
                  <a:srgbClr val="1C2B36"/>
                </a:solidFill>
                <a:latin typeface="Courier New" pitchFamily="34" charset="0"/>
                <a:ea typeface="Courier New" pitchFamily="34" charset="-122"/>
                <a:cs typeface="Courier New" pitchFamily="34" charset="-120"/>
              </a:rPr>
              <a:t>/optimize/budget  →  DQN Budget Optimizer</a:t>
            </a:r>
            <a:endParaRPr lang="en-US" sz="1000" dirty="0"/>
          </a:p>
        </p:txBody>
      </p:sp>
      <p:sp>
        <p:nvSpPr>
          <p:cNvPr id="37" name="Text 35"/>
          <p:cNvSpPr/>
          <p:nvPr/>
        </p:nvSpPr>
        <p:spPr>
          <a:xfrm>
            <a:off x="6355080" y="5870448"/>
            <a:ext cx="5257800" cy="320040"/>
          </a:xfrm>
          <a:prstGeom prst="rect">
            <a:avLst/>
          </a:prstGeom>
          <a:noFill/>
          <a:ln/>
        </p:spPr>
        <p:txBody>
          <a:bodyPr wrap="square" lIns="0" tIns="0" rIns="0" bIns="0" rtlCol="0" anchor="ctr"/>
          <a:lstStyle/>
          <a:p>
            <a:pPr indent="0" marL="0">
              <a:buNone/>
            </a:pPr>
            <a:r>
              <a:rPr lang="en-US" sz="950" i="1" dirty="0">
                <a:solidFill>
                  <a:srgbClr val="5B6B76"/>
                </a:solidFill>
                <a:latin typeface="Calibri" pitchFamily="34" charset="0"/>
                <a:ea typeface="Calibri" pitchFamily="34" charset="-122"/>
                <a:cs typeface="Calibri" pitchFamily="34" charset="-120"/>
              </a:rPr>
              <a:t>Shares one feature pipeline · deploys on AWS ECS Fargate via Terraform, auto-scaling behind an ALB</a:t>
            </a:r>
            <a:endParaRPr lang="en-US" sz="950" dirty="0"/>
          </a:p>
        </p:txBody>
      </p:sp>
      <p:sp>
        <p:nvSpPr>
          <p:cNvPr id="38" name="Text 3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PROTOTYPE RESEARCH &amp; DESIGN</a:t>
            </a:r>
            <a:endParaRPr lang="en-US" sz="900" dirty="0"/>
          </a:p>
        </p:txBody>
      </p:sp>
      <p:sp>
        <p:nvSpPr>
          <p:cNvPr id="39" name="Text 37"/>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40" name="Text 38"/>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PROTOTYPE RESEARCH &amp; DESIGN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Prototype Design — Wireframe &amp; User Flow</a:t>
            </a:r>
            <a:endParaRPr lang="en-US" sz="3000" dirty="0"/>
          </a:p>
        </p:txBody>
      </p:sp>
      <p:sp>
        <p:nvSpPr>
          <p:cNvPr id="4" name="Shape 2"/>
          <p:cNvSpPr/>
          <p:nvPr/>
        </p:nvSpPr>
        <p:spPr>
          <a:xfrm>
            <a:off x="548640" y="1508760"/>
            <a:ext cx="5577840" cy="4297680"/>
          </a:xfrm>
          <a:prstGeom prst="roundRect">
            <a:avLst>
              <a:gd name="adj" fmla="val 1489"/>
            </a:avLst>
          </a:prstGeom>
          <a:solidFill>
            <a:srgbClr val="0B3350"/>
          </a:solidFill>
          <a:ln/>
        </p:spPr>
      </p:sp>
      <p:sp>
        <p:nvSpPr>
          <p:cNvPr id="5" name="Shape 3"/>
          <p:cNvSpPr/>
          <p:nvPr/>
        </p:nvSpPr>
        <p:spPr>
          <a:xfrm>
            <a:off x="548640" y="1508760"/>
            <a:ext cx="1417320" cy="4297680"/>
          </a:xfrm>
          <a:prstGeom prst="rect">
            <a:avLst/>
          </a:prstGeom>
          <a:solidFill>
            <a:srgbClr val="081F30"/>
          </a:solidFill>
          <a:ln/>
        </p:spPr>
      </p:sp>
      <p:sp>
        <p:nvSpPr>
          <p:cNvPr id="6" name="Shape 4"/>
          <p:cNvSpPr/>
          <p:nvPr/>
        </p:nvSpPr>
        <p:spPr>
          <a:xfrm>
            <a:off x="658368" y="1828800"/>
            <a:ext cx="1188720" cy="365760"/>
          </a:xfrm>
          <a:prstGeom prst="roundRect">
            <a:avLst>
              <a:gd name="adj" fmla="val 12500"/>
            </a:avLst>
          </a:prstGeom>
          <a:solidFill>
            <a:srgbClr val="12786B"/>
          </a:solidFill>
          <a:ln/>
        </p:spPr>
      </p:sp>
      <p:sp>
        <p:nvSpPr>
          <p:cNvPr id="7" name="Text 5"/>
          <p:cNvSpPr/>
          <p:nvPr/>
        </p:nvSpPr>
        <p:spPr>
          <a:xfrm>
            <a:off x="685800" y="1828800"/>
            <a:ext cx="1188720" cy="36576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Dashboard</a:t>
            </a:r>
            <a:endParaRPr lang="en-US" sz="800" dirty="0"/>
          </a:p>
        </p:txBody>
      </p:sp>
      <p:sp>
        <p:nvSpPr>
          <p:cNvPr id="8" name="Text 6"/>
          <p:cNvSpPr/>
          <p:nvPr/>
        </p:nvSpPr>
        <p:spPr>
          <a:xfrm>
            <a:off x="685800" y="2286000"/>
            <a:ext cx="1188720" cy="36576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Forecasting</a:t>
            </a:r>
            <a:endParaRPr lang="en-US" sz="800" dirty="0"/>
          </a:p>
        </p:txBody>
      </p:sp>
      <p:sp>
        <p:nvSpPr>
          <p:cNvPr id="9" name="Text 7"/>
          <p:cNvSpPr/>
          <p:nvPr/>
        </p:nvSpPr>
        <p:spPr>
          <a:xfrm>
            <a:off x="685800" y="2743200"/>
            <a:ext cx="1188720" cy="36576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Risk Analysis</a:t>
            </a:r>
            <a:endParaRPr lang="en-US" sz="800" dirty="0"/>
          </a:p>
        </p:txBody>
      </p:sp>
      <p:sp>
        <p:nvSpPr>
          <p:cNvPr id="10" name="Text 8"/>
          <p:cNvSpPr/>
          <p:nvPr/>
        </p:nvSpPr>
        <p:spPr>
          <a:xfrm>
            <a:off x="685800" y="3200400"/>
            <a:ext cx="1188720" cy="36576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Anomalies</a:t>
            </a:r>
            <a:endParaRPr lang="en-US" sz="800" dirty="0"/>
          </a:p>
        </p:txBody>
      </p:sp>
      <p:sp>
        <p:nvSpPr>
          <p:cNvPr id="11" name="Text 9"/>
          <p:cNvSpPr/>
          <p:nvPr/>
        </p:nvSpPr>
        <p:spPr>
          <a:xfrm>
            <a:off x="685800" y="3657600"/>
            <a:ext cx="1188720" cy="36576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Transactions</a:t>
            </a:r>
            <a:endParaRPr lang="en-US" sz="800" dirty="0"/>
          </a:p>
        </p:txBody>
      </p:sp>
      <p:sp>
        <p:nvSpPr>
          <p:cNvPr id="12" name="Text 10"/>
          <p:cNvSpPr/>
          <p:nvPr/>
        </p:nvSpPr>
        <p:spPr>
          <a:xfrm>
            <a:off x="685800" y="4114800"/>
            <a:ext cx="1188720" cy="36576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Budget</a:t>
            </a:r>
            <a:endParaRPr lang="en-US" sz="800" dirty="0"/>
          </a:p>
        </p:txBody>
      </p:sp>
      <p:sp>
        <p:nvSpPr>
          <p:cNvPr id="13" name="Text 11"/>
          <p:cNvSpPr/>
          <p:nvPr/>
        </p:nvSpPr>
        <p:spPr>
          <a:xfrm>
            <a:off x="685800" y="4572000"/>
            <a:ext cx="1188720" cy="36576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Goals</a:t>
            </a:r>
            <a:endParaRPr lang="en-US" sz="800" dirty="0"/>
          </a:p>
        </p:txBody>
      </p:sp>
      <p:sp>
        <p:nvSpPr>
          <p:cNvPr id="14" name="Shape 12"/>
          <p:cNvSpPr/>
          <p:nvPr/>
        </p:nvSpPr>
        <p:spPr>
          <a:xfrm>
            <a:off x="2148840" y="1691640"/>
            <a:ext cx="822960" cy="566928"/>
          </a:xfrm>
          <a:prstGeom prst="roundRect">
            <a:avLst>
              <a:gd name="adj" fmla="val 8065"/>
            </a:avLst>
          </a:prstGeom>
          <a:solidFill>
            <a:srgbClr val="12456B"/>
          </a:solidFill>
          <a:ln/>
        </p:spPr>
      </p:sp>
      <p:sp>
        <p:nvSpPr>
          <p:cNvPr id="15" name="Text 13"/>
          <p:cNvSpPr/>
          <p:nvPr/>
        </p:nvSpPr>
        <p:spPr>
          <a:xfrm>
            <a:off x="2194560" y="1737360"/>
            <a:ext cx="731520" cy="502920"/>
          </a:xfrm>
          <a:prstGeom prst="rect">
            <a:avLst/>
          </a:prstGeom>
          <a:noFill/>
          <a:ln/>
        </p:spPr>
        <p:txBody>
          <a:bodyPr wrap="square" lIns="0" tIns="0" rIns="0" bIns="0" rtlCol="0" anchor="ctr"/>
          <a:lstStyle/>
          <a:p>
            <a:pPr indent="0" marL="0">
              <a:buNone/>
            </a:pPr>
            <a:r>
              <a:rPr lang="en-US" sz="700" dirty="0">
                <a:solidFill>
                  <a:srgbClr val="E3A343"/>
                </a:solidFill>
                <a:latin typeface="Calibri" pitchFamily="34" charset="0"/>
                <a:ea typeface="Calibri" pitchFamily="34" charset="-122"/>
                <a:cs typeface="Calibri" pitchFamily="34" charset="-120"/>
              </a:rPr>
              <a:t>Balance</a:t>
            </a:r>
            <a:endParaRPr lang="en-US" sz="700" dirty="0"/>
          </a:p>
        </p:txBody>
      </p:sp>
      <p:sp>
        <p:nvSpPr>
          <p:cNvPr id="16" name="Shape 14"/>
          <p:cNvSpPr/>
          <p:nvPr/>
        </p:nvSpPr>
        <p:spPr>
          <a:xfrm>
            <a:off x="3063240" y="1691640"/>
            <a:ext cx="822960" cy="566928"/>
          </a:xfrm>
          <a:prstGeom prst="roundRect">
            <a:avLst>
              <a:gd name="adj" fmla="val 8065"/>
            </a:avLst>
          </a:prstGeom>
          <a:solidFill>
            <a:srgbClr val="12456B"/>
          </a:solidFill>
          <a:ln/>
        </p:spPr>
      </p:sp>
      <p:sp>
        <p:nvSpPr>
          <p:cNvPr id="17" name="Text 15"/>
          <p:cNvSpPr/>
          <p:nvPr/>
        </p:nvSpPr>
        <p:spPr>
          <a:xfrm>
            <a:off x="3108960" y="1737360"/>
            <a:ext cx="731520" cy="502920"/>
          </a:xfrm>
          <a:prstGeom prst="rect">
            <a:avLst/>
          </a:prstGeom>
          <a:noFill/>
          <a:ln/>
        </p:spPr>
        <p:txBody>
          <a:bodyPr wrap="square" lIns="0" tIns="0" rIns="0" bIns="0" rtlCol="0" anchor="ctr"/>
          <a:lstStyle/>
          <a:p>
            <a:pPr indent="0" marL="0">
              <a:buNone/>
            </a:pPr>
            <a:r>
              <a:rPr lang="en-US" sz="700" dirty="0">
                <a:solidFill>
                  <a:srgbClr val="E3A343"/>
                </a:solidFill>
                <a:latin typeface="Calibri" pitchFamily="34" charset="0"/>
                <a:ea typeface="Calibri" pitchFamily="34" charset="-122"/>
                <a:cs typeface="Calibri" pitchFamily="34" charset="-120"/>
              </a:rPr>
              <a:t>Income</a:t>
            </a:r>
            <a:endParaRPr lang="en-US" sz="700" dirty="0"/>
          </a:p>
        </p:txBody>
      </p:sp>
      <p:sp>
        <p:nvSpPr>
          <p:cNvPr id="18" name="Shape 16"/>
          <p:cNvSpPr/>
          <p:nvPr/>
        </p:nvSpPr>
        <p:spPr>
          <a:xfrm>
            <a:off x="3977640" y="1691640"/>
            <a:ext cx="822960" cy="566928"/>
          </a:xfrm>
          <a:prstGeom prst="roundRect">
            <a:avLst>
              <a:gd name="adj" fmla="val 8065"/>
            </a:avLst>
          </a:prstGeom>
          <a:solidFill>
            <a:srgbClr val="12456B"/>
          </a:solidFill>
          <a:ln/>
        </p:spPr>
      </p:sp>
      <p:sp>
        <p:nvSpPr>
          <p:cNvPr id="19" name="Text 17"/>
          <p:cNvSpPr/>
          <p:nvPr/>
        </p:nvSpPr>
        <p:spPr>
          <a:xfrm>
            <a:off x="4023360" y="1737360"/>
            <a:ext cx="731520" cy="502920"/>
          </a:xfrm>
          <a:prstGeom prst="rect">
            <a:avLst/>
          </a:prstGeom>
          <a:noFill/>
          <a:ln/>
        </p:spPr>
        <p:txBody>
          <a:bodyPr wrap="square" lIns="0" tIns="0" rIns="0" bIns="0" rtlCol="0" anchor="ctr"/>
          <a:lstStyle/>
          <a:p>
            <a:pPr indent="0" marL="0">
              <a:buNone/>
            </a:pPr>
            <a:r>
              <a:rPr lang="en-US" sz="700" dirty="0">
                <a:solidFill>
                  <a:srgbClr val="E3A343"/>
                </a:solidFill>
                <a:latin typeface="Calibri" pitchFamily="34" charset="0"/>
                <a:ea typeface="Calibri" pitchFamily="34" charset="-122"/>
                <a:cs typeface="Calibri" pitchFamily="34" charset="-120"/>
              </a:rPr>
              <a:t>Spend</a:t>
            </a:r>
            <a:endParaRPr lang="en-US" sz="700" dirty="0"/>
          </a:p>
        </p:txBody>
      </p:sp>
      <p:sp>
        <p:nvSpPr>
          <p:cNvPr id="20" name="Shape 18"/>
          <p:cNvSpPr/>
          <p:nvPr/>
        </p:nvSpPr>
        <p:spPr>
          <a:xfrm>
            <a:off x="4892040" y="1691640"/>
            <a:ext cx="822960" cy="566928"/>
          </a:xfrm>
          <a:prstGeom prst="roundRect">
            <a:avLst>
              <a:gd name="adj" fmla="val 8065"/>
            </a:avLst>
          </a:prstGeom>
          <a:solidFill>
            <a:srgbClr val="12456B"/>
          </a:solidFill>
          <a:ln/>
        </p:spPr>
      </p:sp>
      <p:sp>
        <p:nvSpPr>
          <p:cNvPr id="21" name="Text 19"/>
          <p:cNvSpPr/>
          <p:nvPr/>
        </p:nvSpPr>
        <p:spPr>
          <a:xfrm>
            <a:off x="4937760" y="1737360"/>
            <a:ext cx="731520" cy="502920"/>
          </a:xfrm>
          <a:prstGeom prst="rect">
            <a:avLst/>
          </a:prstGeom>
          <a:noFill/>
          <a:ln/>
        </p:spPr>
        <p:txBody>
          <a:bodyPr wrap="square" lIns="0" tIns="0" rIns="0" bIns="0" rtlCol="0" anchor="ctr"/>
          <a:lstStyle/>
          <a:p>
            <a:pPr indent="0" marL="0">
              <a:buNone/>
            </a:pPr>
            <a:r>
              <a:rPr lang="en-US" sz="700" dirty="0">
                <a:solidFill>
                  <a:srgbClr val="E3A343"/>
                </a:solidFill>
                <a:latin typeface="Calibri" pitchFamily="34" charset="0"/>
                <a:ea typeface="Calibri" pitchFamily="34" charset="-122"/>
                <a:cs typeface="Calibri" pitchFamily="34" charset="-120"/>
              </a:rPr>
              <a:t>Savings</a:t>
            </a:r>
            <a:endParaRPr lang="en-US" sz="700" dirty="0"/>
          </a:p>
        </p:txBody>
      </p:sp>
      <p:sp>
        <p:nvSpPr>
          <p:cNvPr id="22" name="Shape 20"/>
          <p:cNvSpPr/>
          <p:nvPr/>
        </p:nvSpPr>
        <p:spPr>
          <a:xfrm>
            <a:off x="2148840" y="2377440"/>
            <a:ext cx="3794760" cy="1600200"/>
          </a:xfrm>
          <a:prstGeom prst="roundRect">
            <a:avLst>
              <a:gd name="adj" fmla="val 2857"/>
            </a:avLst>
          </a:prstGeom>
          <a:solidFill>
            <a:srgbClr val="12456B"/>
          </a:solidFill>
          <a:ln/>
        </p:spPr>
      </p:sp>
      <p:sp>
        <p:nvSpPr>
          <p:cNvPr id="23" name="Text 21"/>
          <p:cNvSpPr/>
          <p:nvPr/>
        </p:nvSpPr>
        <p:spPr>
          <a:xfrm>
            <a:off x="2286000" y="2450592"/>
            <a:ext cx="1828800" cy="274320"/>
          </a:xfrm>
          <a:prstGeom prst="rect">
            <a:avLst/>
          </a:prstGeom>
          <a:noFill/>
          <a:ln/>
        </p:spPr>
        <p:txBody>
          <a:bodyPr wrap="square" lIns="0" tIns="0" rIns="0" bIns="0" rtlCol="0" anchor="ctr"/>
          <a:lstStyle/>
          <a:p>
            <a:pPr indent="0" marL="0">
              <a:buNone/>
            </a:pPr>
            <a:r>
              <a:rPr lang="en-US" sz="800" dirty="0">
                <a:solidFill>
                  <a:srgbClr val="9FB4C0"/>
                </a:solidFill>
                <a:latin typeface="Calibri" pitchFamily="34" charset="0"/>
                <a:ea typeface="Calibri" pitchFamily="34" charset="-122"/>
                <a:cs typeface="Calibri" pitchFamily="34" charset="-120"/>
              </a:rPr>
              <a:t>Forecast Chart</a:t>
            </a:r>
            <a:endParaRPr lang="en-US" sz="800" dirty="0"/>
          </a:p>
        </p:txBody>
      </p:sp>
      <p:sp>
        <p:nvSpPr>
          <p:cNvPr id="24" name="Shape 22"/>
          <p:cNvSpPr/>
          <p:nvPr/>
        </p:nvSpPr>
        <p:spPr>
          <a:xfrm flipV="1">
            <a:off x="2286000" y="3566160"/>
            <a:ext cx="320040" cy="182880"/>
          </a:xfrm>
          <a:prstGeom prst="line">
            <a:avLst/>
          </a:prstGeom>
          <a:noFill/>
          <a:ln w="22225">
            <a:solidFill>
              <a:srgbClr val="E3A343"/>
            </a:solidFill>
            <a:prstDash val="solid"/>
          </a:ln>
        </p:spPr>
      </p:sp>
      <p:sp>
        <p:nvSpPr>
          <p:cNvPr id="25" name="Shape 23"/>
          <p:cNvSpPr/>
          <p:nvPr/>
        </p:nvSpPr>
        <p:spPr>
          <a:xfrm>
            <a:off x="2606040" y="3566160"/>
            <a:ext cx="320040" cy="91440"/>
          </a:xfrm>
          <a:prstGeom prst="line">
            <a:avLst/>
          </a:prstGeom>
          <a:noFill/>
          <a:ln w="22225">
            <a:solidFill>
              <a:srgbClr val="E3A343"/>
            </a:solidFill>
            <a:prstDash val="solid"/>
          </a:ln>
        </p:spPr>
      </p:sp>
      <p:sp>
        <p:nvSpPr>
          <p:cNvPr id="26" name="Shape 24"/>
          <p:cNvSpPr/>
          <p:nvPr/>
        </p:nvSpPr>
        <p:spPr>
          <a:xfrm flipV="1">
            <a:off x="2926080" y="3291840"/>
            <a:ext cx="320040" cy="365760"/>
          </a:xfrm>
          <a:prstGeom prst="line">
            <a:avLst/>
          </a:prstGeom>
          <a:noFill/>
          <a:ln w="22225">
            <a:solidFill>
              <a:srgbClr val="E3A343"/>
            </a:solidFill>
            <a:prstDash val="solid"/>
          </a:ln>
        </p:spPr>
      </p:sp>
      <p:sp>
        <p:nvSpPr>
          <p:cNvPr id="27" name="Shape 25"/>
          <p:cNvSpPr/>
          <p:nvPr/>
        </p:nvSpPr>
        <p:spPr>
          <a:xfrm>
            <a:off x="3246120" y="3291840"/>
            <a:ext cx="320040" cy="137160"/>
          </a:xfrm>
          <a:prstGeom prst="line">
            <a:avLst/>
          </a:prstGeom>
          <a:noFill/>
          <a:ln w="22225">
            <a:solidFill>
              <a:srgbClr val="E3A343"/>
            </a:solidFill>
            <a:prstDash val="solid"/>
          </a:ln>
        </p:spPr>
      </p:sp>
      <p:sp>
        <p:nvSpPr>
          <p:cNvPr id="28" name="Shape 26"/>
          <p:cNvSpPr/>
          <p:nvPr/>
        </p:nvSpPr>
        <p:spPr>
          <a:xfrm flipV="1">
            <a:off x="3566160" y="3017520"/>
            <a:ext cx="320040" cy="411480"/>
          </a:xfrm>
          <a:prstGeom prst="line">
            <a:avLst/>
          </a:prstGeom>
          <a:noFill/>
          <a:ln w="22225">
            <a:solidFill>
              <a:srgbClr val="E3A343"/>
            </a:solidFill>
            <a:prstDash val="solid"/>
          </a:ln>
        </p:spPr>
      </p:sp>
      <p:sp>
        <p:nvSpPr>
          <p:cNvPr id="29" name="Shape 27"/>
          <p:cNvSpPr/>
          <p:nvPr/>
        </p:nvSpPr>
        <p:spPr>
          <a:xfrm>
            <a:off x="3886200" y="3017520"/>
            <a:ext cx="320040" cy="182880"/>
          </a:xfrm>
          <a:prstGeom prst="line">
            <a:avLst/>
          </a:prstGeom>
          <a:noFill/>
          <a:ln w="22225">
            <a:solidFill>
              <a:srgbClr val="E3A343"/>
            </a:solidFill>
            <a:prstDash val="solid"/>
          </a:ln>
        </p:spPr>
      </p:sp>
      <p:sp>
        <p:nvSpPr>
          <p:cNvPr id="30" name="Shape 28"/>
          <p:cNvSpPr/>
          <p:nvPr/>
        </p:nvSpPr>
        <p:spPr>
          <a:xfrm flipV="1">
            <a:off x="4206240" y="2788920"/>
            <a:ext cx="320040" cy="411480"/>
          </a:xfrm>
          <a:prstGeom prst="line">
            <a:avLst/>
          </a:prstGeom>
          <a:noFill/>
          <a:ln w="22225">
            <a:solidFill>
              <a:srgbClr val="E3A343"/>
            </a:solidFill>
            <a:prstDash val="solid"/>
          </a:ln>
        </p:spPr>
      </p:sp>
      <p:sp>
        <p:nvSpPr>
          <p:cNvPr id="31" name="Shape 29"/>
          <p:cNvSpPr/>
          <p:nvPr/>
        </p:nvSpPr>
        <p:spPr>
          <a:xfrm>
            <a:off x="4526280" y="2788920"/>
            <a:ext cx="320040" cy="182880"/>
          </a:xfrm>
          <a:prstGeom prst="line">
            <a:avLst/>
          </a:prstGeom>
          <a:noFill/>
          <a:ln w="22225">
            <a:solidFill>
              <a:srgbClr val="E3A343"/>
            </a:solidFill>
            <a:prstDash val="solid"/>
          </a:ln>
        </p:spPr>
      </p:sp>
      <p:sp>
        <p:nvSpPr>
          <p:cNvPr id="32" name="Shape 30"/>
          <p:cNvSpPr/>
          <p:nvPr/>
        </p:nvSpPr>
        <p:spPr>
          <a:xfrm flipV="1">
            <a:off x="4846320" y="2651760"/>
            <a:ext cx="320040" cy="320040"/>
          </a:xfrm>
          <a:prstGeom prst="line">
            <a:avLst/>
          </a:prstGeom>
          <a:noFill/>
          <a:ln w="22225">
            <a:solidFill>
              <a:srgbClr val="E3A343"/>
            </a:solidFill>
            <a:prstDash val="solid"/>
          </a:ln>
        </p:spPr>
      </p:sp>
      <p:sp>
        <p:nvSpPr>
          <p:cNvPr id="33" name="Shape 31"/>
          <p:cNvSpPr/>
          <p:nvPr/>
        </p:nvSpPr>
        <p:spPr>
          <a:xfrm>
            <a:off x="5166360" y="2651760"/>
            <a:ext cx="320040" cy="137160"/>
          </a:xfrm>
          <a:prstGeom prst="line">
            <a:avLst/>
          </a:prstGeom>
          <a:noFill/>
          <a:ln w="22225">
            <a:solidFill>
              <a:srgbClr val="E3A343"/>
            </a:solidFill>
            <a:prstDash val="solid"/>
          </a:ln>
        </p:spPr>
      </p:sp>
      <p:sp>
        <p:nvSpPr>
          <p:cNvPr id="34" name="Shape 32"/>
          <p:cNvSpPr/>
          <p:nvPr/>
        </p:nvSpPr>
        <p:spPr>
          <a:xfrm flipV="1">
            <a:off x="5486400" y="2514600"/>
            <a:ext cx="274320" cy="274320"/>
          </a:xfrm>
          <a:prstGeom prst="line">
            <a:avLst/>
          </a:prstGeom>
          <a:noFill/>
          <a:ln w="22225">
            <a:solidFill>
              <a:srgbClr val="E3A343"/>
            </a:solidFill>
            <a:prstDash val="solid"/>
          </a:ln>
        </p:spPr>
      </p:sp>
      <p:sp>
        <p:nvSpPr>
          <p:cNvPr id="35" name="Shape 33"/>
          <p:cNvSpPr/>
          <p:nvPr/>
        </p:nvSpPr>
        <p:spPr>
          <a:xfrm>
            <a:off x="2148840" y="4114800"/>
            <a:ext cx="1828800" cy="1463040"/>
          </a:xfrm>
          <a:prstGeom prst="roundRect">
            <a:avLst>
              <a:gd name="adj" fmla="val 3125"/>
            </a:avLst>
          </a:prstGeom>
          <a:solidFill>
            <a:srgbClr val="12456B"/>
          </a:solidFill>
          <a:ln/>
        </p:spPr>
      </p:sp>
      <p:sp>
        <p:nvSpPr>
          <p:cNvPr id="36" name="Text 34"/>
          <p:cNvSpPr/>
          <p:nvPr/>
        </p:nvSpPr>
        <p:spPr>
          <a:xfrm>
            <a:off x="2148840" y="4114800"/>
            <a:ext cx="1828800" cy="1463040"/>
          </a:xfrm>
          <a:prstGeom prst="rect">
            <a:avLst/>
          </a:prstGeom>
          <a:noFill/>
          <a:ln/>
        </p:spPr>
        <p:txBody>
          <a:bodyPr wrap="square" lIns="0" tIns="0" rIns="0" bIns="0" rtlCol="0" anchor="ctr"/>
          <a:lstStyle/>
          <a:p>
            <a:pPr algn="ctr" indent="0" marL="0">
              <a:buNone/>
            </a:pPr>
            <a:r>
              <a:rPr lang="en-US" sz="1500" b="1" dirty="0">
                <a:solidFill>
                  <a:srgbClr val="E3A343"/>
                </a:solidFill>
                <a:latin typeface="Cambria" pitchFamily="34" charset="0"/>
                <a:ea typeface="Cambria" pitchFamily="34" charset="-122"/>
                <a:cs typeface="Cambria" pitchFamily="34" charset="-120"/>
              </a:rPr>
              <a:t>Risk Score</a:t>
            </a:r>
            <a:endParaRPr lang="en-US" sz="1500" dirty="0"/>
          </a:p>
          <a:p>
            <a:pPr algn="ctr" indent="0" marL="0">
              <a:buNone/>
            </a:pPr>
            <a:r>
              <a:rPr lang="en-US" sz="1500" b="1" dirty="0">
                <a:solidFill>
                  <a:srgbClr val="E3A343"/>
                </a:solidFill>
                <a:latin typeface="Cambria" pitchFamily="34" charset="0"/>
                <a:ea typeface="Cambria" pitchFamily="34" charset="-122"/>
                <a:cs typeface="Cambria" pitchFamily="34" charset="-120"/>
              </a:rPr>
              <a:t>73%</a:t>
            </a:r>
            <a:endParaRPr lang="en-US" sz="1500" dirty="0"/>
          </a:p>
        </p:txBody>
      </p:sp>
      <p:sp>
        <p:nvSpPr>
          <p:cNvPr id="37" name="Shape 35"/>
          <p:cNvSpPr/>
          <p:nvPr/>
        </p:nvSpPr>
        <p:spPr>
          <a:xfrm>
            <a:off x="4114800" y="4114800"/>
            <a:ext cx="1828800" cy="1463040"/>
          </a:xfrm>
          <a:prstGeom prst="roundRect">
            <a:avLst>
              <a:gd name="adj" fmla="val 3125"/>
            </a:avLst>
          </a:prstGeom>
          <a:solidFill>
            <a:srgbClr val="12456B"/>
          </a:solidFill>
          <a:ln/>
        </p:spPr>
      </p:sp>
      <p:sp>
        <p:nvSpPr>
          <p:cNvPr id="38" name="Text 36"/>
          <p:cNvSpPr/>
          <p:nvPr/>
        </p:nvSpPr>
        <p:spPr>
          <a:xfrm>
            <a:off x="4114800" y="4114800"/>
            <a:ext cx="1828800" cy="1463040"/>
          </a:xfrm>
          <a:prstGeom prst="rect">
            <a:avLst/>
          </a:prstGeom>
          <a:noFill/>
          <a:ln/>
        </p:spPr>
        <p:txBody>
          <a:bodyPr wrap="square" lIns="0" tIns="0" rIns="0" bIns="0" rtlCol="0" anchor="ctr"/>
          <a:lstStyle/>
          <a:p>
            <a:pPr algn="ctr" indent="0" marL="0">
              <a:buNone/>
            </a:pPr>
            <a:r>
              <a:rPr lang="en-US" sz="1500" b="1" dirty="0">
                <a:solidFill>
                  <a:srgbClr val="5FA79A"/>
                </a:solidFill>
                <a:latin typeface="Cambria" pitchFamily="34" charset="0"/>
                <a:ea typeface="Cambria" pitchFamily="34" charset="-122"/>
                <a:cs typeface="Cambria" pitchFamily="34" charset="-120"/>
              </a:rPr>
              <a:t>Anomaly</a:t>
            </a:r>
            <a:endParaRPr lang="en-US" sz="1500" dirty="0"/>
          </a:p>
          <a:p>
            <a:pPr algn="ctr" indent="0" marL="0">
              <a:buNone/>
            </a:pPr>
            <a:r>
              <a:rPr lang="en-US" sz="1500" b="1" dirty="0">
                <a:solidFill>
                  <a:srgbClr val="5FA79A"/>
                </a:solidFill>
                <a:latin typeface="Cambria" pitchFamily="34" charset="0"/>
                <a:ea typeface="Cambria" pitchFamily="34" charset="-122"/>
                <a:cs typeface="Cambria" pitchFamily="34" charset="-120"/>
              </a:rPr>
              <a:t>Flags: 3</a:t>
            </a:r>
            <a:endParaRPr lang="en-US" sz="1500" dirty="0"/>
          </a:p>
        </p:txBody>
      </p:sp>
      <p:sp>
        <p:nvSpPr>
          <p:cNvPr id="39" name="Text 37"/>
          <p:cNvSpPr/>
          <p:nvPr/>
        </p:nvSpPr>
        <p:spPr>
          <a:xfrm>
            <a:off x="548640" y="5870448"/>
            <a:ext cx="5486400" cy="274320"/>
          </a:xfrm>
          <a:prstGeom prst="rect">
            <a:avLst/>
          </a:prstGeom>
          <a:noFill/>
          <a:ln/>
        </p:spPr>
        <p:txBody>
          <a:bodyPr wrap="square" lIns="0" tIns="0" rIns="0" bIns="0" rtlCol="0" anchor="ctr"/>
          <a:lstStyle/>
          <a:p>
            <a:pPr indent="0" marL="0">
              <a:buNone/>
            </a:pPr>
            <a:r>
              <a:rPr lang="en-US" sz="950" i="1" dirty="0">
                <a:solidFill>
                  <a:srgbClr val="5B6B76"/>
                </a:solidFill>
                <a:latin typeface="Calibri" pitchFamily="34" charset="0"/>
                <a:ea typeface="Calibri" pitchFamily="34" charset="-122"/>
                <a:cs typeface="Calibri" pitchFamily="34" charset="-120"/>
              </a:rPr>
              <a:t>Illustrative wireframe — 7-page dashboard (Chart.js)</a:t>
            </a:r>
            <a:endParaRPr lang="en-US" sz="950" dirty="0"/>
          </a:p>
        </p:txBody>
      </p:sp>
      <p:sp>
        <p:nvSpPr>
          <p:cNvPr id="40" name="Text 38"/>
          <p:cNvSpPr/>
          <p:nvPr/>
        </p:nvSpPr>
        <p:spPr>
          <a:xfrm>
            <a:off x="6400800" y="1508760"/>
            <a:ext cx="5212080" cy="320040"/>
          </a:xfrm>
          <a:prstGeom prst="rect">
            <a:avLst/>
          </a:prstGeom>
          <a:noFill/>
          <a:ln/>
        </p:spPr>
        <p:txBody>
          <a:bodyPr wrap="square" lIns="0" tIns="0" rIns="0" bIns="0" rtlCol="0" anchor="ctr"/>
          <a:lstStyle/>
          <a:p>
            <a:pPr indent="0" marL="0">
              <a:buNone/>
            </a:pPr>
            <a:r>
              <a:rPr lang="en-US" sz="1400" b="1" dirty="0">
                <a:solidFill>
                  <a:srgbClr val="0B3350"/>
                </a:solidFill>
                <a:latin typeface="Calibri" pitchFamily="34" charset="0"/>
                <a:ea typeface="Calibri" pitchFamily="34" charset="-122"/>
                <a:cs typeface="Calibri" pitchFamily="34" charset="-120"/>
              </a:rPr>
              <a:t>Onboarding &amp; Decision Flow</a:t>
            </a:r>
            <a:endParaRPr lang="en-US" sz="1400" dirty="0"/>
          </a:p>
        </p:txBody>
      </p:sp>
      <p:sp>
        <p:nvSpPr>
          <p:cNvPr id="41" name="Shape 39"/>
          <p:cNvSpPr/>
          <p:nvPr/>
        </p:nvSpPr>
        <p:spPr>
          <a:xfrm>
            <a:off x="6400800" y="1965960"/>
            <a:ext cx="384048" cy="384048"/>
          </a:xfrm>
          <a:prstGeom prst="ellipse">
            <a:avLst/>
          </a:prstGeom>
          <a:solidFill>
            <a:srgbClr val="E3A343"/>
          </a:solidFill>
          <a:ln/>
        </p:spPr>
      </p:sp>
      <p:sp>
        <p:nvSpPr>
          <p:cNvPr id="42" name="Text 40"/>
          <p:cNvSpPr/>
          <p:nvPr/>
        </p:nvSpPr>
        <p:spPr>
          <a:xfrm>
            <a:off x="6400800" y="1965960"/>
            <a:ext cx="384048" cy="384048"/>
          </a:xfrm>
          <a:prstGeom prst="rect">
            <a:avLst/>
          </a:prstGeom>
          <a:noFill/>
          <a:ln/>
        </p:spPr>
        <p:txBody>
          <a:bodyPr wrap="square" lIns="0" tIns="0" rIns="0" bIns="0" rtlCol="0" anchor="ctr"/>
          <a:lstStyle/>
          <a:p>
            <a:pPr algn="ctr" indent="0" marL="0">
              <a:buNone/>
            </a:pPr>
            <a:r>
              <a:rPr lang="en-US" sz="1200" b="1" dirty="0">
                <a:solidFill>
                  <a:srgbClr val="0B3350"/>
                </a:solidFill>
                <a:latin typeface="Calibri" pitchFamily="34" charset="0"/>
                <a:ea typeface="Calibri" pitchFamily="34" charset="-122"/>
                <a:cs typeface="Calibri" pitchFamily="34" charset="-120"/>
              </a:rPr>
              <a:t>1</a:t>
            </a:r>
            <a:endParaRPr lang="en-US" sz="1200" dirty="0"/>
          </a:p>
        </p:txBody>
      </p:sp>
      <p:sp>
        <p:nvSpPr>
          <p:cNvPr id="43" name="Text 41"/>
          <p:cNvSpPr/>
          <p:nvPr/>
        </p:nvSpPr>
        <p:spPr>
          <a:xfrm>
            <a:off x="6903720" y="1947672"/>
            <a:ext cx="4709160" cy="502920"/>
          </a:xfrm>
          <a:prstGeom prst="rect">
            <a:avLst/>
          </a:prstGeom>
          <a:noFill/>
          <a:ln/>
        </p:spPr>
        <p:txBody>
          <a:bodyPr wrap="square" lIns="0" tIns="0" rIns="0" bIns="0" rtlCol="0" anchor="ctr"/>
          <a:lstStyle/>
          <a:p>
            <a:pPr indent="0" marL="0">
              <a:lnSpc>
                <a:spcPct val="110000"/>
              </a:lnSpc>
              <a:buNone/>
            </a:pPr>
            <a:r>
              <a:rPr lang="en-US" sz="1150" dirty="0">
                <a:solidFill>
                  <a:srgbClr val="1C2B36"/>
                </a:solidFill>
                <a:latin typeface="Calibri" pitchFamily="34" charset="0"/>
                <a:ea typeface="Calibri" pitchFamily="34" charset="-122"/>
                <a:cs typeface="Calibri" pitchFamily="34" charset="-120"/>
              </a:rPr>
              <a:t>Connect data — CSV upload or Open Banking OAuth</a:t>
            </a:r>
            <a:endParaRPr lang="en-US" sz="1150" dirty="0"/>
          </a:p>
        </p:txBody>
      </p:sp>
      <p:sp>
        <p:nvSpPr>
          <p:cNvPr id="44" name="Shape 42"/>
          <p:cNvSpPr/>
          <p:nvPr/>
        </p:nvSpPr>
        <p:spPr>
          <a:xfrm>
            <a:off x="6583680" y="2350008"/>
            <a:ext cx="0" cy="365760"/>
          </a:xfrm>
          <a:prstGeom prst="line">
            <a:avLst/>
          </a:prstGeom>
          <a:noFill/>
          <a:ln w="15875">
            <a:solidFill>
              <a:srgbClr val="C7D2D8"/>
            </a:solidFill>
            <a:prstDash val="dash"/>
          </a:ln>
        </p:spPr>
      </p:sp>
      <p:sp>
        <p:nvSpPr>
          <p:cNvPr id="45" name="Shape 43"/>
          <p:cNvSpPr/>
          <p:nvPr/>
        </p:nvSpPr>
        <p:spPr>
          <a:xfrm>
            <a:off x="6400800" y="2752344"/>
            <a:ext cx="384048" cy="384048"/>
          </a:xfrm>
          <a:prstGeom prst="ellipse">
            <a:avLst/>
          </a:prstGeom>
          <a:solidFill>
            <a:srgbClr val="E3A343"/>
          </a:solidFill>
          <a:ln/>
        </p:spPr>
      </p:sp>
      <p:sp>
        <p:nvSpPr>
          <p:cNvPr id="46" name="Text 44"/>
          <p:cNvSpPr/>
          <p:nvPr/>
        </p:nvSpPr>
        <p:spPr>
          <a:xfrm>
            <a:off x="6400800" y="2752344"/>
            <a:ext cx="384048" cy="384048"/>
          </a:xfrm>
          <a:prstGeom prst="rect">
            <a:avLst/>
          </a:prstGeom>
          <a:noFill/>
          <a:ln/>
        </p:spPr>
        <p:txBody>
          <a:bodyPr wrap="square" lIns="0" tIns="0" rIns="0" bIns="0" rtlCol="0" anchor="ctr"/>
          <a:lstStyle/>
          <a:p>
            <a:pPr algn="ctr" indent="0" marL="0">
              <a:buNone/>
            </a:pPr>
            <a:r>
              <a:rPr lang="en-US" sz="1200" b="1" dirty="0">
                <a:solidFill>
                  <a:srgbClr val="0B3350"/>
                </a:solidFill>
                <a:latin typeface="Calibri" pitchFamily="34" charset="0"/>
                <a:ea typeface="Calibri" pitchFamily="34" charset="-122"/>
                <a:cs typeface="Calibri" pitchFamily="34" charset="-120"/>
              </a:rPr>
              <a:t>2</a:t>
            </a:r>
            <a:endParaRPr lang="en-US" sz="1200" dirty="0"/>
          </a:p>
        </p:txBody>
      </p:sp>
      <p:sp>
        <p:nvSpPr>
          <p:cNvPr id="47" name="Text 45"/>
          <p:cNvSpPr/>
          <p:nvPr/>
        </p:nvSpPr>
        <p:spPr>
          <a:xfrm>
            <a:off x="6903720" y="2734056"/>
            <a:ext cx="4709160" cy="502920"/>
          </a:xfrm>
          <a:prstGeom prst="rect">
            <a:avLst/>
          </a:prstGeom>
          <a:noFill/>
          <a:ln/>
        </p:spPr>
        <p:txBody>
          <a:bodyPr wrap="square" lIns="0" tIns="0" rIns="0" bIns="0" rtlCol="0" anchor="ctr"/>
          <a:lstStyle/>
          <a:p>
            <a:pPr indent="0" marL="0">
              <a:lnSpc>
                <a:spcPct val="110000"/>
              </a:lnSpc>
              <a:buNone/>
            </a:pPr>
            <a:r>
              <a:rPr lang="en-US" sz="1150" dirty="0">
                <a:solidFill>
                  <a:srgbClr val="1C2B36"/>
                </a:solidFill>
                <a:latin typeface="Calibri" pitchFamily="34" charset="0"/>
                <a:ea typeface="Calibri" pitchFamily="34" charset="-122"/>
                <a:cs typeface="Calibri" pitchFamily="34" charset="-120"/>
              </a:rPr>
              <a:t>Review NLP auto-categorization of transactions</a:t>
            </a:r>
            <a:endParaRPr lang="en-US" sz="1150" dirty="0"/>
          </a:p>
        </p:txBody>
      </p:sp>
      <p:sp>
        <p:nvSpPr>
          <p:cNvPr id="48" name="Shape 46"/>
          <p:cNvSpPr/>
          <p:nvPr/>
        </p:nvSpPr>
        <p:spPr>
          <a:xfrm>
            <a:off x="6583680" y="3136392"/>
            <a:ext cx="0" cy="365760"/>
          </a:xfrm>
          <a:prstGeom prst="line">
            <a:avLst/>
          </a:prstGeom>
          <a:noFill/>
          <a:ln w="15875">
            <a:solidFill>
              <a:srgbClr val="C7D2D8"/>
            </a:solidFill>
            <a:prstDash val="dash"/>
          </a:ln>
        </p:spPr>
      </p:sp>
      <p:sp>
        <p:nvSpPr>
          <p:cNvPr id="49" name="Shape 47"/>
          <p:cNvSpPr/>
          <p:nvPr/>
        </p:nvSpPr>
        <p:spPr>
          <a:xfrm>
            <a:off x="6400800" y="3538728"/>
            <a:ext cx="384048" cy="384048"/>
          </a:xfrm>
          <a:prstGeom prst="ellipse">
            <a:avLst/>
          </a:prstGeom>
          <a:solidFill>
            <a:srgbClr val="E3A343"/>
          </a:solidFill>
          <a:ln/>
        </p:spPr>
      </p:sp>
      <p:sp>
        <p:nvSpPr>
          <p:cNvPr id="50" name="Text 48"/>
          <p:cNvSpPr/>
          <p:nvPr/>
        </p:nvSpPr>
        <p:spPr>
          <a:xfrm>
            <a:off x="6400800" y="3538728"/>
            <a:ext cx="384048" cy="384048"/>
          </a:xfrm>
          <a:prstGeom prst="rect">
            <a:avLst/>
          </a:prstGeom>
          <a:noFill/>
          <a:ln/>
        </p:spPr>
        <p:txBody>
          <a:bodyPr wrap="square" lIns="0" tIns="0" rIns="0" bIns="0" rtlCol="0" anchor="ctr"/>
          <a:lstStyle/>
          <a:p>
            <a:pPr algn="ctr" indent="0" marL="0">
              <a:buNone/>
            </a:pPr>
            <a:r>
              <a:rPr lang="en-US" sz="1200" b="1" dirty="0">
                <a:solidFill>
                  <a:srgbClr val="0B3350"/>
                </a:solidFill>
                <a:latin typeface="Calibri" pitchFamily="34" charset="0"/>
                <a:ea typeface="Calibri" pitchFamily="34" charset="-122"/>
                <a:cs typeface="Calibri" pitchFamily="34" charset="-120"/>
              </a:rPr>
              <a:t>3</a:t>
            </a:r>
            <a:endParaRPr lang="en-US" sz="1200" dirty="0"/>
          </a:p>
        </p:txBody>
      </p:sp>
      <p:sp>
        <p:nvSpPr>
          <p:cNvPr id="51" name="Text 49"/>
          <p:cNvSpPr/>
          <p:nvPr/>
        </p:nvSpPr>
        <p:spPr>
          <a:xfrm>
            <a:off x="6903720" y="3520440"/>
            <a:ext cx="4709160" cy="502920"/>
          </a:xfrm>
          <a:prstGeom prst="rect">
            <a:avLst/>
          </a:prstGeom>
          <a:noFill/>
          <a:ln/>
        </p:spPr>
        <p:txBody>
          <a:bodyPr wrap="square" lIns="0" tIns="0" rIns="0" bIns="0" rtlCol="0" anchor="ctr"/>
          <a:lstStyle/>
          <a:p>
            <a:pPr indent="0" marL="0">
              <a:lnSpc>
                <a:spcPct val="110000"/>
              </a:lnSpc>
              <a:buNone/>
            </a:pPr>
            <a:r>
              <a:rPr lang="en-US" sz="1150" dirty="0">
                <a:solidFill>
                  <a:srgbClr val="1C2B36"/>
                </a:solidFill>
                <a:latin typeface="Calibri" pitchFamily="34" charset="0"/>
                <a:ea typeface="Calibri" pitchFamily="34" charset="-122"/>
                <a:cs typeface="Calibri" pitchFamily="34" charset="-120"/>
              </a:rPr>
              <a:t>Set savings goal &amp; monthly income target</a:t>
            </a:r>
            <a:endParaRPr lang="en-US" sz="1150" dirty="0"/>
          </a:p>
        </p:txBody>
      </p:sp>
      <p:sp>
        <p:nvSpPr>
          <p:cNvPr id="52" name="Shape 50"/>
          <p:cNvSpPr/>
          <p:nvPr/>
        </p:nvSpPr>
        <p:spPr>
          <a:xfrm>
            <a:off x="6583680" y="3922776"/>
            <a:ext cx="0" cy="365760"/>
          </a:xfrm>
          <a:prstGeom prst="line">
            <a:avLst/>
          </a:prstGeom>
          <a:noFill/>
          <a:ln w="15875">
            <a:solidFill>
              <a:srgbClr val="C7D2D8"/>
            </a:solidFill>
            <a:prstDash val="dash"/>
          </a:ln>
        </p:spPr>
      </p:sp>
      <p:sp>
        <p:nvSpPr>
          <p:cNvPr id="53" name="Shape 51"/>
          <p:cNvSpPr/>
          <p:nvPr/>
        </p:nvSpPr>
        <p:spPr>
          <a:xfrm>
            <a:off x="6400800" y="4325112"/>
            <a:ext cx="384048" cy="384048"/>
          </a:xfrm>
          <a:prstGeom prst="ellipse">
            <a:avLst/>
          </a:prstGeom>
          <a:solidFill>
            <a:srgbClr val="E3A343"/>
          </a:solidFill>
          <a:ln/>
        </p:spPr>
      </p:sp>
      <p:sp>
        <p:nvSpPr>
          <p:cNvPr id="54" name="Text 52"/>
          <p:cNvSpPr/>
          <p:nvPr/>
        </p:nvSpPr>
        <p:spPr>
          <a:xfrm>
            <a:off x="6400800" y="4325112"/>
            <a:ext cx="384048" cy="384048"/>
          </a:xfrm>
          <a:prstGeom prst="rect">
            <a:avLst/>
          </a:prstGeom>
          <a:noFill/>
          <a:ln/>
        </p:spPr>
        <p:txBody>
          <a:bodyPr wrap="square" lIns="0" tIns="0" rIns="0" bIns="0" rtlCol="0" anchor="ctr"/>
          <a:lstStyle/>
          <a:p>
            <a:pPr algn="ctr" indent="0" marL="0">
              <a:buNone/>
            </a:pPr>
            <a:r>
              <a:rPr lang="en-US" sz="1200" b="1" dirty="0">
                <a:solidFill>
                  <a:srgbClr val="0B3350"/>
                </a:solidFill>
                <a:latin typeface="Calibri" pitchFamily="34" charset="0"/>
                <a:ea typeface="Calibri" pitchFamily="34" charset="-122"/>
                <a:cs typeface="Calibri" pitchFamily="34" charset="-120"/>
              </a:rPr>
              <a:t>4</a:t>
            </a:r>
            <a:endParaRPr lang="en-US" sz="1200" dirty="0"/>
          </a:p>
        </p:txBody>
      </p:sp>
      <p:sp>
        <p:nvSpPr>
          <p:cNvPr id="55" name="Text 53"/>
          <p:cNvSpPr/>
          <p:nvPr/>
        </p:nvSpPr>
        <p:spPr>
          <a:xfrm>
            <a:off x="6903720" y="4306824"/>
            <a:ext cx="4709160" cy="502920"/>
          </a:xfrm>
          <a:prstGeom prst="rect">
            <a:avLst/>
          </a:prstGeom>
          <a:noFill/>
          <a:ln/>
        </p:spPr>
        <p:txBody>
          <a:bodyPr wrap="square" lIns="0" tIns="0" rIns="0" bIns="0" rtlCol="0" anchor="ctr"/>
          <a:lstStyle/>
          <a:p>
            <a:pPr indent="0" marL="0">
              <a:lnSpc>
                <a:spcPct val="110000"/>
              </a:lnSpc>
              <a:buNone/>
            </a:pPr>
            <a:r>
              <a:rPr lang="en-US" sz="1150" dirty="0">
                <a:solidFill>
                  <a:srgbClr val="1C2B36"/>
                </a:solidFill>
                <a:latin typeface="Calibri" pitchFamily="34" charset="0"/>
                <a:ea typeface="Calibri" pitchFamily="34" charset="-122"/>
                <a:cs typeface="Calibri" pitchFamily="34" charset="-120"/>
              </a:rPr>
              <a:t>Land on dashboard — forecast, risk &amp; anomaly views</a:t>
            </a:r>
            <a:endParaRPr lang="en-US" sz="1150" dirty="0"/>
          </a:p>
        </p:txBody>
      </p:sp>
      <p:sp>
        <p:nvSpPr>
          <p:cNvPr id="56" name="Shape 54"/>
          <p:cNvSpPr/>
          <p:nvPr/>
        </p:nvSpPr>
        <p:spPr>
          <a:xfrm>
            <a:off x="6583680" y="4709160"/>
            <a:ext cx="0" cy="365760"/>
          </a:xfrm>
          <a:prstGeom prst="line">
            <a:avLst/>
          </a:prstGeom>
          <a:noFill/>
          <a:ln w="15875">
            <a:solidFill>
              <a:srgbClr val="C7D2D8"/>
            </a:solidFill>
            <a:prstDash val="dash"/>
          </a:ln>
        </p:spPr>
      </p:sp>
      <p:sp>
        <p:nvSpPr>
          <p:cNvPr id="57" name="Shape 55"/>
          <p:cNvSpPr/>
          <p:nvPr/>
        </p:nvSpPr>
        <p:spPr>
          <a:xfrm>
            <a:off x="6400800" y="5111496"/>
            <a:ext cx="384048" cy="384048"/>
          </a:xfrm>
          <a:prstGeom prst="ellipse">
            <a:avLst/>
          </a:prstGeom>
          <a:solidFill>
            <a:srgbClr val="E3A343"/>
          </a:solidFill>
          <a:ln/>
        </p:spPr>
      </p:sp>
      <p:sp>
        <p:nvSpPr>
          <p:cNvPr id="58" name="Text 56"/>
          <p:cNvSpPr/>
          <p:nvPr/>
        </p:nvSpPr>
        <p:spPr>
          <a:xfrm>
            <a:off x="6400800" y="5111496"/>
            <a:ext cx="384048" cy="384048"/>
          </a:xfrm>
          <a:prstGeom prst="rect">
            <a:avLst/>
          </a:prstGeom>
          <a:noFill/>
          <a:ln/>
        </p:spPr>
        <p:txBody>
          <a:bodyPr wrap="square" lIns="0" tIns="0" rIns="0" bIns="0" rtlCol="0" anchor="ctr"/>
          <a:lstStyle/>
          <a:p>
            <a:pPr algn="ctr" indent="0" marL="0">
              <a:buNone/>
            </a:pPr>
            <a:r>
              <a:rPr lang="en-US" sz="1200" b="1" dirty="0">
                <a:solidFill>
                  <a:srgbClr val="0B3350"/>
                </a:solidFill>
                <a:latin typeface="Calibri" pitchFamily="34" charset="0"/>
                <a:ea typeface="Calibri" pitchFamily="34" charset="-122"/>
                <a:cs typeface="Calibri" pitchFamily="34" charset="-120"/>
              </a:rPr>
              <a:t>5</a:t>
            </a:r>
            <a:endParaRPr lang="en-US" sz="1200" dirty="0"/>
          </a:p>
        </p:txBody>
      </p:sp>
      <p:sp>
        <p:nvSpPr>
          <p:cNvPr id="59" name="Text 57"/>
          <p:cNvSpPr/>
          <p:nvPr/>
        </p:nvSpPr>
        <p:spPr>
          <a:xfrm>
            <a:off x="6903720" y="5093208"/>
            <a:ext cx="4709160" cy="502920"/>
          </a:xfrm>
          <a:prstGeom prst="rect">
            <a:avLst/>
          </a:prstGeom>
          <a:noFill/>
          <a:ln/>
        </p:spPr>
        <p:txBody>
          <a:bodyPr wrap="square" lIns="0" tIns="0" rIns="0" bIns="0" rtlCol="0" anchor="ctr"/>
          <a:lstStyle/>
          <a:p>
            <a:pPr indent="0" marL="0">
              <a:lnSpc>
                <a:spcPct val="110000"/>
              </a:lnSpc>
              <a:buNone/>
            </a:pPr>
            <a:r>
              <a:rPr lang="en-US" sz="1150" dirty="0">
                <a:solidFill>
                  <a:srgbClr val="1C2B36"/>
                </a:solidFill>
                <a:latin typeface="Calibri" pitchFamily="34" charset="0"/>
                <a:ea typeface="Calibri" pitchFamily="34" charset="-122"/>
                <a:cs typeface="Calibri" pitchFamily="34" charset="-120"/>
              </a:rPr>
              <a:t>Act on SHAP-explained nudges (confirm / dismiss)</a:t>
            </a:r>
            <a:endParaRPr lang="en-US" sz="1150" dirty="0"/>
          </a:p>
        </p:txBody>
      </p:sp>
      <p:sp>
        <p:nvSpPr>
          <p:cNvPr id="60" name="Shape 58"/>
          <p:cNvSpPr/>
          <p:nvPr/>
        </p:nvSpPr>
        <p:spPr>
          <a:xfrm>
            <a:off x="6400800" y="5806440"/>
            <a:ext cx="5212080" cy="640080"/>
          </a:xfrm>
          <a:prstGeom prst="roundRect">
            <a:avLst>
              <a:gd name="adj" fmla="val 8571"/>
            </a:avLst>
          </a:prstGeom>
          <a:solidFill>
            <a:srgbClr val="EEF2F4"/>
          </a:solidFill>
          <a:ln/>
        </p:spPr>
      </p:sp>
      <p:sp>
        <p:nvSpPr>
          <p:cNvPr id="61" name="Text 59"/>
          <p:cNvSpPr/>
          <p:nvPr/>
        </p:nvSpPr>
        <p:spPr>
          <a:xfrm>
            <a:off x="6583680" y="5806440"/>
            <a:ext cx="4846320" cy="640080"/>
          </a:xfrm>
          <a:prstGeom prst="rect">
            <a:avLst/>
          </a:prstGeom>
          <a:noFill/>
          <a:ln/>
        </p:spPr>
        <p:txBody>
          <a:bodyPr wrap="square" lIns="0" tIns="0" rIns="0" bIns="0" rtlCol="0" anchor="ctr"/>
          <a:lstStyle/>
          <a:p>
            <a:pPr indent="0" marL="0">
              <a:buNone/>
            </a:pPr>
            <a:r>
              <a:rPr lang="en-US" sz="1050" i="1" dirty="0">
                <a:solidFill>
                  <a:srgbClr val="0B3350"/>
                </a:solidFill>
                <a:latin typeface="Calibri" pitchFamily="34" charset="0"/>
                <a:ea typeface="Calibri" pitchFamily="34" charset="-122"/>
                <a:cs typeface="Calibri" pitchFamily="34" charset="-120"/>
              </a:rPr>
              <a:t>Target: ≥75% onboarding completion rate (Product Manager KPI)</a:t>
            </a:r>
            <a:endParaRPr lang="en-US" sz="1050" dirty="0"/>
          </a:p>
        </p:txBody>
      </p:sp>
      <p:sp>
        <p:nvSpPr>
          <p:cNvPr id="62" name="Text 6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PROTOTYPE RESEARCH &amp; DESIGN</a:t>
            </a:r>
            <a:endParaRPr lang="en-US" sz="900" dirty="0"/>
          </a:p>
        </p:txBody>
      </p:sp>
      <p:sp>
        <p:nvSpPr>
          <p:cNvPr id="63" name="Text 61"/>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64" name="Text 62"/>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PROTOTYPE RESEARCH &amp; DESIGN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Spending Forecaster</a:t>
            </a:r>
            <a:endParaRPr lang="en-US" sz="3000" dirty="0"/>
          </a:p>
        </p:txBody>
      </p:sp>
      <p:sp>
        <p:nvSpPr>
          <p:cNvPr id="4" name="Shape 2"/>
          <p:cNvSpPr/>
          <p:nvPr/>
        </p:nvSpPr>
        <p:spPr>
          <a:xfrm>
            <a:off x="548640" y="1371600"/>
            <a:ext cx="2377440" cy="347472"/>
          </a:xfrm>
          <a:prstGeom prst="roundRect">
            <a:avLst>
              <a:gd name="adj" fmla="val 50000"/>
            </a:avLst>
          </a:prstGeom>
          <a:solidFill>
            <a:srgbClr val="E3A343"/>
          </a:solidFill>
          <a:ln/>
        </p:spPr>
      </p:sp>
      <p:sp>
        <p:nvSpPr>
          <p:cNvPr id="5" name="Text 3"/>
          <p:cNvSpPr/>
          <p:nvPr/>
        </p:nvSpPr>
        <p:spPr>
          <a:xfrm>
            <a:off x="548640" y="1371600"/>
            <a:ext cx="2377440" cy="347472"/>
          </a:xfrm>
          <a:prstGeom prst="rect">
            <a:avLst/>
          </a:prstGeom>
          <a:noFill/>
          <a:ln/>
        </p:spPr>
        <p:txBody>
          <a:bodyPr wrap="square" lIns="0" tIns="0" rIns="0" bIns="0" rtlCol="0" anchor="ctr"/>
          <a:lstStyle/>
          <a:p>
            <a:pPr algn="ctr" indent="0" marL="0">
              <a:buNone/>
            </a:pPr>
            <a:r>
              <a:rPr lang="en-US" sz="1050" b="1" dirty="0">
                <a:solidFill>
                  <a:srgbClr val="0B3350"/>
                </a:solidFill>
                <a:latin typeface="Calibri" pitchFamily="34" charset="0"/>
                <a:ea typeface="Calibri" pitchFamily="34" charset="-122"/>
                <a:cs typeface="Calibri" pitchFamily="34" charset="-120"/>
              </a:rPr>
              <a:t>FEATURE 1</a:t>
            </a:r>
            <a:endParaRPr lang="en-US" sz="1050" dirty="0"/>
          </a:p>
        </p:txBody>
      </p:sp>
      <p:sp>
        <p:nvSpPr>
          <p:cNvPr id="6" name="Text 4"/>
          <p:cNvSpPr/>
          <p:nvPr/>
        </p:nvSpPr>
        <p:spPr>
          <a:xfrm>
            <a:off x="3108960" y="1353312"/>
            <a:ext cx="8503920" cy="411480"/>
          </a:xfrm>
          <a:prstGeom prst="rect">
            <a:avLst/>
          </a:prstGeom>
          <a:noFill/>
          <a:ln/>
        </p:spPr>
        <p:txBody>
          <a:bodyPr wrap="square" lIns="0" tIns="0" rIns="0" bIns="0" rtlCol="0" anchor="ctr"/>
          <a:lstStyle/>
          <a:p>
            <a:pPr indent="0" marL="0">
              <a:buNone/>
            </a:pPr>
            <a:r>
              <a:rPr lang="en-US" sz="1150" i="1" dirty="0">
                <a:solidFill>
                  <a:srgbClr val="5B6B76"/>
                </a:solidFill>
                <a:latin typeface="Calibri" pitchFamily="34" charset="0"/>
                <a:ea typeface="Calibri" pitchFamily="34" charset="-122"/>
                <a:cs typeface="Calibri" pitchFamily="34" charset="-120"/>
              </a:rPr>
              <a:t>3-layer Bidirectional LSTM + Monte Carlo Dropout (5 passes) for 95% confidence intervals</a:t>
            </a:r>
            <a:endParaRPr lang="en-US" sz="1150" dirty="0"/>
          </a:p>
        </p:txBody>
      </p:sp>
      <p:sp>
        <p:nvSpPr>
          <p:cNvPr id="7" name="Shape 5"/>
          <p:cNvSpPr/>
          <p:nvPr/>
        </p:nvSpPr>
        <p:spPr>
          <a:xfrm>
            <a:off x="548640" y="1965960"/>
            <a:ext cx="3611880" cy="3520440"/>
          </a:xfrm>
          <a:prstGeom prst="roundRect">
            <a:avLst>
              <a:gd name="adj" fmla="val 2078"/>
            </a:avLst>
          </a:prstGeom>
          <a:solidFill>
            <a:srgbClr val="EEF2F4"/>
          </a:solidFill>
          <a:ln/>
        </p:spPr>
      </p:sp>
      <p:sp>
        <p:nvSpPr>
          <p:cNvPr id="8" name="Shape 6"/>
          <p:cNvSpPr/>
          <p:nvPr/>
        </p:nvSpPr>
        <p:spPr>
          <a:xfrm>
            <a:off x="548640" y="1965960"/>
            <a:ext cx="3611880" cy="457200"/>
          </a:xfrm>
          <a:prstGeom prst="rect">
            <a:avLst/>
          </a:prstGeom>
          <a:solidFill>
            <a:srgbClr val="0B3350"/>
          </a:solidFill>
          <a:ln/>
        </p:spPr>
      </p:sp>
      <p:sp>
        <p:nvSpPr>
          <p:cNvPr id="9" name="Shape 7"/>
          <p:cNvSpPr/>
          <p:nvPr/>
        </p:nvSpPr>
        <p:spPr>
          <a:xfrm>
            <a:off x="548640" y="1965960"/>
            <a:ext cx="3611880" cy="457200"/>
          </a:xfrm>
          <a:prstGeom prst="roundRect">
            <a:avLst>
              <a:gd name="adj" fmla="val 16000"/>
            </a:avLst>
          </a:prstGeom>
          <a:solidFill>
            <a:srgbClr val="0B3350"/>
          </a:solidFill>
          <a:ln/>
        </p:spPr>
      </p:sp>
      <p:sp>
        <p:nvSpPr>
          <p:cNvPr id="10" name="Text 8"/>
          <p:cNvSpPr/>
          <p:nvPr/>
        </p:nvSpPr>
        <p:spPr>
          <a:xfrm>
            <a:off x="731520" y="1965960"/>
            <a:ext cx="32461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Inputs</a:t>
            </a:r>
            <a:endParaRPr lang="en-US" sz="1300" dirty="0"/>
          </a:p>
        </p:txBody>
      </p:sp>
      <p:sp>
        <p:nvSpPr>
          <p:cNvPr id="11" name="Text 9"/>
          <p:cNvSpPr/>
          <p:nvPr/>
        </p:nvSpPr>
        <p:spPr>
          <a:xfrm>
            <a:off x="749808" y="2587752"/>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Daily spend, 7-day &amp; 30-day rolling averages</a:t>
            </a:r>
            <a:endParaRPr lang="en-US" sz="1100" dirty="0"/>
          </a:p>
        </p:txBody>
      </p:sp>
      <p:sp>
        <p:nvSpPr>
          <p:cNvPr id="12" name="Text 10"/>
          <p:cNvSpPr/>
          <p:nvPr/>
        </p:nvSpPr>
        <p:spPr>
          <a:xfrm>
            <a:off x="749808" y="3429000"/>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is_weekend flag, month</a:t>
            </a:r>
            <a:endParaRPr lang="en-US" sz="1100" dirty="0"/>
          </a:p>
        </p:txBody>
      </p:sp>
      <p:sp>
        <p:nvSpPr>
          <p:cNvPr id="13" name="Text 11"/>
          <p:cNvSpPr/>
          <p:nvPr/>
        </p:nvSpPr>
        <p:spPr>
          <a:xfrm>
            <a:off x="749808" y="4270248"/>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SEQ_LEN=30, HORIZON=7 days</a:t>
            </a:r>
            <a:endParaRPr lang="en-US" sz="1100" dirty="0"/>
          </a:p>
        </p:txBody>
      </p:sp>
      <p:sp>
        <p:nvSpPr>
          <p:cNvPr id="14" name="Shape 12"/>
          <p:cNvSpPr/>
          <p:nvPr/>
        </p:nvSpPr>
        <p:spPr>
          <a:xfrm>
            <a:off x="4434840" y="1965960"/>
            <a:ext cx="3611880" cy="3520440"/>
          </a:xfrm>
          <a:prstGeom prst="roundRect">
            <a:avLst>
              <a:gd name="adj" fmla="val 2078"/>
            </a:avLst>
          </a:prstGeom>
          <a:solidFill>
            <a:srgbClr val="EEF2F4"/>
          </a:solidFill>
          <a:ln/>
        </p:spPr>
      </p:sp>
      <p:sp>
        <p:nvSpPr>
          <p:cNvPr id="15" name="Shape 13"/>
          <p:cNvSpPr/>
          <p:nvPr/>
        </p:nvSpPr>
        <p:spPr>
          <a:xfrm>
            <a:off x="4434840" y="1965960"/>
            <a:ext cx="3611880" cy="457200"/>
          </a:xfrm>
          <a:prstGeom prst="rect">
            <a:avLst/>
          </a:prstGeom>
          <a:solidFill>
            <a:srgbClr val="12786B"/>
          </a:solidFill>
          <a:ln/>
        </p:spPr>
      </p:sp>
      <p:sp>
        <p:nvSpPr>
          <p:cNvPr id="16" name="Shape 14"/>
          <p:cNvSpPr/>
          <p:nvPr/>
        </p:nvSpPr>
        <p:spPr>
          <a:xfrm>
            <a:off x="4434840" y="1965960"/>
            <a:ext cx="3611880" cy="457200"/>
          </a:xfrm>
          <a:prstGeom prst="roundRect">
            <a:avLst>
              <a:gd name="adj" fmla="val 16000"/>
            </a:avLst>
          </a:prstGeom>
          <a:solidFill>
            <a:srgbClr val="12786B"/>
          </a:solidFill>
          <a:ln/>
        </p:spPr>
      </p:sp>
      <p:sp>
        <p:nvSpPr>
          <p:cNvPr id="17" name="Text 15"/>
          <p:cNvSpPr/>
          <p:nvPr/>
        </p:nvSpPr>
        <p:spPr>
          <a:xfrm>
            <a:off x="4617720" y="1965960"/>
            <a:ext cx="32461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p:txBody>
      </p:sp>
      <p:sp>
        <p:nvSpPr>
          <p:cNvPr id="18" name="Text 16"/>
          <p:cNvSpPr/>
          <p:nvPr/>
        </p:nvSpPr>
        <p:spPr>
          <a:xfrm>
            <a:off x="4636008" y="2587752"/>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30-day rolling forecast with upper/lower 95% CI bands</a:t>
            </a:r>
            <a:endParaRPr lang="en-US" sz="1100" dirty="0"/>
          </a:p>
        </p:txBody>
      </p:sp>
      <p:sp>
        <p:nvSpPr>
          <p:cNvPr id="19" name="Text 17"/>
          <p:cNvSpPr/>
          <p:nvPr/>
        </p:nvSpPr>
        <p:spPr>
          <a:xfrm>
            <a:off x="4636008" y="3429000"/>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Wider bands before weekends &amp; holiday months signal uncertainty</a:t>
            </a:r>
            <a:endParaRPr lang="en-US" sz="1100" dirty="0"/>
          </a:p>
        </p:txBody>
      </p:sp>
      <p:sp>
        <p:nvSpPr>
          <p:cNvPr id="20" name="Shape 18"/>
          <p:cNvSpPr/>
          <p:nvPr/>
        </p:nvSpPr>
        <p:spPr>
          <a:xfrm>
            <a:off x="8321040" y="1965960"/>
            <a:ext cx="3611880" cy="3520440"/>
          </a:xfrm>
          <a:prstGeom prst="roundRect">
            <a:avLst>
              <a:gd name="adj" fmla="val 2078"/>
            </a:avLst>
          </a:prstGeom>
          <a:solidFill>
            <a:srgbClr val="EEF2F4"/>
          </a:solidFill>
          <a:ln/>
        </p:spPr>
      </p:sp>
      <p:sp>
        <p:nvSpPr>
          <p:cNvPr id="21" name="Shape 19"/>
          <p:cNvSpPr/>
          <p:nvPr/>
        </p:nvSpPr>
        <p:spPr>
          <a:xfrm>
            <a:off x="8321040" y="1965960"/>
            <a:ext cx="3611880" cy="457200"/>
          </a:xfrm>
          <a:prstGeom prst="rect">
            <a:avLst/>
          </a:prstGeom>
          <a:solidFill>
            <a:srgbClr val="E3A343"/>
          </a:solidFill>
          <a:ln/>
        </p:spPr>
      </p:sp>
      <p:sp>
        <p:nvSpPr>
          <p:cNvPr id="22" name="Shape 20"/>
          <p:cNvSpPr/>
          <p:nvPr/>
        </p:nvSpPr>
        <p:spPr>
          <a:xfrm>
            <a:off x="8321040" y="1965960"/>
            <a:ext cx="3611880" cy="457200"/>
          </a:xfrm>
          <a:prstGeom prst="roundRect">
            <a:avLst>
              <a:gd name="adj" fmla="val 16000"/>
            </a:avLst>
          </a:prstGeom>
          <a:solidFill>
            <a:srgbClr val="E3A343"/>
          </a:solidFill>
          <a:ln/>
        </p:spPr>
      </p:sp>
      <p:sp>
        <p:nvSpPr>
          <p:cNvPr id="23" name="Text 21"/>
          <p:cNvSpPr/>
          <p:nvPr/>
        </p:nvSpPr>
        <p:spPr>
          <a:xfrm>
            <a:off x="8503920" y="1965960"/>
            <a:ext cx="32461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Decision Supported</a:t>
            </a:r>
            <a:endParaRPr lang="en-US" sz="1300" dirty="0"/>
          </a:p>
        </p:txBody>
      </p:sp>
      <p:sp>
        <p:nvSpPr>
          <p:cNvPr id="24" name="Text 22"/>
          <p:cNvSpPr/>
          <p:nvPr/>
        </p:nvSpPr>
        <p:spPr>
          <a:xfrm>
            <a:off x="8522208" y="2587752"/>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Alert fires when lower CI dips below the $500 overdraft buffer</a:t>
            </a:r>
            <a:endParaRPr lang="en-US" sz="1100" dirty="0"/>
          </a:p>
        </p:txBody>
      </p:sp>
      <p:sp>
        <p:nvSpPr>
          <p:cNvPr id="25" name="Text 23"/>
          <p:cNvSpPr/>
          <p:nvPr/>
        </p:nvSpPr>
        <p:spPr>
          <a:xfrm>
            <a:off x="8522208" y="3429000"/>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7-day early warning replaces reactive overdraft notices</a:t>
            </a:r>
            <a:endParaRPr lang="en-US" sz="1100" dirty="0"/>
          </a:p>
        </p:txBody>
      </p:sp>
      <p:sp>
        <p:nvSpPr>
          <p:cNvPr id="26" name="Shape 24"/>
          <p:cNvSpPr/>
          <p:nvPr/>
        </p:nvSpPr>
        <p:spPr>
          <a:xfrm>
            <a:off x="548640" y="5623560"/>
            <a:ext cx="11064240" cy="548640"/>
          </a:xfrm>
          <a:prstGeom prst="roundRect">
            <a:avLst>
              <a:gd name="adj" fmla="val 10000"/>
            </a:avLst>
          </a:prstGeom>
          <a:solidFill>
            <a:srgbClr val="0B3350"/>
          </a:solidFill>
          <a:ln/>
        </p:spPr>
      </p:sp>
      <p:sp>
        <p:nvSpPr>
          <p:cNvPr id="27" name="Text 25"/>
          <p:cNvSpPr/>
          <p:nvPr/>
        </p:nvSpPr>
        <p:spPr>
          <a:xfrm>
            <a:off x="777240" y="5623560"/>
            <a:ext cx="10607040" cy="548640"/>
          </a:xfrm>
          <a:prstGeom prst="rect">
            <a:avLst/>
          </a:prstGeom>
          <a:noFill/>
          <a:ln/>
        </p:spPr>
        <p:txBody>
          <a:bodyPr wrap="square" lIns="0" tIns="0" rIns="0" bIns="0" rtlCol="0" anchor="ctr"/>
          <a:lstStyle/>
          <a:p>
            <a:pPr indent="0" marL="0">
              <a:buNone/>
            </a:pPr>
            <a:r>
              <a:rPr lang="en-US" sz="1100" dirty="0">
                <a:solidFill>
                  <a:srgbClr val="E7EEF1"/>
                </a:solidFill>
                <a:latin typeface="Calibri" pitchFamily="34" charset="0"/>
                <a:ea typeface="Calibri" pitchFamily="34" charset="-122"/>
                <a:cs typeface="Calibri" pitchFamily="34" charset="-120"/>
              </a:rPr>
              <a:t>Business impact: converts a purely descriptive spend history into a forward-looking, confidence-scored cash-flow forecast.</a:t>
            </a:r>
            <a:endParaRPr lang="en-US" sz="1100" dirty="0"/>
          </a:p>
        </p:txBody>
      </p:sp>
      <p:sp>
        <p:nvSpPr>
          <p:cNvPr id="28" name="Text 2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PROTOTYPE RESEARCH &amp; DESIGN</a:t>
            </a:r>
            <a:endParaRPr lang="en-US" sz="900" dirty="0"/>
          </a:p>
        </p:txBody>
      </p:sp>
      <p:sp>
        <p:nvSpPr>
          <p:cNvPr id="29" name="Text 27"/>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30" name="Text 28"/>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PROTOTYPE RESEARCH &amp; DESIGN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Risk Classifier</a:t>
            </a:r>
            <a:endParaRPr lang="en-US" sz="3000" dirty="0"/>
          </a:p>
        </p:txBody>
      </p:sp>
      <p:sp>
        <p:nvSpPr>
          <p:cNvPr id="4" name="Shape 2"/>
          <p:cNvSpPr/>
          <p:nvPr/>
        </p:nvSpPr>
        <p:spPr>
          <a:xfrm>
            <a:off x="548640" y="1371600"/>
            <a:ext cx="2377440" cy="347472"/>
          </a:xfrm>
          <a:prstGeom prst="roundRect">
            <a:avLst>
              <a:gd name="adj" fmla="val 50000"/>
            </a:avLst>
          </a:prstGeom>
          <a:solidFill>
            <a:srgbClr val="E3A343"/>
          </a:solidFill>
          <a:ln/>
        </p:spPr>
      </p:sp>
      <p:sp>
        <p:nvSpPr>
          <p:cNvPr id="5" name="Text 3"/>
          <p:cNvSpPr/>
          <p:nvPr/>
        </p:nvSpPr>
        <p:spPr>
          <a:xfrm>
            <a:off x="548640" y="1371600"/>
            <a:ext cx="2377440" cy="347472"/>
          </a:xfrm>
          <a:prstGeom prst="rect">
            <a:avLst/>
          </a:prstGeom>
          <a:noFill/>
          <a:ln/>
        </p:spPr>
        <p:txBody>
          <a:bodyPr wrap="square" lIns="0" tIns="0" rIns="0" bIns="0" rtlCol="0" anchor="ctr"/>
          <a:lstStyle/>
          <a:p>
            <a:pPr algn="ctr" indent="0" marL="0">
              <a:buNone/>
            </a:pPr>
            <a:r>
              <a:rPr lang="en-US" sz="1050" b="1" dirty="0">
                <a:solidFill>
                  <a:srgbClr val="0B3350"/>
                </a:solidFill>
                <a:latin typeface="Calibri" pitchFamily="34" charset="0"/>
                <a:ea typeface="Calibri" pitchFamily="34" charset="-122"/>
                <a:cs typeface="Calibri" pitchFamily="34" charset="-120"/>
              </a:rPr>
              <a:t>FEATURE 2</a:t>
            </a:r>
            <a:endParaRPr lang="en-US" sz="1050" dirty="0"/>
          </a:p>
        </p:txBody>
      </p:sp>
      <p:sp>
        <p:nvSpPr>
          <p:cNvPr id="6" name="Text 4"/>
          <p:cNvSpPr/>
          <p:nvPr/>
        </p:nvSpPr>
        <p:spPr>
          <a:xfrm>
            <a:off x="3108960" y="1353312"/>
            <a:ext cx="8503920" cy="411480"/>
          </a:xfrm>
          <a:prstGeom prst="rect">
            <a:avLst/>
          </a:prstGeom>
          <a:noFill/>
          <a:ln/>
        </p:spPr>
        <p:txBody>
          <a:bodyPr wrap="square" lIns="0" tIns="0" rIns="0" bIns="0" rtlCol="0" anchor="ctr"/>
          <a:lstStyle/>
          <a:p>
            <a:pPr indent="0" marL="0">
              <a:buNone/>
            </a:pPr>
            <a:r>
              <a:rPr lang="en-US" sz="1150" i="1" dirty="0">
                <a:solidFill>
                  <a:srgbClr val="5B6B76"/>
                </a:solidFill>
                <a:latin typeface="Calibri" pitchFamily="34" charset="0"/>
                <a:ea typeface="Calibri" pitchFamily="34" charset="-122"/>
                <a:cs typeface="Calibri" pitchFamily="34" charset="-120"/>
              </a:rPr>
              <a:t>Three independent XGBoost classifiers, explained post-hoc with SHAP TreeExplainer</a:t>
            </a:r>
            <a:endParaRPr lang="en-US" sz="1150" dirty="0"/>
          </a:p>
        </p:txBody>
      </p:sp>
      <p:sp>
        <p:nvSpPr>
          <p:cNvPr id="7" name="Shape 5"/>
          <p:cNvSpPr/>
          <p:nvPr/>
        </p:nvSpPr>
        <p:spPr>
          <a:xfrm>
            <a:off x="548640" y="1965960"/>
            <a:ext cx="3611880" cy="3520440"/>
          </a:xfrm>
          <a:prstGeom prst="roundRect">
            <a:avLst>
              <a:gd name="adj" fmla="val 2078"/>
            </a:avLst>
          </a:prstGeom>
          <a:solidFill>
            <a:srgbClr val="EEF2F4"/>
          </a:solidFill>
          <a:ln/>
        </p:spPr>
      </p:sp>
      <p:sp>
        <p:nvSpPr>
          <p:cNvPr id="8" name="Shape 6"/>
          <p:cNvSpPr/>
          <p:nvPr/>
        </p:nvSpPr>
        <p:spPr>
          <a:xfrm>
            <a:off x="548640" y="1965960"/>
            <a:ext cx="3611880" cy="457200"/>
          </a:xfrm>
          <a:prstGeom prst="rect">
            <a:avLst/>
          </a:prstGeom>
          <a:solidFill>
            <a:srgbClr val="0B3350"/>
          </a:solidFill>
          <a:ln/>
        </p:spPr>
      </p:sp>
      <p:sp>
        <p:nvSpPr>
          <p:cNvPr id="9" name="Shape 7"/>
          <p:cNvSpPr/>
          <p:nvPr/>
        </p:nvSpPr>
        <p:spPr>
          <a:xfrm>
            <a:off x="548640" y="1965960"/>
            <a:ext cx="3611880" cy="457200"/>
          </a:xfrm>
          <a:prstGeom prst="roundRect">
            <a:avLst>
              <a:gd name="adj" fmla="val 16000"/>
            </a:avLst>
          </a:prstGeom>
          <a:solidFill>
            <a:srgbClr val="0B3350"/>
          </a:solidFill>
          <a:ln/>
        </p:spPr>
      </p:sp>
      <p:sp>
        <p:nvSpPr>
          <p:cNvPr id="10" name="Text 8"/>
          <p:cNvSpPr/>
          <p:nvPr/>
        </p:nvSpPr>
        <p:spPr>
          <a:xfrm>
            <a:off x="731520" y="1965960"/>
            <a:ext cx="32461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Inputs</a:t>
            </a:r>
            <a:endParaRPr lang="en-US" sz="1300" dirty="0"/>
          </a:p>
        </p:txBody>
      </p:sp>
      <p:sp>
        <p:nvSpPr>
          <p:cNvPr id="11" name="Text 9"/>
          <p:cNvSpPr/>
          <p:nvPr/>
        </p:nvSpPr>
        <p:spPr>
          <a:xfrm>
            <a:off x="749808" y="2587752"/>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14 engineered features: balance trend, spending slope</a:t>
            </a:r>
            <a:endParaRPr lang="en-US" sz="1100" dirty="0"/>
          </a:p>
        </p:txBody>
      </p:sp>
      <p:sp>
        <p:nvSpPr>
          <p:cNvPr id="12" name="Text 10"/>
          <p:cNvSpPr/>
          <p:nvPr/>
        </p:nvSpPr>
        <p:spPr>
          <a:xfrm>
            <a:off x="749808" y="3429000"/>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days-until-payday, dining spend, income volatility</a:t>
            </a:r>
            <a:endParaRPr lang="en-US" sz="1100" dirty="0"/>
          </a:p>
        </p:txBody>
      </p:sp>
      <p:sp>
        <p:nvSpPr>
          <p:cNvPr id="13" name="Shape 11"/>
          <p:cNvSpPr/>
          <p:nvPr/>
        </p:nvSpPr>
        <p:spPr>
          <a:xfrm>
            <a:off x="4434840" y="1965960"/>
            <a:ext cx="3611880" cy="3520440"/>
          </a:xfrm>
          <a:prstGeom prst="roundRect">
            <a:avLst>
              <a:gd name="adj" fmla="val 2078"/>
            </a:avLst>
          </a:prstGeom>
          <a:solidFill>
            <a:srgbClr val="EEF2F4"/>
          </a:solidFill>
          <a:ln/>
        </p:spPr>
      </p:sp>
      <p:sp>
        <p:nvSpPr>
          <p:cNvPr id="14" name="Shape 12"/>
          <p:cNvSpPr/>
          <p:nvPr/>
        </p:nvSpPr>
        <p:spPr>
          <a:xfrm>
            <a:off x="4434840" y="1965960"/>
            <a:ext cx="3611880" cy="457200"/>
          </a:xfrm>
          <a:prstGeom prst="rect">
            <a:avLst/>
          </a:prstGeom>
          <a:solidFill>
            <a:srgbClr val="12786B"/>
          </a:solidFill>
          <a:ln/>
        </p:spPr>
      </p:sp>
      <p:sp>
        <p:nvSpPr>
          <p:cNvPr id="15" name="Shape 13"/>
          <p:cNvSpPr/>
          <p:nvPr/>
        </p:nvSpPr>
        <p:spPr>
          <a:xfrm>
            <a:off x="4434840" y="1965960"/>
            <a:ext cx="3611880" cy="457200"/>
          </a:xfrm>
          <a:prstGeom prst="roundRect">
            <a:avLst>
              <a:gd name="adj" fmla="val 16000"/>
            </a:avLst>
          </a:prstGeom>
          <a:solidFill>
            <a:srgbClr val="12786B"/>
          </a:solidFill>
          <a:ln/>
        </p:spPr>
      </p:sp>
      <p:sp>
        <p:nvSpPr>
          <p:cNvPr id="16" name="Text 14"/>
          <p:cNvSpPr/>
          <p:nvPr/>
        </p:nvSpPr>
        <p:spPr>
          <a:xfrm>
            <a:off x="4617720" y="1965960"/>
            <a:ext cx="32461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p:txBody>
      </p:sp>
      <p:sp>
        <p:nvSpPr>
          <p:cNvPr id="17" name="Text 15"/>
          <p:cNvSpPr/>
          <p:nvPr/>
        </p:nvSpPr>
        <p:spPr>
          <a:xfrm>
            <a:off x="4636008" y="2587752"/>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Overdraft / overrun / cash-flow-stress probability (0–100%)</a:t>
            </a:r>
            <a:endParaRPr lang="en-US" sz="1100" dirty="0"/>
          </a:p>
        </p:txBody>
      </p:sp>
      <p:sp>
        <p:nvSpPr>
          <p:cNvPr id="18" name="Text 16"/>
          <p:cNvSpPr/>
          <p:nvPr/>
        </p:nvSpPr>
        <p:spPr>
          <a:xfrm>
            <a:off x="4636008" y="3429000"/>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Example: Month 11 scores 73% overdraft risk — highest in the dataset, matching the Nov. deficit</a:t>
            </a:r>
            <a:endParaRPr lang="en-US" sz="1100" dirty="0"/>
          </a:p>
        </p:txBody>
      </p:sp>
      <p:sp>
        <p:nvSpPr>
          <p:cNvPr id="19" name="Shape 17"/>
          <p:cNvSpPr/>
          <p:nvPr/>
        </p:nvSpPr>
        <p:spPr>
          <a:xfrm>
            <a:off x="8321040" y="1965960"/>
            <a:ext cx="3611880" cy="3520440"/>
          </a:xfrm>
          <a:prstGeom prst="roundRect">
            <a:avLst>
              <a:gd name="adj" fmla="val 2078"/>
            </a:avLst>
          </a:prstGeom>
          <a:solidFill>
            <a:srgbClr val="EEF2F4"/>
          </a:solidFill>
          <a:ln/>
        </p:spPr>
      </p:sp>
      <p:sp>
        <p:nvSpPr>
          <p:cNvPr id="20" name="Shape 18"/>
          <p:cNvSpPr/>
          <p:nvPr/>
        </p:nvSpPr>
        <p:spPr>
          <a:xfrm>
            <a:off x="8321040" y="1965960"/>
            <a:ext cx="3611880" cy="457200"/>
          </a:xfrm>
          <a:prstGeom prst="rect">
            <a:avLst/>
          </a:prstGeom>
          <a:solidFill>
            <a:srgbClr val="E3A343"/>
          </a:solidFill>
          <a:ln/>
        </p:spPr>
      </p:sp>
      <p:sp>
        <p:nvSpPr>
          <p:cNvPr id="21" name="Shape 19"/>
          <p:cNvSpPr/>
          <p:nvPr/>
        </p:nvSpPr>
        <p:spPr>
          <a:xfrm>
            <a:off x="8321040" y="1965960"/>
            <a:ext cx="3611880" cy="457200"/>
          </a:xfrm>
          <a:prstGeom prst="roundRect">
            <a:avLst>
              <a:gd name="adj" fmla="val 16000"/>
            </a:avLst>
          </a:prstGeom>
          <a:solidFill>
            <a:srgbClr val="E3A343"/>
          </a:solidFill>
          <a:ln/>
        </p:spPr>
      </p:sp>
      <p:sp>
        <p:nvSpPr>
          <p:cNvPr id="22" name="Text 20"/>
          <p:cNvSpPr/>
          <p:nvPr/>
        </p:nvSpPr>
        <p:spPr>
          <a:xfrm>
            <a:off x="8503920" y="1965960"/>
            <a:ext cx="32461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Decision Supported</a:t>
            </a:r>
            <a:endParaRPr lang="en-US" sz="1300" dirty="0"/>
          </a:p>
        </p:txBody>
      </p:sp>
      <p:sp>
        <p:nvSpPr>
          <p:cNvPr id="23" name="Text 21"/>
          <p:cNvSpPr/>
          <p:nvPr/>
        </p:nvSpPr>
        <p:spPr>
          <a:xfrm>
            <a:off x="8522208" y="2587752"/>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Alert + automatic fund-transfer nudge above 60% probability</a:t>
            </a:r>
            <a:endParaRPr lang="en-US" sz="1100" dirty="0"/>
          </a:p>
        </p:txBody>
      </p:sp>
      <p:sp>
        <p:nvSpPr>
          <p:cNvPr id="24" name="Text 22"/>
          <p:cNvSpPr/>
          <p:nvPr/>
        </p:nvSpPr>
        <p:spPr>
          <a:xfrm>
            <a:off x="8522208" y="3429000"/>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Top-5 SHAP factors in plain English satisfy compliance audit</a:t>
            </a:r>
            <a:endParaRPr lang="en-US" sz="1100" dirty="0"/>
          </a:p>
        </p:txBody>
      </p:sp>
      <p:sp>
        <p:nvSpPr>
          <p:cNvPr id="25" name="Shape 23"/>
          <p:cNvSpPr/>
          <p:nvPr/>
        </p:nvSpPr>
        <p:spPr>
          <a:xfrm>
            <a:off x="548640" y="5623560"/>
            <a:ext cx="11064240" cy="548640"/>
          </a:xfrm>
          <a:prstGeom prst="roundRect">
            <a:avLst>
              <a:gd name="adj" fmla="val 10000"/>
            </a:avLst>
          </a:prstGeom>
          <a:solidFill>
            <a:srgbClr val="0B3350"/>
          </a:solidFill>
          <a:ln/>
        </p:spPr>
      </p:sp>
      <p:sp>
        <p:nvSpPr>
          <p:cNvPr id="26" name="Text 24"/>
          <p:cNvSpPr/>
          <p:nvPr/>
        </p:nvSpPr>
        <p:spPr>
          <a:xfrm>
            <a:off x="777240" y="5623560"/>
            <a:ext cx="10607040" cy="548640"/>
          </a:xfrm>
          <a:prstGeom prst="rect">
            <a:avLst/>
          </a:prstGeom>
          <a:noFill/>
          <a:ln/>
        </p:spPr>
        <p:txBody>
          <a:bodyPr wrap="square" lIns="0" tIns="0" rIns="0" bIns="0" rtlCol="0" anchor="ctr"/>
          <a:lstStyle/>
          <a:p>
            <a:pPr indent="0" marL="0">
              <a:buNone/>
            </a:pPr>
            <a:r>
              <a:rPr lang="en-US" sz="1100" dirty="0">
                <a:solidFill>
                  <a:srgbClr val="E7EEF1"/>
                </a:solidFill>
                <a:latin typeface="Calibri" pitchFamily="34" charset="0"/>
                <a:ea typeface="Calibri" pitchFamily="34" charset="-122"/>
                <a:cs typeface="Calibri" pitchFamily="34" charset="-120"/>
              </a:rPr>
              <a:t>Business impact: gives advisors and compliance teams an auditable risk trail; gives users action, not a raw score.</a:t>
            </a:r>
            <a:endParaRPr lang="en-US" sz="1100" dirty="0"/>
          </a:p>
        </p:txBody>
      </p:sp>
      <p:sp>
        <p:nvSpPr>
          <p:cNvPr id="27" name="Text 25"/>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PROTOTYPE RESEARCH &amp; DESIGN</a:t>
            </a:r>
            <a:endParaRPr lang="en-US" sz="900" dirty="0"/>
          </a:p>
        </p:txBody>
      </p:sp>
      <p:sp>
        <p:nvSpPr>
          <p:cNvPr id="28" name="Text 26"/>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29" name="Text 27"/>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PROTOTYPE RESEARCH &amp; DESIGN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DQN Budget Optimizer</a:t>
            </a:r>
            <a:endParaRPr lang="en-US" sz="3000" dirty="0"/>
          </a:p>
        </p:txBody>
      </p:sp>
      <p:sp>
        <p:nvSpPr>
          <p:cNvPr id="4" name="Shape 2"/>
          <p:cNvSpPr/>
          <p:nvPr/>
        </p:nvSpPr>
        <p:spPr>
          <a:xfrm>
            <a:off x="548640" y="1371600"/>
            <a:ext cx="2377440" cy="347472"/>
          </a:xfrm>
          <a:prstGeom prst="roundRect">
            <a:avLst>
              <a:gd name="adj" fmla="val 50000"/>
            </a:avLst>
          </a:prstGeom>
          <a:solidFill>
            <a:srgbClr val="E3A343"/>
          </a:solidFill>
          <a:ln/>
        </p:spPr>
      </p:sp>
      <p:sp>
        <p:nvSpPr>
          <p:cNvPr id="5" name="Text 3"/>
          <p:cNvSpPr/>
          <p:nvPr/>
        </p:nvSpPr>
        <p:spPr>
          <a:xfrm>
            <a:off x="548640" y="1371600"/>
            <a:ext cx="2377440" cy="347472"/>
          </a:xfrm>
          <a:prstGeom prst="rect">
            <a:avLst/>
          </a:prstGeom>
          <a:noFill/>
          <a:ln/>
        </p:spPr>
        <p:txBody>
          <a:bodyPr wrap="square" lIns="0" tIns="0" rIns="0" bIns="0" rtlCol="0" anchor="ctr"/>
          <a:lstStyle/>
          <a:p>
            <a:pPr algn="ctr" indent="0" marL="0">
              <a:buNone/>
            </a:pPr>
            <a:r>
              <a:rPr lang="en-US" sz="1050" b="1" dirty="0">
                <a:solidFill>
                  <a:srgbClr val="0B3350"/>
                </a:solidFill>
                <a:latin typeface="Calibri" pitchFamily="34" charset="0"/>
                <a:ea typeface="Calibri" pitchFamily="34" charset="-122"/>
                <a:cs typeface="Calibri" pitchFamily="34" charset="-120"/>
              </a:rPr>
              <a:t>FEATURE 3</a:t>
            </a:r>
            <a:endParaRPr lang="en-US" sz="1050" dirty="0"/>
          </a:p>
        </p:txBody>
      </p:sp>
      <p:sp>
        <p:nvSpPr>
          <p:cNvPr id="6" name="Text 4"/>
          <p:cNvSpPr/>
          <p:nvPr/>
        </p:nvSpPr>
        <p:spPr>
          <a:xfrm>
            <a:off x="3108960" y="1353312"/>
            <a:ext cx="8503920" cy="411480"/>
          </a:xfrm>
          <a:prstGeom prst="rect">
            <a:avLst/>
          </a:prstGeom>
          <a:noFill/>
          <a:ln/>
        </p:spPr>
        <p:txBody>
          <a:bodyPr wrap="square" lIns="0" tIns="0" rIns="0" bIns="0" rtlCol="0" anchor="ctr"/>
          <a:lstStyle/>
          <a:p>
            <a:pPr indent="0" marL="0">
              <a:buNone/>
            </a:pPr>
            <a:r>
              <a:rPr lang="en-US" sz="1150" i="1" dirty="0">
                <a:solidFill>
                  <a:srgbClr val="5B6B76"/>
                </a:solidFill>
                <a:latin typeface="Calibri" pitchFamily="34" charset="0"/>
                <a:ea typeface="Calibri" pitchFamily="34" charset="-122"/>
                <a:cs typeface="Calibri" pitchFamily="34" charset="-120"/>
              </a:rPr>
              <a:t>Reinforcement-learning agent, 500 training episodes, epsilon-greedy decay 1.0 → 0.05</a:t>
            </a:r>
            <a:endParaRPr lang="en-US" sz="1150" dirty="0"/>
          </a:p>
        </p:txBody>
      </p:sp>
      <p:sp>
        <p:nvSpPr>
          <p:cNvPr id="7" name="Shape 5"/>
          <p:cNvSpPr/>
          <p:nvPr/>
        </p:nvSpPr>
        <p:spPr>
          <a:xfrm>
            <a:off x="548640" y="1965960"/>
            <a:ext cx="3611880" cy="3520440"/>
          </a:xfrm>
          <a:prstGeom prst="roundRect">
            <a:avLst>
              <a:gd name="adj" fmla="val 2078"/>
            </a:avLst>
          </a:prstGeom>
          <a:solidFill>
            <a:srgbClr val="EEF2F4"/>
          </a:solidFill>
          <a:ln/>
        </p:spPr>
      </p:sp>
      <p:sp>
        <p:nvSpPr>
          <p:cNvPr id="8" name="Shape 6"/>
          <p:cNvSpPr/>
          <p:nvPr/>
        </p:nvSpPr>
        <p:spPr>
          <a:xfrm>
            <a:off x="548640" y="1965960"/>
            <a:ext cx="3611880" cy="457200"/>
          </a:xfrm>
          <a:prstGeom prst="rect">
            <a:avLst/>
          </a:prstGeom>
          <a:solidFill>
            <a:srgbClr val="0B3350"/>
          </a:solidFill>
          <a:ln/>
        </p:spPr>
      </p:sp>
      <p:sp>
        <p:nvSpPr>
          <p:cNvPr id="9" name="Shape 7"/>
          <p:cNvSpPr/>
          <p:nvPr/>
        </p:nvSpPr>
        <p:spPr>
          <a:xfrm>
            <a:off x="548640" y="1965960"/>
            <a:ext cx="3611880" cy="457200"/>
          </a:xfrm>
          <a:prstGeom prst="roundRect">
            <a:avLst>
              <a:gd name="adj" fmla="val 16000"/>
            </a:avLst>
          </a:prstGeom>
          <a:solidFill>
            <a:srgbClr val="0B3350"/>
          </a:solidFill>
          <a:ln/>
        </p:spPr>
      </p:sp>
      <p:sp>
        <p:nvSpPr>
          <p:cNvPr id="10" name="Text 8"/>
          <p:cNvSpPr/>
          <p:nvPr/>
        </p:nvSpPr>
        <p:spPr>
          <a:xfrm>
            <a:off x="731520" y="1965960"/>
            <a:ext cx="32461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State &amp; Actions</a:t>
            </a:r>
            <a:endParaRPr lang="en-US" sz="1300" dirty="0"/>
          </a:p>
        </p:txBody>
      </p:sp>
      <p:sp>
        <p:nvSpPr>
          <p:cNvPr id="11" name="Text 9"/>
          <p:cNvSpPr/>
          <p:nvPr/>
        </p:nvSpPr>
        <p:spPr>
          <a:xfrm>
            <a:off x="749808" y="2587752"/>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5-dim state: balance, spend, savings rate, dining/entertainment fraction</a:t>
            </a:r>
            <a:endParaRPr lang="en-US" sz="1100" dirty="0"/>
          </a:p>
        </p:txBody>
      </p:sp>
      <p:sp>
        <p:nvSpPr>
          <p:cNvPr id="12" name="Text 10"/>
          <p:cNvSpPr/>
          <p:nvPr/>
        </p:nvSpPr>
        <p:spPr>
          <a:xfrm>
            <a:off x="749808" y="3429000"/>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6 actions incl. cut Dining/Entertainment 10%, raise Savings 5%</a:t>
            </a:r>
            <a:endParaRPr lang="en-US" sz="1100" dirty="0"/>
          </a:p>
        </p:txBody>
      </p:sp>
      <p:sp>
        <p:nvSpPr>
          <p:cNvPr id="13" name="Shape 11"/>
          <p:cNvSpPr/>
          <p:nvPr/>
        </p:nvSpPr>
        <p:spPr>
          <a:xfrm>
            <a:off x="4434840" y="1965960"/>
            <a:ext cx="3611880" cy="3520440"/>
          </a:xfrm>
          <a:prstGeom prst="roundRect">
            <a:avLst>
              <a:gd name="adj" fmla="val 2078"/>
            </a:avLst>
          </a:prstGeom>
          <a:solidFill>
            <a:srgbClr val="EEF2F4"/>
          </a:solidFill>
          <a:ln/>
        </p:spPr>
      </p:sp>
      <p:sp>
        <p:nvSpPr>
          <p:cNvPr id="14" name="Shape 12"/>
          <p:cNvSpPr/>
          <p:nvPr/>
        </p:nvSpPr>
        <p:spPr>
          <a:xfrm>
            <a:off x="4434840" y="1965960"/>
            <a:ext cx="3611880" cy="457200"/>
          </a:xfrm>
          <a:prstGeom prst="rect">
            <a:avLst/>
          </a:prstGeom>
          <a:solidFill>
            <a:srgbClr val="12786B"/>
          </a:solidFill>
          <a:ln/>
        </p:spPr>
      </p:sp>
      <p:sp>
        <p:nvSpPr>
          <p:cNvPr id="15" name="Shape 13"/>
          <p:cNvSpPr/>
          <p:nvPr/>
        </p:nvSpPr>
        <p:spPr>
          <a:xfrm>
            <a:off x="4434840" y="1965960"/>
            <a:ext cx="3611880" cy="457200"/>
          </a:xfrm>
          <a:prstGeom prst="roundRect">
            <a:avLst>
              <a:gd name="adj" fmla="val 16000"/>
            </a:avLst>
          </a:prstGeom>
          <a:solidFill>
            <a:srgbClr val="12786B"/>
          </a:solidFill>
          <a:ln/>
        </p:spPr>
      </p:sp>
      <p:sp>
        <p:nvSpPr>
          <p:cNvPr id="16" name="Text 14"/>
          <p:cNvSpPr/>
          <p:nvPr/>
        </p:nvSpPr>
        <p:spPr>
          <a:xfrm>
            <a:off x="4617720" y="1965960"/>
            <a:ext cx="32461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p:txBody>
      </p:sp>
      <p:sp>
        <p:nvSpPr>
          <p:cNvPr id="17" name="Text 15"/>
          <p:cNvSpPr/>
          <p:nvPr/>
        </p:nvSpPr>
        <p:spPr>
          <a:xfrm>
            <a:off x="4636008" y="2587752"/>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Converges to: “+5% Savings transfer, −10% Dining”</a:t>
            </a:r>
            <a:endParaRPr lang="en-US" sz="1100" dirty="0"/>
          </a:p>
        </p:txBody>
      </p:sp>
      <p:sp>
        <p:nvSpPr>
          <p:cNvPr id="18" name="Text 16"/>
          <p:cNvSpPr/>
          <p:nvPr/>
        </p:nvSpPr>
        <p:spPr>
          <a:xfrm>
            <a:off x="4636008" y="3429000"/>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Reclaims ~$225/month; projects savings rate 7.7% → 12.4% in 6 months</a:t>
            </a:r>
            <a:endParaRPr lang="en-US" sz="1100" dirty="0"/>
          </a:p>
        </p:txBody>
      </p:sp>
      <p:sp>
        <p:nvSpPr>
          <p:cNvPr id="19" name="Shape 17"/>
          <p:cNvSpPr/>
          <p:nvPr/>
        </p:nvSpPr>
        <p:spPr>
          <a:xfrm>
            <a:off x="8321040" y="1965960"/>
            <a:ext cx="3611880" cy="3520440"/>
          </a:xfrm>
          <a:prstGeom prst="roundRect">
            <a:avLst>
              <a:gd name="adj" fmla="val 2078"/>
            </a:avLst>
          </a:prstGeom>
          <a:solidFill>
            <a:srgbClr val="EEF2F4"/>
          </a:solidFill>
          <a:ln/>
        </p:spPr>
      </p:sp>
      <p:sp>
        <p:nvSpPr>
          <p:cNvPr id="20" name="Shape 18"/>
          <p:cNvSpPr/>
          <p:nvPr/>
        </p:nvSpPr>
        <p:spPr>
          <a:xfrm>
            <a:off x="8321040" y="1965960"/>
            <a:ext cx="3611880" cy="457200"/>
          </a:xfrm>
          <a:prstGeom prst="rect">
            <a:avLst/>
          </a:prstGeom>
          <a:solidFill>
            <a:srgbClr val="E3A343"/>
          </a:solidFill>
          <a:ln/>
        </p:spPr>
      </p:sp>
      <p:sp>
        <p:nvSpPr>
          <p:cNvPr id="21" name="Shape 19"/>
          <p:cNvSpPr/>
          <p:nvPr/>
        </p:nvSpPr>
        <p:spPr>
          <a:xfrm>
            <a:off x="8321040" y="1965960"/>
            <a:ext cx="3611880" cy="457200"/>
          </a:xfrm>
          <a:prstGeom prst="roundRect">
            <a:avLst>
              <a:gd name="adj" fmla="val 16000"/>
            </a:avLst>
          </a:prstGeom>
          <a:solidFill>
            <a:srgbClr val="E3A343"/>
          </a:solidFill>
          <a:ln/>
        </p:spPr>
      </p:sp>
      <p:sp>
        <p:nvSpPr>
          <p:cNvPr id="22" name="Text 20"/>
          <p:cNvSpPr/>
          <p:nvPr/>
        </p:nvSpPr>
        <p:spPr>
          <a:xfrm>
            <a:off x="8503920" y="1965960"/>
            <a:ext cx="32461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Decision Supported</a:t>
            </a:r>
            <a:endParaRPr lang="en-US" sz="1300" dirty="0"/>
          </a:p>
        </p:txBody>
      </p:sp>
      <p:sp>
        <p:nvSpPr>
          <p:cNvPr id="23" name="Text 21"/>
          <p:cNvSpPr/>
          <p:nvPr/>
        </p:nvSpPr>
        <p:spPr>
          <a:xfrm>
            <a:off x="8522208" y="2587752"/>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Cutting Dining yields 3× the reward of cutting Entertainment — a non-obvious, data-driven insight</a:t>
            </a:r>
            <a:endParaRPr lang="en-US" sz="1100" dirty="0"/>
          </a:p>
        </p:txBody>
      </p:sp>
      <p:sp>
        <p:nvSpPr>
          <p:cNvPr id="24" name="Text 22"/>
          <p:cNvSpPr/>
          <p:nvPr/>
        </p:nvSpPr>
        <p:spPr>
          <a:xfrm>
            <a:off x="8522208" y="3429000"/>
            <a:ext cx="3227832" cy="8229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Specific ranked action plan, not generic advice</a:t>
            </a:r>
            <a:endParaRPr lang="en-US" sz="1100" dirty="0"/>
          </a:p>
        </p:txBody>
      </p:sp>
      <p:sp>
        <p:nvSpPr>
          <p:cNvPr id="25" name="Shape 23"/>
          <p:cNvSpPr/>
          <p:nvPr/>
        </p:nvSpPr>
        <p:spPr>
          <a:xfrm>
            <a:off x="548640" y="5623560"/>
            <a:ext cx="11064240" cy="548640"/>
          </a:xfrm>
          <a:prstGeom prst="roundRect">
            <a:avLst>
              <a:gd name="adj" fmla="val 10000"/>
            </a:avLst>
          </a:prstGeom>
          <a:solidFill>
            <a:srgbClr val="0B3350"/>
          </a:solidFill>
          <a:ln/>
        </p:spPr>
      </p:sp>
      <p:sp>
        <p:nvSpPr>
          <p:cNvPr id="26" name="Text 24"/>
          <p:cNvSpPr/>
          <p:nvPr/>
        </p:nvSpPr>
        <p:spPr>
          <a:xfrm>
            <a:off x="777240" y="5623560"/>
            <a:ext cx="10607040" cy="548640"/>
          </a:xfrm>
          <a:prstGeom prst="rect">
            <a:avLst/>
          </a:prstGeom>
          <a:noFill/>
          <a:ln/>
        </p:spPr>
        <p:txBody>
          <a:bodyPr wrap="square" lIns="0" tIns="0" rIns="0" bIns="0" rtlCol="0" anchor="ctr"/>
          <a:lstStyle/>
          <a:p>
            <a:pPr indent="0" marL="0">
              <a:buNone/>
            </a:pPr>
            <a:r>
              <a:rPr lang="en-US" sz="1100" dirty="0">
                <a:solidFill>
                  <a:srgbClr val="E7EEF1"/>
                </a:solidFill>
                <a:latin typeface="Calibri" pitchFamily="34" charset="0"/>
                <a:ea typeface="Calibri" pitchFamily="34" charset="-122"/>
                <a:cs typeface="Calibri" pitchFamily="34" charset="-120"/>
              </a:rPr>
              <a:t>Business impact: moves BudgetAI from passive alerting to active, prescriptive coaching.</a:t>
            </a:r>
            <a:endParaRPr lang="en-US" sz="1100" dirty="0"/>
          </a:p>
        </p:txBody>
      </p:sp>
      <p:sp>
        <p:nvSpPr>
          <p:cNvPr id="27" name="Text 25"/>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PROTOTYPE RESEARCH &amp; DESIGN</a:t>
            </a:r>
            <a:endParaRPr lang="en-US" sz="900" dirty="0"/>
          </a:p>
        </p:txBody>
      </p:sp>
      <p:sp>
        <p:nvSpPr>
          <p:cNvPr id="28" name="Text 26"/>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29" name="Text 27"/>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35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F30"/>
          </a:solidFill>
          <a:ln/>
        </p:spPr>
      </p:sp>
      <p:sp>
        <p:nvSpPr>
          <p:cNvPr id="3" name="Shape 1"/>
          <p:cNvSpPr/>
          <p:nvPr/>
        </p:nvSpPr>
        <p:spPr>
          <a:xfrm>
            <a:off x="9692640" y="-2377440"/>
            <a:ext cx="5943600" cy="5943600"/>
          </a:xfrm>
          <a:prstGeom prst="ellipse">
            <a:avLst/>
          </a:prstGeom>
          <a:solidFill>
            <a:srgbClr val="12786B"/>
          </a:solidFill>
          <a:ln/>
        </p:spPr>
      </p:sp>
      <p:sp>
        <p:nvSpPr>
          <p:cNvPr id="4" name="Shape 2"/>
          <p:cNvSpPr/>
          <p:nvPr/>
        </p:nvSpPr>
        <p:spPr>
          <a:xfrm>
            <a:off x="-3291840" y="6035040"/>
            <a:ext cx="3291840" cy="3291840"/>
          </a:xfrm>
          <a:prstGeom prst="ellipse">
            <a:avLst/>
          </a:prstGeom>
          <a:solidFill>
            <a:srgbClr val="E3A343"/>
          </a:solidFill>
          <a:ln/>
        </p:spPr>
      </p:sp>
      <p:sp>
        <p:nvSpPr>
          <p:cNvPr id="5" name="Text 3"/>
          <p:cNvSpPr/>
          <p:nvPr/>
        </p:nvSpPr>
        <p:spPr>
          <a:xfrm>
            <a:off x="731520" y="1965960"/>
            <a:ext cx="5486400" cy="365760"/>
          </a:xfrm>
          <a:prstGeom prst="rect">
            <a:avLst/>
          </a:prstGeom>
          <a:noFill/>
          <a:ln/>
        </p:spPr>
        <p:txBody>
          <a:bodyPr wrap="square" lIns="0" tIns="0" rIns="0" bIns="0" rtlCol="0" anchor="ctr"/>
          <a:lstStyle/>
          <a:p>
            <a:pPr indent="0" marL="0">
              <a:buNone/>
            </a:pPr>
            <a:r>
              <a:rPr lang="en-US" sz="1400" b="1" spc="200" kern="0" dirty="0">
                <a:solidFill>
                  <a:srgbClr val="E3A343"/>
                </a:solidFill>
                <a:latin typeface="Calibri" pitchFamily="34" charset="0"/>
                <a:ea typeface="Calibri" pitchFamily="34" charset="-122"/>
                <a:cs typeface="Calibri" pitchFamily="34" charset="-120"/>
              </a:rPr>
              <a:t>SECTION 03</a:t>
            </a:r>
            <a:endParaRPr lang="en-US" sz="1400" dirty="0"/>
          </a:p>
        </p:txBody>
      </p:sp>
      <p:sp>
        <p:nvSpPr>
          <p:cNvPr id="6" name="Text 4"/>
          <p:cNvSpPr/>
          <p:nvPr/>
        </p:nvSpPr>
        <p:spPr>
          <a:xfrm>
            <a:off x="713232" y="2331720"/>
            <a:ext cx="9601200" cy="155448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Agile Iterations, Integration</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&amp; Adoption Planning</a:t>
            </a:r>
            <a:endParaRPr lang="en-US" sz="4000" dirty="0"/>
          </a:p>
        </p:txBody>
      </p:sp>
      <p:sp>
        <p:nvSpPr>
          <p:cNvPr id="7" name="Shape 5"/>
          <p:cNvSpPr/>
          <p:nvPr/>
        </p:nvSpPr>
        <p:spPr>
          <a:xfrm>
            <a:off x="731520" y="3977640"/>
            <a:ext cx="2148840" cy="502920"/>
          </a:xfrm>
          <a:prstGeom prst="roundRect">
            <a:avLst>
              <a:gd name="adj" fmla="val 50909"/>
            </a:avLst>
          </a:prstGeom>
          <a:solidFill>
            <a:srgbClr val="12786B"/>
          </a:solidFill>
          <a:ln/>
        </p:spPr>
      </p:sp>
      <p:sp>
        <p:nvSpPr>
          <p:cNvPr id="8" name="Text 6"/>
          <p:cNvSpPr/>
          <p:nvPr/>
        </p:nvSpPr>
        <p:spPr>
          <a:xfrm>
            <a:off x="731520" y="3977640"/>
            <a:ext cx="21488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MINUTES</a:t>
            </a:r>
            <a:endParaRPr lang="en-US" sz="1300" dirty="0"/>
          </a:p>
        </p:txBody>
      </p:sp>
      <p:sp>
        <p:nvSpPr>
          <p:cNvPr id="9" name="Text 7"/>
          <p:cNvSpPr/>
          <p:nvPr/>
        </p:nvSpPr>
        <p:spPr>
          <a:xfrm>
            <a:off x="749808" y="480060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What changed after stakeholder feedback</a:t>
            </a:r>
            <a:endParaRPr lang="en-US" sz="1400" dirty="0"/>
          </a:p>
        </p:txBody>
      </p:sp>
      <p:sp>
        <p:nvSpPr>
          <p:cNvPr id="10" name="Text 8"/>
          <p:cNvSpPr/>
          <p:nvPr/>
        </p:nvSpPr>
        <p:spPr>
          <a:xfrm>
            <a:off x="749808" y="516636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Change management plan for adoption barriers</a:t>
            </a:r>
            <a:endParaRPr lang="en-US" sz="1400" dirty="0"/>
          </a:p>
        </p:txBody>
      </p:sp>
      <p:sp>
        <p:nvSpPr>
          <p:cNvPr id="11" name="Text 9"/>
          <p:cNvSpPr/>
          <p:nvPr/>
        </p:nvSpPr>
        <p:spPr>
          <a:xfrm>
            <a:off x="749808" y="553212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Integration with existing banking systems</a:t>
            </a:r>
            <a:endParaRPr lang="en-US" sz="1400" dirty="0"/>
          </a:p>
        </p:txBody>
      </p:sp>
      <p:sp>
        <p:nvSpPr>
          <p:cNvPr id="12" name="Text 10"/>
          <p:cNvSpPr/>
          <p:nvPr/>
        </p:nvSpPr>
        <p:spPr>
          <a:xfrm>
            <a:off x="749808" y="589788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Performance management plan and monitoring</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AGILE ITERATIONS &amp; ADOPTION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Iterating on Stakeholder Feedback</a:t>
            </a:r>
            <a:endParaRPr lang="en-US" sz="3000" dirty="0"/>
          </a:p>
        </p:txBody>
      </p:sp>
      <p:sp>
        <p:nvSpPr>
          <p:cNvPr id="4" name="Text 2"/>
          <p:cNvSpPr/>
          <p:nvPr/>
        </p:nvSpPr>
        <p:spPr>
          <a:xfrm>
            <a:off x="548640" y="1417320"/>
            <a:ext cx="11064240" cy="502920"/>
          </a:xfrm>
          <a:prstGeom prst="rect">
            <a:avLst/>
          </a:prstGeom>
          <a:noFill/>
          <a:ln/>
        </p:spPr>
        <p:txBody>
          <a:bodyPr wrap="square" lIns="0" tIns="0" rIns="0" bIns="0" rtlCol="0" anchor="ctr"/>
          <a:lstStyle/>
          <a:p>
            <a:pPr indent="0" marL="0">
              <a:buNone/>
            </a:pPr>
            <a:r>
              <a:rPr lang="en-US" sz="1250" dirty="0">
                <a:solidFill>
                  <a:srgbClr val="5B6B76"/>
                </a:solidFill>
                <a:latin typeface="Calibri" pitchFamily="34" charset="0"/>
                <a:ea typeface="Calibri" pitchFamily="34" charset="-122"/>
                <a:cs typeface="Calibri" pitchFamily="34" charset="-120"/>
              </a:rPr>
              <a:t>Anomaly detection (FR-05) was rebuilt twice to test the value of a GenAI-assisted iteration and a feedback loop suggested by the End User and Advisor stakeholders.</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4617720"/>
                <a:gridCol w="4617720"/>
              </a:tblGrid>
              <a:tr h="411480">
                <a:tc>
                  <a:txBody>
                    <a:bodyPr/>
                    <a:lstStyle/>
                    <a:p>
                      <a:pPr indent="0" marL="0">
                        <a:buNone/>
                      </a:pP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Prototype A (baseline)</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Prototype B (after iteration)</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566928">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Method</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Isolation Forest + LSTM Autoencoder only, fixed 5% contamination</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Same detectors + feedback-driven re-ranker using confirm/dismiss labels</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566928">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Anomalies caught</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6 of 23 injected anomalies</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Substantially higher recall with fewer false alarms (active-learning re-ranking)</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566928">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False alarms</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62 false alarms from a flat contamination rate</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Reduced via a supervised layer trained on real user feedback</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r h="566928">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Root cause found</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Sequence anomaly signal too faint against a full year of data at a fixed threshold</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c>
                  <a:txBody>
                    <a:bodyPr/>
                    <a:lstStyle/>
                    <a:p>
                      <a:pPr indent="0" marL="0">
                        <a:buNone/>
                      </a:pPr>
                      <a:r>
                        <a:rPr lang="en-US" sz="1080" dirty="0">
                          <a:solidFill>
                            <a:srgbClr val="1C2B36"/>
                          </a:solidFill>
                          <a:latin typeface="Calibri" pitchFamily="34" charset="0"/>
                          <a:ea typeface="Calibri" pitchFamily="34" charset="-122"/>
                          <a:cs typeface="Calibri" pitchFamily="34" charset="-120"/>
                        </a:rPr>
                        <a:t>Per-user feedback recalibrates sensitivity over time</a:t>
                      </a:r>
                      <a:endParaRPr lang="en-US" sz="1080" dirty="0">
                        <a:latin typeface="Calibri" charset="0"/>
                        <a:ea typeface="Calibri" charset="0"/>
                        <a:cs typeface="Calibri" charset="0"/>
                      </a:endParaRPr>
                    </a:p>
                  </a:txBody>
                  <a:tcPr marL="91440" marR="91440" marT="45720" marB="45720" anchor="ctr">
                    <a:lnL w="9525" cap="flat" cmpd="sng" algn="ctr">
                      <a:solidFill>
                        <a:srgbClr val="DCE3E7"/>
                      </a:solidFill>
                      <a:prstDash val="solid"/>
                      <a:round/>
                      <a:headEnd type="none" w="med" len="med"/>
                      <a:tailEnd type="none" w="med" len="med"/>
                    </a:lnL>
                    <a:lnR w="9525" cap="flat" cmpd="sng" algn="ctr">
                      <a:solidFill>
                        <a:srgbClr val="DCE3E7"/>
                      </a:solidFill>
                      <a:prstDash val="solid"/>
                      <a:round/>
                      <a:headEnd type="none" w="med" len="med"/>
                      <a:tailEnd type="none" w="med" len="med"/>
                    </a:lnR>
                    <a:lnT w="9525" cap="flat" cmpd="sng" algn="ctr">
                      <a:solidFill>
                        <a:srgbClr val="DCE3E7"/>
                      </a:solidFill>
                      <a:prstDash val="solid"/>
                      <a:round/>
                      <a:headEnd type="none" w="med" len="med"/>
                      <a:tailEnd type="none" w="med" len="med"/>
                    </a:lnT>
                    <a:lnB w="9525" cap="flat" cmpd="sng" algn="ctr">
                      <a:solidFill>
                        <a:srgbClr val="DCE3E7"/>
                      </a:solidFill>
                      <a:prstDash val="solid"/>
                      <a:round/>
                      <a:headEnd type="none" w="med" len="med"/>
                      <a:tailEnd type="none" w="med" len="med"/>
                    </a:lnB>
                  </a:tcPr>
                </a:tc>
              </a:tr>
            </a:tbl>
          </a:graphicData>
        </a:graphic>
      </p:graphicFrame>
      <p:sp>
        <p:nvSpPr>
          <p:cNvPr id="6" name="Shape 3"/>
          <p:cNvSpPr/>
          <p:nvPr/>
        </p:nvSpPr>
        <p:spPr>
          <a:xfrm>
            <a:off x="548640" y="2103120"/>
            <a:ext cx="11064240" cy="411480"/>
          </a:xfrm>
          <a:prstGeom prst="rect">
            <a:avLst/>
          </a:prstGeom>
          <a:solidFill>
            <a:srgbClr val="0B3350"/>
          </a:solidFill>
          <a:ln/>
        </p:spPr>
      </p:sp>
      <p:sp>
        <p:nvSpPr>
          <p:cNvPr id="7" name="Text 4"/>
          <p:cNvSpPr/>
          <p:nvPr/>
        </p:nvSpPr>
        <p:spPr>
          <a:xfrm>
            <a:off x="640080" y="2103120"/>
            <a:ext cx="1737360" cy="411480"/>
          </a:xfrm>
          <a:prstGeom prst="rect">
            <a:avLst/>
          </a:prstGeom>
          <a:noFill/>
          <a:ln/>
        </p:spPr>
        <p:txBody>
          <a:bodyPr wrap="square" lIns="0" tIns="0" rIns="0" bIns="0" rtlCol="0" anchor="ctr"/>
          <a:lstStyle/>
          <a:p>
            <a:pPr indent="0" marL="0">
              <a:buNone/>
            </a:pPr>
            <a:endParaRPr lang="en-US" sz="1150" dirty="0"/>
          </a:p>
        </p:txBody>
      </p:sp>
      <p:sp>
        <p:nvSpPr>
          <p:cNvPr id="8" name="Text 5"/>
          <p:cNvSpPr/>
          <p:nvPr/>
        </p:nvSpPr>
        <p:spPr>
          <a:xfrm>
            <a:off x="2468880" y="2103120"/>
            <a:ext cx="4526280" cy="4114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Prototype A (baseline)</a:t>
            </a:r>
            <a:endParaRPr lang="en-US" sz="1150" dirty="0"/>
          </a:p>
        </p:txBody>
      </p:sp>
      <p:sp>
        <p:nvSpPr>
          <p:cNvPr id="9" name="Text 6"/>
          <p:cNvSpPr/>
          <p:nvPr/>
        </p:nvSpPr>
        <p:spPr>
          <a:xfrm>
            <a:off x="7086600" y="2103120"/>
            <a:ext cx="4526280" cy="4114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Prototype B (after iteration)</a:t>
            </a:r>
            <a:endParaRPr lang="en-US" sz="1150" dirty="0"/>
          </a:p>
        </p:txBody>
      </p:sp>
      <p:sp>
        <p:nvSpPr>
          <p:cNvPr id="10" name="Text 7"/>
          <p:cNvSpPr/>
          <p:nvPr/>
        </p:nvSpPr>
        <p:spPr>
          <a:xfrm>
            <a:off x="548640" y="5806440"/>
            <a:ext cx="11064240" cy="502920"/>
          </a:xfrm>
          <a:prstGeom prst="rect">
            <a:avLst/>
          </a:prstGeom>
          <a:noFill/>
          <a:ln/>
        </p:spPr>
        <p:txBody>
          <a:bodyPr wrap="square" lIns="0" tIns="0" rIns="0" bIns="0" rtlCol="0" anchor="ctr"/>
          <a:lstStyle/>
          <a:p>
            <a:pPr indent="0" marL="0">
              <a:lnSpc>
                <a:spcPct val="115000"/>
              </a:lnSpc>
              <a:buNone/>
            </a:pPr>
            <a:r>
              <a:rPr lang="en-US" sz="1080" i="1" dirty="0">
                <a:solidFill>
                  <a:srgbClr val="5B6B76"/>
                </a:solidFill>
                <a:latin typeface="Calibri" pitchFamily="34" charset="0"/>
                <a:ea typeface="Calibri" pitchFamily="34" charset="-122"/>
                <a:cs typeface="Calibri" pitchFamily="34" charset="-120"/>
              </a:rPr>
              <a:t>Key lesson: research (Kopljar et al., 2024; Chen et al., 2024) confirmed that pairing unsupervised detectors with a user-feedback classifier is established practice — this became the top-priority backlog item for the next sprint.</a:t>
            </a:r>
            <a:endParaRPr lang="en-US" sz="1080" dirty="0"/>
          </a:p>
        </p:txBody>
      </p:sp>
      <p:sp>
        <p:nvSpPr>
          <p:cNvPr id="11" name="Text 8"/>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AGILE ITERATIONS &amp; ADOPTION</a:t>
            </a:r>
            <a:endParaRPr lang="en-US" sz="900" dirty="0"/>
          </a:p>
        </p:txBody>
      </p:sp>
      <p:sp>
        <p:nvSpPr>
          <p:cNvPr id="12" name="Text 9"/>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13" name="Text 10"/>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AGILE ITERATIONS &amp; ADOPTION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Change Management Plan</a:t>
            </a:r>
            <a:endParaRPr lang="en-US" sz="3000" dirty="0"/>
          </a:p>
        </p:txBody>
      </p:sp>
      <p:sp>
        <p:nvSpPr>
          <p:cNvPr id="4" name="Shape 2"/>
          <p:cNvSpPr/>
          <p:nvPr/>
        </p:nvSpPr>
        <p:spPr>
          <a:xfrm>
            <a:off x="548640" y="1508760"/>
            <a:ext cx="3611880" cy="4480560"/>
          </a:xfrm>
          <a:prstGeom prst="roundRect">
            <a:avLst>
              <a:gd name="adj" fmla="val 2278"/>
            </a:avLst>
          </a:prstGeom>
          <a:solidFill>
            <a:srgbClr val="FFFFFF"/>
          </a:solidFill>
          <a:ln w="12700">
            <a:solidFill>
              <a:srgbClr val="DCE3E7"/>
            </a:solidFill>
            <a:prstDash val="solid"/>
          </a:ln>
        </p:spPr>
      </p:sp>
      <p:sp>
        <p:nvSpPr>
          <p:cNvPr id="5" name="Shape 3"/>
          <p:cNvSpPr/>
          <p:nvPr/>
        </p:nvSpPr>
        <p:spPr>
          <a:xfrm>
            <a:off x="548640" y="1508760"/>
            <a:ext cx="3611880" cy="548640"/>
          </a:xfrm>
          <a:prstGeom prst="roundRect">
            <a:avLst>
              <a:gd name="adj" fmla="val 15000"/>
            </a:avLst>
          </a:prstGeom>
          <a:solidFill>
            <a:srgbClr val="0B3350"/>
          </a:solidFill>
          <a:ln/>
        </p:spPr>
      </p:sp>
      <p:sp>
        <p:nvSpPr>
          <p:cNvPr id="6" name="Shape 4"/>
          <p:cNvSpPr/>
          <p:nvPr/>
        </p:nvSpPr>
        <p:spPr>
          <a:xfrm>
            <a:off x="548640" y="1783080"/>
            <a:ext cx="3611880" cy="274320"/>
          </a:xfrm>
          <a:prstGeom prst="rect">
            <a:avLst/>
          </a:prstGeom>
          <a:solidFill>
            <a:srgbClr val="0B3350"/>
          </a:solidFill>
          <a:ln/>
        </p:spPr>
      </p:sp>
      <p:sp>
        <p:nvSpPr>
          <p:cNvPr id="7" name="Text 5"/>
          <p:cNvSpPr/>
          <p:nvPr/>
        </p:nvSpPr>
        <p:spPr>
          <a:xfrm>
            <a:off x="731520" y="1508760"/>
            <a:ext cx="324612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Cultural Barrier</a:t>
            </a:r>
            <a:endParaRPr lang="en-US" sz="1400" dirty="0"/>
          </a:p>
        </p:txBody>
      </p:sp>
      <p:sp>
        <p:nvSpPr>
          <p:cNvPr id="8" name="Text 6"/>
          <p:cNvSpPr/>
          <p:nvPr/>
        </p:nvSpPr>
        <p:spPr>
          <a:xfrm>
            <a:off x="749808" y="2194560"/>
            <a:ext cx="3246120" cy="256032"/>
          </a:xfrm>
          <a:prstGeom prst="rect">
            <a:avLst/>
          </a:prstGeom>
          <a:noFill/>
          <a:ln/>
        </p:spPr>
        <p:txBody>
          <a:bodyPr wrap="square" lIns="0" tIns="0" rIns="0" bIns="0" rtlCol="0" anchor="ctr"/>
          <a:lstStyle/>
          <a:p>
            <a:pPr indent="0" marL="0">
              <a:buNone/>
            </a:pPr>
            <a:r>
              <a:rPr lang="en-US" sz="950" b="1" dirty="0">
                <a:solidFill>
                  <a:srgbClr val="0B3350"/>
                </a:solidFill>
                <a:latin typeface="Calibri" pitchFamily="34" charset="0"/>
                <a:ea typeface="Calibri" pitchFamily="34" charset="-122"/>
                <a:cs typeface="Calibri" pitchFamily="34" charset="-120"/>
              </a:rPr>
              <a:t>BARRIER</a:t>
            </a:r>
            <a:endParaRPr lang="en-US" sz="950" dirty="0"/>
          </a:p>
        </p:txBody>
      </p:sp>
      <p:sp>
        <p:nvSpPr>
          <p:cNvPr id="9" name="Text 7"/>
          <p:cNvSpPr/>
          <p:nvPr/>
        </p:nvSpPr>
        <p:spPr>
          <a:xfrm>
            <a:off x="749808" y="2450592"/>
            <a:ext cx="3227832" cy="10515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Users distrust automated financial advice; fear the AI will be “too restrictive” on lifestyle spending.</a:t>
            </a:r>
            <a:endParaRPr lang="en-US" sz="1100" dirty="0"/>
          </a:p>
        </p:txBody>
      </p:sp>
      <p:sp>
        <p:nvSpPr>
          <p:cNvPr id="10" name="Shape 8"/>
          <p:cNvSpPr/>
          <p:nvPr/>
        </p:nvSpPr>
        <p:spPr>
          <a:xfrm>
            <a:off x="749808" y="3611880"/>
            <a:ext cx="3209544" cy="0"/>
          </a:xfrm>
          <a:prstGeom prst="line">
            <a:avLst/>
          </a:prstGeom>
          <a:noFill/>
          <a:ln w="12700">
            <a:solidFill>
              <a:srgbClr val="E3E8EB"/>
            </a:solidFill>
            <a:prstDash val="solid"/>
          </a:ln>
        </p:spPr>
      </p:sp>
      <p:sp>
        <p:nvSpPr>
          <p:cNvPr id="11" name="Text 9"/>
          <p:cNvSpPr/>
          <p:nvPr/>
        </p:nvSpPr>
        <p:spPr>
          <a:xfrm>
            <a:off x="749808" y="3749040"/>
            <a:ext cx="3246120" cy="256032"/>
          </a:xfrm>
          <a:prstGeom prst="rect">
            <a:avLst/>
          </a:prstGeom>
          <a:noFill/>
          <a:ln/>
        </p:spPr>
        <p:txBody>
          <a:bodyPr wrap="square" lIns="0" tIns="0" rIns="0" bIns="0" rtlCol="0" anchor="ctr"/>
          <a:lstStyle/>
          <a:p>
            <a:pPr indent="0" marL="0">
              <a:buNone/>
            </a:pPr>
            <a:r>
              <a:rPr lang="en-US" sz="950" b="1" dirty="0">
                <a:solidFill>
                  <a:srgbClr val="12786B"/>
                </a:solidFill>
                <a:latin typeface="Calibri" pitchFamily="34" charset="0"/>
                <a:ea typeface="Calibri" pitchFamily="34" charset="-122"/>
                <a:cs typeface="Calibri" pitchFamily="34" charset="-120"/>
              </a:rPr>
              <a:t>MITIGATION</a:t>
            </a:r>
            <a:endParaRPr lang="en-US" sz="950" dirty="0"/>
          </a:p>
        </p:txBody>
      </p:sp>
      <p:sp>
        <p:nvSpPr>
          <p:cNvPr id="12" name="Text 10"/>
          <p:cNvSpPr/>
          <p:nvPr/>
        </p:nvSpPr>
        <p:spPr>
          <a:xfrm>
            <a:off x="749808" y="4005072"/>
            <a:ext cx="3227832" cy="182880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Positioning as a coach, not a controller — every nudge is a suggestion the user can dismiss.</a:t>
            </a:r>
            <a:endParaRPr lang="en-US" sz="1100" dirty="0"/>
          </a:p>
        </p:txBody>
      </p:sp>
      <p:sp>
        <p:nvSpPr>
          <p:cNvPr id="13" name="Shape 11"/>
          <p:cNvSpPr/>
          <p:nvPr/>
        </p:nvSpPr>
        <p:spPr>
          <a:xfrm>
            <a:off x="4434840" y="1508760"/>
            <a:ext cx="3611880" cy="4480560"/>
          </a:xfrm>
          <a:prstGeom prst="roundRect">
            <a:avLst>
              <a:gd name="adj" fmla="val 2278"/>
            </a:avLst>
          </a:prstGeom>
          <a:solidFill>
            <a:srgbClr val="FFFFFF"/>
          </a:solidFill>
          <a:ln w="12700">
            <a:solidFill>
              <a:srgbClr val="DCE3E7"/>
            </a:solidFill>
            <a:prstDash val="solid"/>
          </a:ln>
        </p:spPr>
      </p:sp>
      <p:sp>
        <p:nvSpPr>
          <p:cNvPr id="14" name="Shape 12"/>
          <p:cNvSpPr/>
          <p:nvPr/>
        </p:nvSpPr>
        <p:spPr>
          <a:xfrm>
            <a:off x="4434840" y="1508760"/>
            <a:ext cx="3611880" cy="548640"/>
          </a:xfrm>
          <a:prstGeom prst="roundRect">
            <a:avLst>
              <a:gd name="adj" fmla="val 15000"/>
            </a:avLst>
          </a:prstGeom>
          <a:solidFill>
            <a:srgbClr val="12786B"/>
          </a:solidFill>
          <a:ln/>
        </p:spPr>
      </p:sp>
      <p:sp>
        <p:nvSpPr>
          <p:cNvPr id="15" name="Shape 13"/>
          <p:cNvSpPr/>
          <p:nvPr/>
        </p:nvSpPr>
        <p:spPr>
          <a:xfrm>
            <a:off x="4434840" y="1783080"/>
            <a:ext cx="3611880" cy="274320"/>
          </a:xfrm>
          <a:prstGeom prst="rect">
            <a:avLst/>
          </a:prstGeom>
          <a:solidFill>
            <a:srgbClr val="12786B"/>
          </a:solidFill>
          <a:ln/>
        </p:spPr>
      </p:sp>
      <p:sp>
        <p:nvSpPr>
          <p:cNvPr id="16" name="Text 14"/>
          <p:cNvSpPr/>
          <p:nvPr/>
        </p:nvSpPr>
        <p:spPr>
          <a:xfrm>
            <a:off x="4617720" y="1508760"/>
            <a:ext cx="324612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Psychological Barrier</a:t>
            </a:r>
            <a:endParaRPr lang="en-US" sz="1400" dirty="0"/>
          </a:p>
        </p:txBody>
      </p:sp>
      <p:sp>
        <p:nvSpPr>
          <p:cNvPr id="17" name="Text 15"/>
          <p:cNvSpPr/>
          <p:nvPr/>
        </p:nvSpPr>
        <p:spPr>
          <a:xfrm>
            <a:off x="4636008" y="2194560"/>
            <a:ext cx="3246120" cy="256032"/>
          </a:xfrm>
          <a:prstGeom prst="rect">
            <a:avLst/>
          </a:prstGeom>
          <a:noFill/>
          <a:ln/>
        </p:spPr>
        <p:txBody>
          <a:bodyPr wrap="square" lIns="0" tIns="0" rIns="0" bIns="0" rtlCol="0" anchor="ctr"/>
          <a:lstStyle/>
          <a:p>
            <a:pPr indent="0" marL="0">
              <a:buNone/>
            </a:pPr>
            <a:r>
              <a:rPr lang="en-US" sz="950" b="1" dirty="0">
                <a:solidFill>
                  <a:srgbClr val="12786B"/>
                </a:solidFill>
                <a:latin typeface="Calibri" pitchFamily="34" charset="0"/>
                <a:ea typeface="Calibri" pitchFamily="34" charset="-122"/>
                <a:cs typeface="Calibri" pitchFamily="34" charset="-120"/>
              </a:rPr>
              <a:t>BARRIER</a:t>
            </a:r>
            <a:endParaRPr lang="en-US" sz="950" dirty="0"/>
          </a:p>
        </p:txBody>
      </p:sp>
      <p:sp>
        <p:nvSpPr>
          <p:cNvPr id="18" name="Text 16"/>
          <p:cNvSpPr/>
          <p:nvPr/>
        </p:nvSpPr>
        <p:spPr>
          <a:xfrm>
            <a:off x="4636008" y="2450592"/>
            <a:ext cx="3227832" cy="10515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Alert fatigue from too many notifications erodes trust and engagement over time.</a:t>
            </a:r>
            <a:endParaRPr lang="en-US" sz="1100" dirty="0"/>
          </a:p>
        </p:txBody>
      </p:sp>
      <p:sp>
        <p:nvSpPr>
          <p:cNvPr id="19" name="Shape 17"/>
          <p:cNvSpPr/>
          <p:nvPr/>
        </p:nvSpPr>
        <p:spPr>
          <a:xfrm>
            <a:off x="4636008" y="3611880"/>
            <a:ext cx="3209544" cy="0"/>
          </a:xfrm>
          <a:prstGeom prst="line">
            <a:avLst/>
          </a:prstGeom>
          <a:noFill/>
          <a:ln w="12700">
            <a:solidFill>
              <a:srgbClr val="E3E8EB"/>
            </a:solidFill>
            <a:prstDash val="solid"/>
          </a:ln>
        </p:spPr>
      </p:sp>
      <p:sp>
        <p:nvSpPr>
          <p:cNvPr id="20" name="Text 18"/>
          <p:cNvSpPr/>
          <p:nvPr/>
        </p:nvSpPr>
        <p:spPr>
          <a:xfrm>
            <a:off x="4636008" y="3749040"/>
            <a:ext cx="3246120" cy="256032"/>
          </a:xfrm>
          <a:prstGeom prst="rect">
            <a:avLst/>
          </a:prstGeom>
          <a:noFill/>
          <a:ln/>
        </p:spPr>
        <p:txBody>
          <a:bodyPr wrap="square" lIns="0" tIns="0" rIns="0" bIns="0" rtlCol="0" anchor="ctr"/>
          <a:lstStyle/>
          <a:p>
            <a:pPr indent="0" marL="0">
              <a:buNone/>
            </a:pPr>
            <a:r>
              <a:rPr lang="en-US" sz="950" b="1" dirty="0">
                <a:solidFill>
                  <a:srgbClr val="12786B"/>
                </a:solidFill>
                <a:latin typeface="Calibri" pitchFamily="34" charset="0"/>
                <a:ea typeface="Calibri" pitchFamily="34" charset="-122"/>
                <a:cs typeface="Calibri" pitchFamily="34" charset="-120"/>
              </a:rPr>
              <a:t>MITIGATION</a:t>
            </a:r>
            <a:endParaRPr lang="en-US" sz="950" dirty="0"/>
          </a:p>
        </p:txBody>
      </p:sp>
      <p:sp>
        <p:nvSpPr>
          <p:cNvPr id="21" name="Text 19"/>
          <p:cNvSpPr/>
          <p:nvPr/>
        </p:nvSpPr>
        <p:spPr>
          <a:xfrm>
            <a:off x="4636008" y="4005072"/>
            <a:ext cx="3227832" cy="182880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Alert thresholds (60% risk, $120 weekend cap) tuned to fire only on meaningful signals; user-adjustable sensitivity.</a:t>
            </a:r>
            <a:endParaRPr lang="en-US" sz="1100" dirty="0"/>
          </a:p>
        </p:txBody>
      </p:sp>
      <p:sp>
        <p:nvSpPr>
          <p:cNvPr id="22" name="Shape 20"/>
          <p:cNvSpPr/>
          <p:nvPr/>
        </p:nvSpPr>
        <p:spPr>
          <a:xfrm>
            <a:off x="8321040" y="1508760"/>
            <a:ext cx="3611880" cy="4480560"/>
          </a:xfrm>
          <a:prstGeom prst="roundRect">
            <a:avLst>
              <a:gd name="adj" fmla="val 2278"/>
            </a:avLst>
          </a:prstGeom>
          <a:solidFill>
            <a:srgbClr val="FFFFFF"/>
          </a:solidFill>
          <a:ln w="12700">
            <a:solidFill>
              <a:srgbClr val="DCE3E7"/>
            </a:solidFill>
            <a:prstDash val="solid"/>
          </a:ln>
        </p:spPr>
      </p:sp>
      <p:sp>
        <p:nvSpPr>
          <p:cNvPr id="23" name="Shape 21"/>
          <p:cNvSpPr/>
          <p:nvPr/>
        </p:nvSpPr>
        <p:spPr>
          <a:xfrm>
            <a:off x="8321040" y="1508760"/>
            <a:ext cx="3611880" cy="548640"/>
          </a:xfrm>
          <a:prstGeom prst="roundRect">
            <a:avLst>
              <a:gd name="adj" fmla="val 15000"/>
            </a:avLst>
          </a:prstGeom>
          <a:solidFill>
            <a:srgbClr val="E3A343"/>
          </a:solidFill>
          <a:ln/>
        </p:spPr>
      </p:sp>
      <p:sp>
        <p:nvSpPr>
          <p:cNvPr id="24" name="Shape 22"/>
          <p:cNvSpPr/>
          <p:nvPr/>
        </p:nvSpPr>
        <p:spPr>
          <a:xfrm>
            <a:off x="8321040" y="1783080"/>
            <a:ext cx="3611880" cy="274320"/>
          </a:xfrm>
          <a:prstGeom prst="rect">
            <a:avLst/>
          </a:prstGeom>
          <a:solidFill>
            <a:srgbClr val="E3A343"/>
          </a:solidFill>
          <a:ln/>
        </p:spPr>
      </p:sp>
      <p:sp>
        <p:nvSpPr>
          <p:cNvPr id="25" name="Text 23"/>
          <p:cNvSpPr/>
          <p:nvPr/>
        </p:nvSpPr>
        <p:spPr>
          <a:xfrm>
            <a:off x="8503920" y="1508760"/>
            <a:ext cx="324612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Operational Barrier</a:t>
            </a:r>
            <a:endParaRPr lang="en-US" sz="1400" dirty="0"/>
          </a:p>
        </p:txBody>
      </p:sp>
      <p:sp>
        <p:nvSpPr>
          <p:cNvPr id="26" name="Text 24"/>
          <p:cNvSpPr/>
          <p:nvPr/>
        </p:nvSpPr>
        <p:spPr>
          <a:xfrm>
            <a:off x="8522208" y="2194560"/>
            <a:ext cx="3246120" cy="256032"/>
          </a:xfrm>
          <a:prstGeom prst="rect">
            <a:avLst/>
          </a:prstGeom>
          <a:noFill/>
          <a:ln/>
        </p:spPr>
        <p:txBody>
          <a:bodyPr wrap="square" lIns="0" tIns="0" rIns="0" bIns="0" rtlCol="0" anchor="ctr"/>
          <a:lstStyle/>
          <a:p>
            <a:pPr indent="0" marL="0">
              <a:buNone/>
            </a:pPr>
            <a:r>
              <a:rPr lang="en-US" sz="950" b="1" dirty="0">
                <a:solidFill>
                  <a:srgbClr val="E3A343"/>
                </a:solidFill>
                <a:latin typeface="Calibri" pitchFamily="34" charset="0"/>
                <a:ea typeface="Calibri" pitchFamily="34" charset="-122"/>
                <a:cs typeface="Calibri" pitchFamily="34" charset="-120"/>
              </a:rPr>
              <a:t>BARRIER</a:t>
            </a:r>
            <a:endParaRPr lang="en-US" sz="950" dirty="0"/>
          </a:p>
        </p:txBody>
      </p:sp>
      <p:sp>
        <p:nvSpPr>
          <p:cNvPr id="27" name="Text 25"/>
          <p:cNvSpPr/>
          <p:nvPr/>
        </p:nvSpPr>
        <p:spPr>
          <a:xfrm>
            <a:off x="8522208" y="2450592"/>
            <a:ext cx="3227832" cy="10515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Advisors need a new workflow; onboarding friction risks abandonment before value is seen.</a:t>
            </a:r>
            <a:endParaRPr lang="en-US" sz="1100" dirty="0"/>
          </a:p>
        </p:txBody>
      </p:sp>
      <p:sp>
        <p:nvSpPr>
          <p:cNvPr id="28" name="Shape 26"/>
          <p:cNvSpPr/>
          <p:nvPr/>
        </p:nvSpPr>
        <p:spPr>
          <a:xfrm>
            <a:off x="8522208" y="3611880"/>
            <a:ext cx="3209544" cy="0"/>
          </a:xfrm>
          <a:prstGeom prst="line">
            <a:avLst/>
          </a:prstGeom>
          <a:noFill/>
          <a:ln w="12700">
            <a:solidFill>
              <a:srgbClr val="E3E8EB"/>
            </a:solidFill>
            <a:prstDash val="solid"/>
          </a:ln>
        </p:spPr>
      </p:sp>
      <p:sp>
        <p:nvSpPr>
          <p:cNvPr id="29" name="Text 27"/>
          <p:cNvSpPr/>
          <p:nvPr/>
        </p:nvSpPr>
        <p:spPr>
          <a:xfrm>
            <a:off x="8522208" y="3749040"/>
            <a:ext cx="3246120" cy="256032"/>
          </a:xfrm>
          <a:prstGeom prst="rect">
            <a:avLst/>
          </a:prstGeom>
          <a:noFill/>
          <a:ln/>
        </p:spPr>
        <p:txBody>
          <a:bodyPr wrap="square" lIns="0" tIns="0" rIns="0" bIns="0" rtlCol="0" anchor="ctr"/>
          <a:lstStyle/>
          <a:p>
            <a:pPr indent="0" marL="0">
              <a:buNone/>
            </a:pPr>
            <a:r>
              <a:rPr lang="en-US" sz="950" b="1" dirty="0">
                <a:solidFill>
                  <a:srgbClr val="12786B"/>
                </a:solidFill>
                <a:latin typeface="Calibri" pitchFamily="34" charset="0"/>
                <a:ea typeface="Calibri" pitchFamily="34" charset="-122"/>
                <a:cs typeface="Calibri" pitchFamily="34" charset="-120"/>
              </a:rPr>
              <a:t>MITIGATION</a:t>
            </a:r>
            <a:endParaRPr lang="en-US" sz="950" dirty="0"/>
          </a:p>
        </p:txBody>
      </p:sp>
      <p:sp>
        <p:nvSpPr>
          <p:cNvPr id="30" name="Text 28"/>
          <p:cNvSpPr/>
          <p:nvPr/>
        </p:nvSpPr>
        <p:spPr>
          <a:xfrm>
            <a:off x="8522208" y="4005072"/>
            <a:ext cx="3227832" cy="182880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Guided onboarding (CSV/Open Banking → categorization review → goal input) targets ≥75% completion; advisor portal for aggregate views.</a:t>
            </a:r>
            <a:endParaRPr lang="en-US" sz="1100" dirty="0"/>
          </a:p>
        </p:txBody>
      </p:sp>
      <p:sp>
        <p:nvSpPr>
          <p:cNvPr id="31" name="Text 2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AGILE ITERATIONS &amp; ADOPTION</a:t>
            </a:r>
            <a:endParaRPr lang="en-US" sz="900" dirty="0"/>
          </a:p>
        </p:txBody>
      </p:sp>
      <p:sp>
        <p:nvSpPr>
          <p:cNvPr id="32" name="Text 30"/>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33" name="Text 31"/>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AGILE ITERATIONS &amp; ADOPTION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Integration Plan</a:t>
            </a:r>
            <a:endParaRPr lang="en-US" sz="3000" dirty="0"/>
          </a:p>
        </p:txBody>
      </p:sp>
      <p:sp>
        <p:nvSpPr>
          <p:cNvPr id="4" name="Text 2"/>
          <p:cNvSpPr/>
          <p:nvPr/>
        </p:nvSpPr>
        <p:spPr>
          <a:xfrm>
            <a:off x="548640" y="1417320"/>
            <a:ext cx="11064240" cy="365760"/>
          </a:xfrm>
          <a:prstGeom prst="rect">
            <a:avLst/>
          </a:prstGeom>
          <a:noFill/>
          <a:ln/>
        </p:spPr>
        <p:txBody>
          <a:bodyPr wrap="square" lIns="0" tIns="0" rIns="0" bIns="0" rtlCol="0" anchor="ctr"/>
          <a:lstStyle/>
          <a:p>
            <a:pPr indent="0" marL="0">
              <a:buNone/>
            </a:pPr>
            <a:r>
              <a:rPr lang="en-US" sz="1250" dirty="0">
                <a:solidFill>
                  <a:srgbClr val="5B6B76"/>
                </a:solidFill>
                <a:latin typeface="Calibri" pitchFamily="34" charset="0"/>
                <a:ea typeface="Calibri" pitchFamily="34" charset="-122"/>
                <a:cs typeface="Calibri" pitchFamily="34" charset="-120"/>
              </a:rPr>
              <a:t>BudgetAI is designed to sit alongside — not replace — existing banking systems, connecting through standard, auditable interfaces.</a:t>
            </a:r>
            <a:endParaRPr lang="en-US" sz="1250" dirty="0"/>
          </a:p>
        </p:txBody>
      </p:sp>
      <p:sp>
        <p:nvSpPr>
          <p:cNvPr id="5" name="Shape 3"/>
          <p:cNvSpPr/>
          <p:nvPr/>
        </p:nvSpPr>
        <p:spPr>
          <a:xfrm>
            <a:off x="548640" y="1965960"/>
            <a:ext cx="2606040" cy="777240"/>
          </a:xfrm>
          <a:prstGeom prst="roundRect">
            <a:avLst>
              <a:gd name="adj" fmla="val 9412"/>
            </a:avLst>
          </a:prstGeom>
          <a:solidFill>
            <a:srgbClr val="0B3350"/>
          </a:solidFill>
          <a:ln/>
        </p:spPr>
      </p:sp>
      <p:sp>
        <p:nvSpPr>
          <p:cNvPr id="6" name="Text 4"/>
          <p:cNvSpPr/>
          <p:nvPr/>
        </p:nvSpPr>
        <p:spPr>
          <a:xfrm>
            <a:off x="548640" y="1965960"/>
            <a:ext cx="2606040" cy="77724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CSV Upload</a:t>
            </a:r>
            <a:endParaRPr lang="en-US" sz="1150" dirty="0"/>
          </a:p>
        </p:txBody>
      </p:sp>
      <p:sp>
        <p:nvSpPr>
          <p:cNvPr id="7" name="Shape 5"/>
          <p:cNvSpPr/>
          <p:nvPr/>
        </p:nvSpPr>
        <p:spPr>
          <a:xfrm>
            <a:off x="3383280" y="1965960"/>
            <a:ext cx="2606040" cy="777240"/>
          </a:xfrm>
          <a:prstGeom prst="roundRect">
            <a:avLst>
              <a:gd name="adj" fmla="val 9412"/>
            </a:avLst>
          </a:prstGeom>
          <a:solidFill>
            <a:srgbClr val="0B3350"/>
          </a:solidFill>
          <a:ln/>
        </p:spPr>
      </p:sp>
      <p:sp>
        <p:nvSpPr>
          <p:cNvPr id="8" name="Text 6"/>
          <p:cNvSpPr/>
          <p:nvPr/>
        </p:nvSpPr>
        <p:spPr>
          <a:xfrm>
            <a:off x="3383280" y="1965960"/>
            <a:ext cx="2606040" cy="77724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Legacy Bank</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REST Adapter</a:t>
            </a:r>
            <a:endParaRPr lang="en-US" sz="1150" dirty="0"/>
          </a:p>
        </p:txBody>
      </p:sp>
      <p:sp>
        <p:nvSpPr>
          <p:cNvPr id="9" name="Shape 7"/>
          <p:cNvSpPr/>
          <p:nvPr/>
        </p:nvSpPr>
        <p:spPr>
          <a:xfrm>
            <a:off x="6217920" y="1965960"/>
            <a:ext cx="2606040" cy="777240"/>
          </a:xfrm>
          <a:prstGeom prst="roundRect">
            <a:avLst>
              <a:gd name="adj" fmla="val 9412"/>
            </a:avLst>
          </a:prstGeom>
          <a:solidFill>
            <a:srgbClr val="0B3350"/>
          </a:solidFill>
          <a:ln/>
        </p:spPr>
      </p:sp>
      <p:sp>
        <p:nvSpPr>
          <p:cNvPr id="10" name="Text 8"/>
          <p:cNvSpPr/>
          <p:nvPr/>
        </p:nvSpPr>
        <p:spPr>
          <a:xfrm>
            <a:off x="6217920" y="1965960"/>
            <a:ext cx="2606040" cy="77724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Open Banking</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OAuth 2.0</a:t>
            </a:r>
            <a:endParaRPr lang="en-US" sz="1150" dirty="0"/>
          </a:p>
        </p:txBody>
      </p:sp>
      <p:sp>
        <p:nvSpPr>
          <p:cNvPr id="11" name="Shape 9"/>
          <p:cNvSpPr/>
          <p:nvPr/>
        </p:nvSpPr>
        <p:spPr>
          <a:xfrm>
            <a:off x="9052560" y="1965960"/>
            <a:ext cx="2606040" cy="777240"/>
          </a:xfrm>
          <a:prstGeom prst="roundRect">
            <a:avLst>
              <a:gd name="adj" fmla="val 9412"/>
            </a:avLst>
          </a:prstGeom>
          <a:solidFill>
            <a:srgbClr val="0B3350"/>
          </a:solidFill>
          <a:ln/>
        </p:spPr>
      </p:sp>
      <p:sp>
        <p:nvSpPr>
          <p:cNvPr id="12" name="Text 10"/>
          <p:cNvSpPr/>
          <p:nvPr/>
        </p:nvSpPr>
        <p:spPr>
          <a:xfrm>
            <a:off x="9052560" y="1965960"/>
            <a:ext cx="2606040" cy="77724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Real-Time</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Webhook</a:t>
            </a:r>
            <a:endParaRPr lang="en-US" sz="1150" dirty="0"/>
          </a:p>
        </p:txBody>
      </p:sp>
      <p:sp>
        <p:nvSpPr>
          <p:cNvPr id="13" name="Shape 11"/>
          <p:cNvSpPr/>
          <p:nvPr/>
        </p:nvSpPr>
        <p:spPr>
          <a:xfrm>
            <a:off x="6309360" y="2743200"/>
            <a:ext cx="0" cy="365760"/>
          </a:xfrm>
          <a:prstGeom prst="line">
            <a:avLst/>
          </a:prstGeom>
          <a:noFill/>
          <a:ln w="19050">
            <a:solidFill>
              <a:srgbClr val="5B6B76"/>
            </a:solidFill>
            <a:prstDash val="solid"/>
            <a:tailEnd type="triangle"/>
          </a:ln>
        </p:spPr>
      </p:sp>
      <p:sp>
        <p:nvSpPr>
          <p:cNvPr id="14" name="Shape 12"/>
          <p:cNvSpPr/>
          <p:nvPr/>
        </p:nvSpPr>
        <p:spPr>
          <a:xfrm>
            <a:off x="3291840" y="3108960"/>
            <a:ext cx="6035040" cy="502920"/>
          </a:xfrm>
          <a:prstGeom prst="roundRect">
            <a:avLst>
              <a:gd name="adj" fmla="val 50909"/>
            </a:avLst>
          </a:prstGeom>
          <a:solidFill>
            <a:srgbClr val="12786B"/>
          </a:solidFill>
          <a:ln/>
        </p:spPr>
      </p:sp>
      <p:sp>
        <p:nvSpPr>
          <p:cNvPr id="15" name="Text 13"/>
          <p:cNvSpPr/>
          <p:nvPr/>
        </p:nvSpPr>
        <p:spPr>
          <a:xfrm>
            <a:off x="3291840" y="3108960"/>
            <a:ext cx="60350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Unified Schema — date · amount · category · balance · is_recurring</a:t>
            </a:r>
            <a:endParaRPr lang="en-US" sz="1100" dirty="0"/>
          </a:p>
        </p:txBody>
      </p:sp>
      <p:sp>
        <p:nvSpPr>
          <p:cNvPr id="16" name="Shape 14"/>
          <p:cNvSpPr/>
          <p:nvPr/>
        </p:nvSpPr>
        <p:spPr>
          <a:xfrm>
            <a:off x="6309360" y="3611880"/>
            <a:ext cx="0" cy="320040"/>
          </a:xfrm>
          <a:prstGeom prst="line">
            <a:avLst/>
          </a:prstGeom>
          <a:noFill/>
          <a:ln w="19050">
            <a:solidFill>
              <a:srgbClr val="5B6B76"/>
            </a:solidFill>
            <a:prstDash val="solid"/>
            <a:tailEnd type="triangle"/>
          </a:ln>
        </p:spPr>
      </p:sp>
      <p:sp>
        <p:nvSpPr>
          <p:cNvPr id="17" name="Shape 15"/>
          <p:cNvSpPr/>
          <p:nvPr/>
        </p:nvSpPr>
        <p:spPr>
          <a:xfrm>
            <a:off x="3291840" y="3931920"/>
            <a:ext cx="6035040" cy="502920"/>
          </a:xfrm>
          <a:prstGeom prst="roundRect">
            <a:avLst>
              <a:gd name="adj" fmla="val 10909"/>
            </a:avLst>
          </a:prstGeom>
          <a:solidFill>
            <a:srgbClr val="E3A343"/>
          </a:solidFill>
          <a:ln/>
        </p:spPr>
      </p:sp>
      <p:sp>
        <p:nvSpPr>
          <p:cNvPr id="18" name="Text 16"/>
          <p:cNvSpPr/>
          <p:nvPr/>
        </p:nvSpPr>
        <p:spPr>
          <a:xfrm>
            <a:off x="3291840" y="3931920"/>
            <a:ext cx="6035040" cy="502920"/>
          </a:xfrm>
          <a:prstGeom prst="rect">
            <a:avLst/>
          </a:prstGeom>
          <a:noFill/>
          <a:ln/>
        </p:spPr>
        <p:txBody>
          <a:bodyPr wrap="square" lIns="0" tIns="0" rIns="0" bIns="0" rtlCol="0" anchor="ctr"/>
          <a:lstStyle/>
          <a:p>
            <a:pPr algn="ctr" indent="0" marL="0">
              <a:buNone/>
            </a:pPr>
            <a:r>
              <a:rPr lang="en-US" sz="1100" b="1" dirty="0">
                <a:solidFill>
                  <a:srgbClr val="0B3350"/>
                </a:solidFill>
                <a:latin typeface="Calibri" pitchFamily="34" charset="0"/>
                <a:ea typeface="Calibri" pitchFamily="34" charset="-122"/>
                <a:cs typeface="Calibri" pitchFamily="34" charset="-120"/>
              </a:rPr>
              <a:t>FastAPI Gateway  →  4 ML Modules  →  Dashboard / Advisor Portal</a:t>
            </a:r>
            <a:endParaRPr lang="en-US" sz="1100" dirty="0"/>
          </a:p>
        </p:txBody>
      </p:sp>
      <p:sp>
        <p:nvSpPr>
          <p:cNvPr id="19" name="Shape 17"/>
          <p:cNvSpPr/>
          <p:nvPr/>
        </p:nvSpPr>
        <p:spPr>
          <a:xfrm>
            <a:off x="548640" y="4892040"/>
            <a:ext cx="11064240" cy="1325880"/>
          </a:xfrm>
          <a:prstGeom prst="roundRect">
            <a:avLst>
              <a:gd name="adj" fmla="val 5517"/>
            </a:avLst>
          </a:prstGeom>
          <a:solidFill>
            <a:srgbClr val="EEF2F4"/>
          </a:solidFill>
          <a:ln/>
        </p:spPr>
      </p:sp>
      <p:sp>
        <p:nvSpPr>
          <p:cNvPr id="20" name="Text 18"/>
          <p:cNvSpPr/>
          <p:nvPr/>
        </p:nvSpPr>
        <p:spPr>
          <a:xfrm>
            <a:off x="777240" y="5010912"/>
            <a:ext cx="3657600" cy="274320"/>
          </a:xfrm>
          <a:prstGeom prst="rect">
            <a:avLst/>
          </a:prstGeom>
          <a:noFill/>
          <a:ln/>
        </p:spPr>
        <p:txBody>
          <a:bodyPr wrap="square" lIns="0" tIns="0" rIns="0" bIns="0" rtlCol="0" anchor="ctr"/>
          <a:lstStyle/>
          <a:p>
            <a:pPr indent="0" marL="0">
              <a:buNone/>
            </a:pPr>
            <a:r>
              <a:rPr lang="en-US" sz="1250" b="1" dirty="0">
                <a:solidFill>
                  <a:srgbClr val="0B3350"/>
                </a:solidFill>
                <a:latin typeface="Calibri" pitchFamily="34" charset="0"/>
                <a:ea typeface="Calibri" pitchFamily="34" charset="-122"/>
                <a:cs typeface="Calibri" pitchFamily="34" charset="-120"/>
              </a:rPr>
              <a:t>Phased Rollout</a:t>
            </a:r>
            <a:endParaRPr lang="en-US" sz="1250" dirty="0"/>
          </a:p>
        </p:txBody>
      </p:sp>
      <p:sp>
        <p:nvSpPr>
          <p:cNvPr id="21" name="Text 19"/>
          <p:cNvSpPr/>
          <p:nvPr/>
        </p:nvSpPr>
        <p:spPr>
          <a:xfrm>
            <a:off x="777240" y="5321808"/>
            <a:ext cx="10607040" cy="777240"/>
          </a:xfrm>
          <a:prstGeom prst="rect">
            <a:avLst/>
          </a:prstGeom>
          <a:noFill/>
          <a:ln/>
        </p:spPr>
        <p:txBody>
          <a:bodyPr wrap="square" lIns="0" tIns="0" rIns="0" bIns="0" rtlCol="0" anchor="ctr"/>
          <a:lstStyle/>
          <a:p>
            <a:pPr indent="0" marL="0">
              <a:lnSpc>
                <a:spcPct val="120000"/>
              </a:lnSpc>
              <a:buNone/>
            </a:pPr>
            <a:r>
              <a:rPr lang="en-US" sz="1100" dirty="0">
                <a:solidFill>
                  <a:srgbClr val="1C2B36"/>
                </a:solidFill>
                <a:latin typeface="Calibri" pitchFamily="34" charset="0"/>
                <a:ea typeface="Calibri" pitchFamily="34" charset="-122"/>
                <a:cs typeface="Calibri" pitchFamily="34" charset="-120"/>
              </a:rPr>
              <a:t>Phase 1 (Mo. 1–2): Docker Compose monolith, internal testing.   Phase 2 (Mo. 3–4): AWS ECS Fargate production via Terraform.   Phase 3 (Mo. 5+): Microservice decomposition as traffic warrants.</a:t>
            </a:r>
            <a:endParaRPr lang="en-US" sz="1100" dirty="0"/>
          </a:p>
        </p:txBody>
      </p:sp>
      <p:sp>
        <p:nvSpPr>
          <p:cNvPr id="22" name="Text 2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AGILE ITERATIONS &amp; ADOPTION</a:t>
            </a:r>
            <a:endParaRPr lang="en-US" sz="900" dirty="0"/>
          </a:p>
        </p:txBody>
      </p:sp>
      <p:sp>
        <p:nvSpPr>
          <p:cNvPr id="23" name="Text 21"/>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24" name="Text 22"/>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AGILE ITERATIONS &amp; ADOPTION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Performance Management Plan</a:t>
            </a:r>
            <a:endParaRPr lang="en-US" sz="3000" dirty="0"/>
          </a:p>
        </p:txBody>
      </p:sp>
      <p:sp>
        <p:nvSpPr>
          <p:cNvPr id="4" name="Text 2"/>
          <p:cNvSpPr/>
          <p:nvPr/>
        </p:nvSpPr>
        <p:spPr>
          <a:xfrm>
            <a:off x="548640" y="1417320"/>
            <a:ext cx="5394960" cy="320040"/>
          </a:xfrm>
          <a:prstGeom prst="rect">
            <a:avLst/>
          </a:prstGeom>
          <a:noFill/>
          <a:ln/>
        </p:spPr>
        <p:txBody>
          <a:bodyPr wrap="square" lIns="0" tIns="0" rIns="0" bIns="0" rtlCol="0" anchor="ctr"/>
          <a:lstStyle/>
          <a:p>
            <a:pPr indent="0" marL="0">
              <a:buNone/>
            </a:pPr>
            <a:r>
              <a:rPr lang="en-US" sz="1400" b="1" dirty="0">
                <a:solidFill>
                  <a:srgbClr val="0B3350"/>
                </a:solidFill>
                <a:latin typeface="Calibri" pitchFamily="34" charset="0"/>
                <a:ea typeface="Calibri" pitchFamily="34" charset="-122"/>
                <a:cs typeface="Calibri" pitchFamily="34" charset="-120"/>
              </a:rPr>
              <a:t>Key KPIs</a:t>
            </a:r>
            <a:endParaRPr lang="en-US" sz="1400" dirty="0"/>
          </a:p>
        </p:txBody>
      </p:sp>
      <p:sp>
        <p:nvSpPr>
          <p:cNvPr id="5" name="Text 3"/>
          <p:cNvSpPr/>
          <p:nvPr/>
        </p:nvSpPr>
        <p:spPr>
          <a:xfrm>
            <a:off x="548640" y="1783080"/>
            <a:ext cx="5394960" cy="365760"/>
          </a:xfrm>
          <a:prstGeom prst="rect">
            <a:avLst/>
          </a:prstGeom>
          <a:noFill/>
          <a:ln/>
        </p:spPr>
        <p:txBody>
          <a:bodyPr wrap="square" lIns="0" tIns="0" rIns="0" bIns="0" rtlCol="0" anchor="ctr"/>
          <a:lstStyle/>
          <a:p>
            <a:pPr indent="0" marL="0">
              <a:buNone/>
            </a:pPr>
            <a:r>
              <a:rPr lang="en-US" sz="1150" dirty="0">
                <a:solidFill>
                  <a:srgbClr val="1C2B36"/>
                </a:solidFill>
                <a:latin typeface="Calibri" pitchFamily="34" charset="0"/>
                <a:ea typeface="Calibri" pitchFamily="34" charset="-122"/>
                <a:cs typeface="Calibri" pitchFamily="34" charset="-120"/>
              </a:rPr>
              <a:t>•  Forecast RMSE &lt; 5% of monthly spend</a:t>
            </a:r>
            <a:endParaRPr lang="en-US" sz="1150" dirty="0"/>
          </a:p>
        </p:txBody>
      </p:sp>
      <p:sp>
        <p:nvSpPr>
          <p:cNvPr id="6" name="Text 4"/>
          <p:cNvSpPr/>
          <p:nvPr/>
        </p:nvSpPr>
        <p:spPr>
          <a:xfrm>
            <a:off x="548640" y="2185416"/>
            <a:ext cx="5394960" cy="365760"/>
          </a:xfrm>
          <a:prstGeom prst="rect">
            <a:avLst/>
          </a:prstGeom>
          <a:noFill/>
          <a:ln/>
        </p:spPr>
        <p:txBody>
          <a:bodyPr wrap="square" lIns="0" tIns="0" rIns="0" bIns="0" rtlCol="0" anchor="ctr"/>
          <a:lstStyle/>
          <a:p>
            <a:pPr indent="0" marL="0">
              <a:buNone/>
            </a:pPr>
            <a:r>
              <a:rPr lang="en-US" sz="1150" dirty="0">
                <a:solidFill>
                  <a:srgbClr val="1C2B36"/>
                </a:solidFill>
                <a:latin typeface="Calibri" pitchFamily="34" charset="0"/>
                <a:ea typeface="Calibri" pitchFamily="34" charset="-122"/>
                <a:cs typeface="Calibri" pitchFamily="34" charset="-120"/>
              </a:rPr>
              <a:t>•  Anomaly alert latency &lt; 2 seconds</a:t>
            </a:r>
            <a:endParaRPr lang="en-US" sz="1150" dirty="0"/>
          </a:p>
        </p:txBody>
      </p:sp>
      <p:sp>
        <p:nvSpPr>
          <p:cNvPr id="7" name="Text 5"/>
          <p:cNvSpPr/>
          <p:nvPr/>
        </p:nvSpPr>
        <p:spPr>
          <a:xfrm>
            <a:off x="548640" y="2587752"/>
            <a:ext cx="5394960" cy="365760"/>
          </a:xfrm>
          <a:prstGeom prst="rect">
            <a:avLst/>
          </a:prstGeom>
          <a:noFill/>
          <a:ln/>
        </p:spPr>
        <p:txBody>
          <a:bodyPr wrap="square" lIns="0" tIns="0" rIns="0" bIns="0" rtlCol="0" anchor="ctr"/>
          <a:lstStyle/>
          <a:p>
            <a:pPr indent="0" marL="0">
              <a:buNone/>
            </a:pPr>
            <a:r>
              <a:rPr lang="en-US" sz="1150" dirty="0">
                <a:solidFill>
                  <a:srgbClr val="1C2B36"/>
                </a:solidFill>
                <a:latin typeface="Calibri" pitchFamily="34" charset="0"/>
                <a:ea typeface="Calibri" pitchFamily="34" charset="-122"/>
                <a:cs typeface="Calibri" pitchFamily="34" charset="-120"/>
              </a:rPr>
              <a:t>•  SHAP-justification coverage: 100%</a:t>
            </a:r>
            <a:endParaRPr lang="en-US" sz="1150" dirty="0"/>
          </a:p>
        </p:txBody>
      </p:sp>
      <p:sp>
        <p:nvSpPr>
          <p:cNvPr id="8" name="Text 6"/>
          <p:cNvSpPr/>
          <p:nvPr/>
        </p:nvSpPr>
        <p:spPr>
          <a:xfrm>
            <a:off x="548640" y="2990088"/>
            <a:ext cx="5394960" cy="365760"/>
          </a:xfrm>
          <a:prstGeom prst="rect">
            <a:avLst/>
          </a:prstGeom>
          <a:noFill/>
          <a:ln/>
        </p:spPr>
        <p:txBody>
          <a:bodyPr wrap="square" lIns="0" tIns="0" rIns="0" bIns="0" rtlCol="0" anchor="ctr"/>
          <a:lstStyle/>
          <a:p>
            <a:pPr indent="0" marL="0">
              <a:buNone/>
            </a:pPr>
            <a:r>
              <a:rPr lang="en-US" sz="1150" dirty="0">
                <a:solidFill>
                  <a:srgbClr val="1C2B36"/>
                </a:solidFill>
                <a:latin typeface="Calibri" pitchFamily="34" charset="0"/>
                <a:ea typeface="Calibri" pitchFamily="34" charset="-122"/>
                <a:cs typeface="Calibri" pitchFamily="34" charset="-120"/>
              </a:rPr>
              <a:t>•  Weekly retrain accuracy drift &lt; 1%</a:t>
            </a:r>
            <a:endParaRPr lang="en-US" sz="1150" dirty="0"/>
          </a:p>
        </p:txBody>
      </p:sp>
      <p:sp>
        <p:nvSpPr>
          <p:cNvPr id="9" name="Text 7"/>
          <p:cNvSpPr/>
          <p:nvPr/>
        </p:nvSpPr>
        <p:spPr>
          <a:xfrm>
            <a:off x="548640" y="3392424"/>
            <a:ext cx="5394960" cy="365760"/>
          </a:xfrm>
          <a:prstGeom prst="rect">
            <a:avLst/>
          </a:prstGeom>
          <a:noFill/>
          <a:ln/>
        </p:spPr>
        <p:txBody>
          <a:bodyPr wrap="square" lIns="0" tIns="0" rIns="0" bIns="0" rtlCol="0" anchor="ctr"/>
          <a:lstStyle/>
          <a:p>
            <a:pPr indent="0" marL="0">
              <a:buNone/>
            </a:pPr>
            <a:r>
              <a:rPr lang="en-US" sz="1150" dirty="0">
                <a:solidFill>
                  <a:srgbClr val="1C2B36"/>
                </a:solidFill>
                <a:latin typeface="Calibri" pitchFamily="34" charset="0"/>
                <a:ea typeface="Calibri" pitchFamily="34" charset="-122"/>
                <a:cs typeface="Calibri" pitchFamily="34" charset="-120"/>
              </a:rPr>
              <a:t>•  API p99 latency &lt; 1 second</a:t>
            </a:r>
            <a:endParaRPr lang="en-US" sz="1150" dirty="0"/>
          </a:p>
        </p:txBody>
      </p:sp>
      <p:sp>
        <p:nvSpPr>
          <p:cNvPr id="10" name="Text 8"/>
          <p:cNvSpPr/>
          <p:nvPr/>
        </p:nvSpPr>
        <p:spPr>
          <a:xfrm>
            <a:off x="6263640" y="1417320"/>
            <a:ext cx="5349240" cy="320040"/>
          </a:xfrm>
          <a:prstGeom prst="rect">
            <a:avLst/>
          </a:prstGeom>
          <a:noFill/>
          <a:ln/>
        </p:spPr>
        <p:txBody>
          <a:bodyPr wrap="square" lIns="0" tIns="0" rIns="0" bIns="0" rtlCol="0" anchor="ctr"/>
          <a:lstStyle/>
          <a:p>
            <a:pPr indent="0" marL="0">
              <a:buNone/>
            </a:pPr>
            <a:r>
              <a:rPr lang="en-US" sz="1400" b="1" dirty="0">
                <a:solidFill>
                  <a:srgbClr val="0B3350"/>
                </a:solidFill>
                <a:latin typeface="Calibri" pitchFamily="34" charset="0"/>
                <a:ea typeface="Calibri" pitchFamily="34" charset="-122"/>
                <a:cs typeface="Calibri" pitchFamily="34" charset="-120"/>
              </a:rPr>
              <a:t>Monitoring Strategy &amp; Tools</a:t>
            </a:r>
            <a:endParaRPr lang="en-US" sz="1400" dirty="0"/>
          </a:p>
        </p:txBody>
      </p:sp>
      <p:sp>
        <p:nvSpPr>
          <p:cNvPr id="11" name="Shape 9"/>
          <p:cNvSpPr/>
          <p:nvPr/>
        </p:nvSpPr>
        <p:spPr>
          <a:xfrm>
            <a:off x="6263640" y="1783080"/>
            <a:ext cx="5349240" cy="603504"/>
          </a:xfrm>
          <a:prstGeom prst="roundRect">
            <a:avLst>
              <a:gd name="adj" fmla="val 9091"/>
            </a:avLst>
          </a:prstGeom>
          <a:solidFill>
            <a:srgbClr val="EEF2F4"/>
          </a:solidFill>
          <a:ln/>
        </p:spPr>
      </p:sp>
      <p:sp>
        <p:nvSpPr>
          <p:cNvPr id="12" name="Text 10"/>
          <p:cNvSpPr/>
          <p:nvPr/>
        </p:nvSpPr>
        <p:spPr>
          <a:xfrm>
            <a:off x="6400800" y="1819656"/>
            <a:ext cx="5029200" cy="256032"/>
          </a:xfrm>
          <a:prstGeom prst="rect">
            <a:avLst/>
          </a:prstGeom>
          <a:noFill/>
          <a:ln/>
        </p:spPr>
        <p:txBody>
          <a:bodyPr wrap="square" lIns="0" tIns="0" rIns="0" bIns="0" rtlCol="0" anchor="ctr"/>
          <a:lstStyle/>
          <a:p>
            <a:pPr indent="0" marL="0">
              <a:buNone/>
            </a:pPr>
            <a:r>
              <a:rPr lang="en-US" sz="1100" b="1" dirty="0">
                <a:solidFill>
                  <a:srgbClr val="12786B"/>
                </a:solidFill>
                <a:latin typeface="Calibri" pitchFamily="34" charset="0"/>
                <a:ea typeface="Calibri" pitchFamily="34" charset="-122"/>
                <a:cs typeface="Calibri" pitchFamily="34" charset="-120"/>
              </a:rPr>
              <a:t>Prometheus + Grafana</a:t>
            </a:r>
            <a:endParaRPr lang="en-US" sz="1100" dirty="0"/>
          </a:p>
        </p:txBody>
      </p:sp>
      <p:sp>
        <p:nvSpPr>
          <p:cNvPr id="13" name="Text 11"/>
          <p:cNvSpPr/>
          <p:nvPr/>
        </p:nvSpPr>
        <p:spPr>
          <a:xfrm>
            <a:off x="6400800" y="2057400"/>
            <a:ext cx="5029200" cy="310896"/>
          </a:xfrm>
          <a:prstGeom prst="rect">
            <a:avLst/>
          </a:prstGeom>
          <a:noFill/>
          <a:ln/>
        </p:spPr>
        <p:txBody>
          <a:bodyPr wrap="square" lIns="0" tIns="0" rIns="0" bIns="0" rtlCol="0" anchor="ctr"/>
          <a:lstStyle/>
          <a:p>
            <a:pPr indent="0" marL="0">
              <a:buNone/>
            </a:pPr>
            <a:r>
              <a:rPr lang="en-US" sz="980" dirty="0">
                <a:solidFill>
                  <a:srgbClr val="5B6B76"/>
                </a:solidFill>
                <a:latin typeface="Calibri" pitchFamily="34" charset="0"/>
                <a:ea typeface="Calibri" pitchFamily="34" charset="-122"/>
                <a:cs typeface="Calibri" pitchFamily="34" charset="-120"/>
              </a:rPr>
              <a:t>API latency (p50/p95/p99), anomaly detection rate, model confidence</a:t>
            </a:r>
            <a:endParaRPr lang="en-US" sz="980" dirty="0"/>
          </a:p>
        </p:txBody>
      </p:sp>
      <p:sp>
        <p:nvSpPr>
          <p:cNvPr id="14" name="Shape 12"/>
          <p:cNvSpPr/>
          <p:nvPr/>
        </p:nvSpPr>
        <p:spPr>
          <a:xfrm>
            <a:off x="6263640" y="2496312"/>
            <a:ext cx="5349240" cy="603504"/>
          </a:xfrm>
          <a:prstGeom prst="roundRect">
            <a:avLst>
              <a:gd name="adj" fmla="val 9091"/>
            </a:avLst>
          </a:prstGeom>
          <a:solidFill>
            <a:srgbClr val="EEF2F4"/>
          </a:solidFill>
          <a:ln/>
        </p:spPr>
      </p:sp>
      <p:sp>
        <p:nvSpPr>
          <p:cNvPr id="15" name="Text 13"/>
          <p:cNvSpPr/>
          <p:nvPr/>
        </p:nvSpPr>
        <p:spPr>
          <a:xfrm>
            <a:off x="6400800" y="2532888"/>
            <a:ext cx="5029200" cy="256032"/>
          </a:xfrm>
          <a:prstGeom prst="rect">
            <a:avLst/>
          </a:prstGeom>
          <a:noFill/>
          <a:ln/>
        </p:spPr>
        <p:txBody>
          <a:bodyPr wrap="square" lIns="0" tIns="0" rIns="0" bIns="0" rtlCol="0" anchor="ctr"/>
          <a:lstStyle/>
          <a:p>
            <a:pPr indent="0" marL="0">
              <a:buNone/>
            </a:pPr>
            <a:r>
              <a:rPr lang="en-US" sz="1100" b="1" dirty="0">
                <a:solidFill>
                  <a:srgbClr val="12786B"/>
                </a:solidFill>
                <a:latin typeface="Calibri" pitchFamily="34" charset="0"/>
                <a:ea typeface="Calibri" pitchFamily="34" charset="-122"/>
                <a:cs typeface="Calibri" pitchFamily="34" charset="-120"/>
              </a:rPr>
              <a:t>CloudWatch Logs</a:t>
            </a:r>
            <a:endParaRPr lang="en-US" sz="1100" dirty="0"/>
          </a:p>
        </p:txBody>
      </p:sp>
      <p:sp>
        <p:nvSpPr>
          <p:cNvPr id="16" name="Text 14"/>
          <p:cNvSpPr/>
          <p:nvPr/>
        </p:nvSpPr>
        <p:spPr>
          <a:xfrm>
            <a:off x="6400800" y="2770632"/>
            <a:ext cx="5029200" cy="310896"/>
          </a:xfrm>
          <a:prstGeom prst="rect">
            <a:avLst/>
          </a:prstGeom>
          <a:noFill/>
          <a:ln/>
        </p:spPr>
        <p:txBody>
          <a:bodyPr wrap="square" lIns="0" tIns="0" rIns="0" bIns="0" rtlCol="0" anchor="ctr"/>
          <a:lstStyle/>
          <a:p>
            <a:pPr indent="0" marL="0">
              <a:buNone/>
            </a:pPr>
            <a:r>
              <a:rPr lang="en-US" sz="980" dirty="0">
                <a:solidFill>
                  <a:srgbClr val="5B6B76"/>
                </a:solidFill>
                <a:latin typeface="Calibri" pitchFamily="34" charset="0"/>
                <a:ea typeface="Calibri" pitchFamily="34" charset="-122"/>
                <a:cs typeface="Calibri" pitchFamily="34" charset="-120"/>
              </a:rPr>
              <a:t>30-day retention, correlation IDs on every request</a:t>
            </a:r>
            <a:endParaRPr lang="en-US" sz="980" dirty="0"/>
          </a:p>
        </p:txBody>
      </p:sp>
      <p:sp>
        <p:nvSpPr>
          <p:cNvPr id="17" name="Shape 15"/>
          <p:cNvSpPr/>
          <p:nvPr/>
        </p:nvSpPr>
        <p:spPr>
          <a:xfrm>
            <a:off x="6263640" y="3209544"/>
            <a:ext cx="5349240" cy="603504"/>
          </a:xfrm>
          <a:prstGeom prst="roundRect">
            <a:avLst>
              <a:gd name="adj" fmla="val 9091"/>
            </a:avLst>
          </a:prstGeom>
          <a:solidFill>
            <a:srgbClr val="EEF2F4"/>
          </a:solidFill>
          <a:ln/>
        </p:spPr>
      </p:sp>
      <p:sp>
        <p:nvSpPr>
          <p:cNvPr id="18" name="Text 16"/>
          <p:cNvSpPr/>
          <p:nvPr/>
        </p:nvSpPr>
        <p:spPr>
          <a:xfrm>
            <a:off x="6400800" y="3246120"/>
            <a:ext cx="5029200" cy="256032"/>
          </a:xfrm>
          <a:prstGeom prst="rect">
            <a:avLst/>
          </a:prstGeom>
          <a:noFill/>
          <a:ln/>
        </p:spPr>
        <p:txBody>
          <a:bodyPr wrap="square" lIns="0" tIns="0" rIns="0" bIns="0" rtlCol="0" anchor="ctr"/>
          <a:lstStyle/>
          <a:p>
            <a:pPr indent="0" marL="0">
              <a:buNone/>
            </a:pPr>
            <a:r>
              <a:rPr lang="en-US" sz="1100" b="1" dirty="0">
                <a:solidFill>
                  <a:srgbClr val="12786B"/>
                </a:solidFill>
                <a:latin typeface="Calibri" pitchFamily="34" charset="0"/>
                <a:ea typeface="Calibri" pitchFamily="34" charset="-122"/>
                <a:cs typeface="Calibri" pitchFamily="34" charset="-120"/>
              </a:rPr>
              <a:t>PagerDuty</a:t>
            </a:r>
            <a:endParaRPr lang="en-US" sz="1100" dirty="0"/>
          </a:p>
        </p:txBody>
      </p:sp>
      <p:sp>
        <p:nvSpPr>
          <p:cNvPr id="19" name="Text 17"/>
          <p:cNvSpPr/>
          <p:nvPr/>
        </p:nvSpPr>
        <p:spPr>
          <a:xfrm>
            <a:off x="6400800" y="3483864"/>
            <a:ext cx="5029200" cy="310896"/>
          </a:xfrm>
          <a:prstGeom prst="rect">
            <a:avLst/>
          </a:prstGeom>
          <a:noFill/>
          <a:ln/>
        </p:spPr>
        <p:txBody>
          <a:bodyPr wrap="square" lIns="0" tIns="0" rIns="0" bIns="0" rtlCol="0" anchor="ctr"/>
          <a:lstStyle/>
          <a:p>
            <a:pPr indent="0" marL="0">
              <a:buNone/>
            </a:pPr>
            <a:r>
              <a:rPr lang="en-US" sz="980" dirty="0">
                <a:solidFill>
                  <a:srgbClr val="5B6B76"/>
                </a:solidFill>
                <a:latin typeface="Calibri" pitchFamily="34" charset="0"/>
                <a:ea typeface="Calibri" pitchFamily="34" charset="-122"/>
                <a:cs typeface="Calibri" pitchFamily="34" charset="-120"/>
              </a:rPr>
              <a:t>Alerts on error rate &gt; 5% or p99 latency &gt; 1s</a:t>
            </a:r>
            <a:endParaRPr lang="en-US" sz="980" dirty="0"/>
          </a:p>
        </p:txBody>
      </p:sp>
      <p:sp>
        <p:nvSpPr>
          <p:cNvPr id="20" name="Shape 18"/>
          <p:cNvSpPr/>
          <p:nvPr/>
        </p:nvSpPr>
        <p:spPr>
          <a:xfrm>
            <a:off x="548640" y="4160520"/>
            <a:ext cx="11064240" cy="2011680"/>
          </a:xfrm>
          <a:prstGeom prst="roundRect">
            <a:avLst>
              <a:gd name="adj" fmla="val 3636"/>
            </a:avLst>
          </a:prstGeom>
          <a:solidFill>
            <a:srgbClr val="0B3350"/>
          </a:solidFill>
          <a:ln/>
        </p:spPr>
      </p:sp>
      <p:sp>
        <p:nvSpPr>
          <p:cNvPr id="21" name="Text 19"/>
          <p:cNvSpPr/>
          <p:nvPr/>
        </p:nvSpPr>
        <p:spPr>
          <a:xfrm>
            <a:off x="822960" y="4315968"/>
            <a:ext cx="5486400" cy="320040"/>
          </a:xfrm>
          <a:prstGeom prst="rect">
            <a:avLst/>
          </a:prstGeom>
          <a:noFill/>
          <a:ln/>
        </p:spPr>
        <p:txBody>
          <a:bodyPr wrap="square" lIns="0" tIns="0" rIns="0" bIns="0" rtlCol="0" anchor="ctr"/>
          <a:lstStyle/>
          <a:p>
            <a:pPr indent="0" marL="0">
              <a:buNone/>
            </a:pPr>
            <a:r>
              <a:rPr lang="en-US" sz="1350" b="1" dirty="0">
                <a:solidFill>
                  <a:srgbClr val="E3A343"/>
                </a:solidFill>
                <a:latin typeface="Calibri" pitchFamily="34" charset="0"/>
                <a:ea typeface="Calibri" pitchFamily="34" charset="-122"/>
                <a:cs typeface="Calibri" pitchFamily="34" charset="-120"/>
              </a:rPr>
              <a:t>Governance Loop</a:t>
            </a:r>
            <a:endParaRPr lang="en-US" sz="1350" dirty="0"/>
          </a:p>
        </p:txBody>
      </p:sp>
      <p:sp>
        <p:nvSpPr>
          <p:cNvPr id="22" name="Text 20"/>
          <p:cNvSpPr/>
          <p:nvPr/>
        </p:nvSpPr>
        <p:spPr>
          <a:xfrm>
            <a:off x="822960" y="4709160"/>
            <a:ext cx="10424160" cy="320040"/>
          </a:xfrm>
          <a:prstGeom prst="rect">
            <a:avLst/>
          </a:prstGeom>
          <a:noFill/>
          <a:ln/>
        </p:spPr>
        <p:txBody>
          <a:bodyPr wrap="square" lIns="0" tIns="0" rIns="0" bIns="0" rtlCol="0" anchor="ctr"/>
          <a:lstStyle/>
          <a:p>
            <a:pPr indent="0" marL="0">
              <a:buNone/>
            </a:pPr>
            <a:r>
              <a:rPr lang="en-US" sz="1150" dirty="0">
                <a:solidFill>
                  <a:srgbClr val="E7EEF1"/>
                </a:solidFill>
                <a:latin typeface="Calibri" pitchFamily="34" charset="0"/>
                <a:ea typeface="Calibri" pitchFamily="34" charset="-122"/>
                <a:cs typeface="Calibri" pitchFamily="34" charset="-120"/>
              </a:rPr>
              <a:t>•  Weekly automated retraining (Celery) with drift check before promotion</a:t>
            </a:r>
            <a:endParaRPr lang="en-US" sz="1150" dirty="0"/>
          </a:p>
        </p:txBody>
      </p:sp>
      <p:sp>
        <p:nvSpPr>
          <p:cNvPr id="23" name="Text 21"/>
          <p:cNvSpPr/>
          <p:nvPr/>
        </p:nvSpPr>
        <p:spPr>
          <a:xfrm>
            <a:off x="822960" y="5056632"/>
            <a:ext cx="10424160" cy="320040"/>
          </a:xfrm>
          <a:prstGeom prst="rect">
            <a:avLst/>
          </a:prstGeom>
          <a:noFill/>
          <a:ln/>
        </p:spPr>
        <p:txBody>
          <a:bodyPr wrap="square" lIns="0" tIns="0" rIns="0" bIns="0" rtlCol="0" anchor="ctr"/>
          <a:lstStyle/>
          <a:p>
            <a:pPr indent="0" marL="0">
              <a:buNone/>
            </a:pPr>
            <a:r>
              <a:rPr lang="en-US" sz="1150" dirty="0">
                <a:solidFill>
                  <a:srgbClr val="E7EEF1"/>
                </a:solidFill>
                <a:latin typeface="Calibri" pitchFamily="34" charset="0"/>
                <a:ea typeface="Calibri" pitchFamily="34" charset="-122"/>
                <a:cs typeface="Calibri" pitchFamily="34" charset="-120"/>
              </a:rPr>
              <a:t>•  Monthly drift-detection review; per-cohort contamination tuning planned for v1.1</a:t>
            </a:r>
            <a:endParaRPr lang="en-US" sz="1150" dirty="0"/>
          </a:p>
        </p:txBody>
      </p:sp>
      <p:sp>
        <p:nvSpPr>
          <p:cNvPr id="24" name="Text 22"/>
          <p:cNvSpPr/>
          <p:nvPr/>
        </p:nvSpPr>
        <p:spPr>
          <a:xfrm>
            <a:off x="822960" y="5404104"/>
            <a:ext cx="10424160" cy="320040"/>
          </a:xfrm>
          <a:prstGeom prst="rect">
            <a:avLst/>
          </a:prstGeom>
          <a:noFill/>
          <a:ln/>
        </p:spPr>
        <p:txBody>
          <a:bodyPr wrap="square" lIns="0" tIns="0" rIns="0" bIns="0" rtlCol="0" anchor="ctr"/>
          <a:lstStyle/>
          <a:p>
            <a:pPr indent="0" marL="0">
              <a:buNone/>
            </a:pPr>
            <a:r>
              <a:rPr lang="en-US" sz="1150" dirty="0">
                <a:solidFill>
                  <a:srgbClr val="E7EEF1"/>
                </a:solidFill>
                <a:latin typeface="Calibri" pitchFamily="34" charset="0"/>
                <a:ea typeface="Calibri" pitchFamily="34" charset="-122"/>
                <a:cs typeface="Calibri" pitchFamily="34" charset="-120"/>
              </a:rPr>
              <a:t>•  Rollback via ECS deployment circuit breaker on failed /health smoke test</a:t>
            </a:r>
            <a:endParaRPr lang="en-US" sz="1150" dirty="0"/>
          </a:p>
        </p:txBody>
      </p:sp>
      <p:sp>
        <p:nvSpPr>
          <p:cNvPr id="25" name="Text 23"/>
          <p:cNvSpPr/>
          <p:nvPr/>
        </p:nvSpPr>
        <p:spPr>
          <a:xfrm>
            <a:off x="822960" y="5751576"/>
            <a:ext cx="10424160" cy="320040"/>
          </a:xfrm>
          <a:prstGeom prst="rect">
            <a:avLst/>
          </a:prstGeom>
          <a:noFill/>
          <a:ln/>
        </p:spPr>
        <p:txBody>
          <a:bodyPr wrap="square" lIns="0" tIns="0" rIns="0" bIns="0" rtlCol="0" anchor="ctr"/>
          <a:lstStyle/>
          <a:p>
            <a:pPr indent="0" marL="0">
              <a:buNone/>
            </a:pPr>
            <a:r>
              <a:rPr lang="en-US" sz="1150" dirty="0">
                <a:solidFill>
                  <a:srgbClr val="E7EEF1"/>
                </a:solidFill>
                <a:latin typeface="Calibri" pitchFamily="34" charset="0"/>
                <a:ea typeface="Calibri" pitchFamily="34" charset="-122"/>
                <a:cs typeface="Calibri" pitchFamily="34" charset="-120"/>
              </a:rPr>
              <a:t>•  CI/CD: pytest (≥70% coverage) → Docker build → ECR push → ECS deploy</a:t>
            </a:r>
            <a:endParaRPr lang="en-US" sz="1150" dirty="0"/>
          </a:p>
        </p:txBody>
      </p:sp>
      <p:sp>
        <p:nvSpPr>
          <p:cNvPr id="26" name="Text 24"/>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AGILE ITERATIONS &amp; ADOPTION</a:t>
            </a:r>
            <a:endParaRPr lang="en-US" sz="900" dirty="0"/>
          </a:p>
        </p:txBody>
      </p:sp>
      <p:sp>
        <p:nvSpPr>
          <p:cNvPr id="27" name="Text 25"/>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28" name="Text 26"/>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335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F30"/>
          </a:solidFill>
          <a:ln/>
        </p:spPr>
      </p:sp>
      <p:sp>
        <p:nvSpPr>
          <p:cNvPr id="3" name="Shape 1"/>
          <p:cNvSpPr/>
          <p:nvPr/>
        </p:nvSpPr>
        <p:spPr>
          <a:xfrm>
            <a:off x="9692640" y="-2377440"/>
            <a:ext cx="5943600" cy="5943600"/>
          </a:xfrm>
          <a:prstGeom prst="ellipse">
            <a:avLst/>
          </a:prstGeom>
          <a:solidFill>
            <a:srgbClr val="12786B"/>
          </a:solidFill>
          <a:ln/>
        </p:spPr>
      </p:sp>
      <p:sp>
        <p:nvSpPr>
          <p:cNvPr id="4" name="Shape 2"/>
          <p:cNvSpPr/>
          <p:nvPr/>
        </p:nvSpPr>
        <p:spPr>
          <a:xfrm>
            <a:off x="-3291840" y="6035040"/>
            <a:ext cx="3291840" cy="3291840"/>
          </a:xfrm>
          <a:prstGeom prst="ellipse">
            <a:avLst/>
          </a:prstGeom>
          <a:solidFill>
            <a:srgbClr val="E3A343"/>
          </a:solidFill>
          <a:ln/>
        </p:spPr>
      </p:sp>
      <p:sp>
        <p:nvSpPr>
          <p:cNvPr id="5" name="Text 3"/>
          <p:cNvSpPr/>
          <p:nvPr/>
        </p:nvSpPr>
        <p:spPr>
          <a:xfrm>
            <a:off x="731520" y="1965960"/>
            <a:ext cx="5486400" cy="365760"/>
          </a:xfrm>
          <a:prstGeom prst="rect">
            <a:avLst/>
          </a:prstGeom>
          <a:noFill/>
          <a:ln/>
        </p:spPr>
        <p:txBody>
          <a:bodyPr wrap="square" lIns="0" tIns="0" rIns="0" bIns="0" rtlCol="0" anchor="ctr"/>
          <a:lstStyle/>
          <a:p>
            <a:pPr indent="0" marL="0">
              <a:buNone/>
            </a:pPr>
            <a:r>
              <a:rPr lang="en-US" sz="1400" b="1" spc="200" kern="0" dirty="0">
                <a:solidFill>
                  <a:srgbClr val="E3A343"/>
                </a:solidFill>
                <a:latin typeface="Calibri" pitchFamily="34" charset="0"/>
                <a:ea typeface="Calibri" pitchFamily="34" charset="-122"/>
                <a:cs typeface="Calibri" pitchFamily="34" charset="-120"/>
              </a:rPr>
              <a:t>SECTION 04</a:t>
            </a:r>
            <a:endParaRPr lang="en-US" sz="1400" dirty="0"/>
          </a:p>
        </p:txBody>
      </p:sp>
      <p:sp>
        <p:nvSpPr>
          <p:cNvPr id="6" name="Text 4"/>
          <p:cNvSpPr/>
          <p:nvPr/>
        </p:nvSpPr>
        <p:spPr>
          <a:xfrm>
            <a:off x="713232" y="2331720"/>
            <a:ext cx="9601200" cy="155448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Ethical, Explainability &amp;</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Validation Approach</a:t>
            </a:r>
            <a:endParaRPr lang="en-US" sz="4000" dirty="0"/>
          </a:p>
        </p:txBody>
      </p:sp>
      <p:sp>
        <p:nvSpPr>
          <p:cNvPr id="7" name="Shape 5"/>
          <p:cNvSpPr/>
          <p:nvPr/>
        </p:nvSpPr>
        <p:spPr>
          <a:xfrm>
            <a:off x="731520" y="3977640"/>
            <a:ext cx="2148840" cy="502920"/>
          </a:xfrm>
          <a:prstGeom prst="roundRect">
            <a:avLst>
              <a:gd name="adj" fmla="val 50909"/>
            </a:avLst>
          </a:prstGeom>
          <a:solidFill>
            <a:srgbClr val="12786B"/>
          </a:solidFill>
          <a:ln/>
        </p:spPr>
      </p:sp>
      <p:sp>
        <p:nvSpPr>
          <p:cNvPr id="8" name="Text 6"/>
          <p:cNvSpPr/>
          <p:nvPr/>
        </p:nvSpPr>
        <p:spPr>
          <a:xfrm>
            <a:off x="731520" y="3977640"/>
            <a:ext cx="21488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MINUTES</a:t>
            </a:r>
            <a:endParaRPr lang="en-US" sz="1300" dirty="0"/>
          </a:p>
        </p:txBody>
      </p:sp>
      <p:sp>
        <p:nvSpPr>
          <p:cNvPr id="9" name="Text 7"/>
          <p:cNvSpPr/>
          <p:nvPr/>
        </p:nvSpPr>
        <p:spPr>
          <a:xfrm>
            <a:off x="749808" y="480060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Five-lens analysis: accessibility, ethics, equity, privacy, observability</a:t>
            </a:r>
            <a:endParaRPr lang="en-US" sz="1400" dirty="0"/>
          </a:p>
        </p:txBody>
      </p:sp>
      <p:sp>
        <p:nvSpPr>
          <p:cNvPr id="10" name="Text 8"/>
          <p:cNvSpPr/>
          <p:nvPr/>
        </p:nvSpPr>
        <p:spPr>
          <a:xfrm>
            <a:off x="749808" y="516636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Intrinsic evaluation — model-level metrics</a:t>
            </a:r>
            <a:endParaRPr lang="en-US" sz="1400" dirty="0"/>
          </a:p>
        </p:txBody>
      </p:sp>
      <p:sp>
        <p:nvSpPr>
          <p:cNvPr id="11" name="Text 9"/>
          <p:cNvSpPr/>
          <p:nvPr/>
        </p:nvSpPr>
        <p:spPr>
          <a:xfrm>
            <a:off x="749808" y="5532120"/>
            <a:ext cx="9875520" cy="320040"/>
          </a:xfrm>
          <a:prstGeom prst="rect">
            <a:avLst/>
          </a:prstGeom>
          <a:noFill/>
          <a:ln/>
        </p:spPr>
        <p:txBody>
          <a:bodyPr wrap="square" lIns="0" tIns="0" rIns="0" bIns="0" rtlCol="0" anchor="ctr"/>
          <a:lstStyle/>
          <a:p>
            <a:pPr indent="0" marL="0">
              <a:buNone/>
            </a:pPr>
            <a:r>
              <a:rPr lang="en-US" sz="1400" dirty="0">
                <a:solidFill>
                  <a:srgbClr val="CADCE0"/>
                </a:solidFill>
                <a:latin typeface="Calibri" pitchFamily="34" charset="0"/>
                <a:ea typeface="Calibri" pitchFamily="34" charset="-122"/>
                <a:cs typeface="Calibri" pitchFamily="34" charset="-120"/>
              </a:rPr>
              <a:t>—  Extrinsic evaluation — real-world business outcomes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ETHICS, EXPLAINABILITY &amp; VALIDATION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A Multi-Lens Analysis</a:t>
            </a:r>
            <a:endParaRPr lang="en-US" sz="3000" dirty="0"/>
          </a:p>
        </p:txBody>
      </p:sp>
      <p:sp>
        <p:nvSpPr>
          <p:cNvPr id="4" name="Shape 2"/>
          <p:cNvSpPr/>
          <p:nvPr/>
        </p:nvSpPr>
        <p:spPr>
          <a:xfrm>
            <a:off x="548640" y="1508760"/>
            <a:ext cx="3611880" cy="2331720"/>
          </a:xfrm>
          <a:prstGeom prst="roundRect">
            <a:avLst>
              <a:gd name="adj" fmla="val 3529"/>
            </a:avLst>
          </a:prstGeom>
          <a:solidFill>
            <a:srgbClr val="EEF2F4"/>
          </a:solidFill>
          <a:ln/>
        </p:spPr>
      </p:sp>
      <p:sp>
        <p:nvSpPr>
          <p:cNvPr id="5" name="Shape 3"/>
          <p:cNvSpPr/>
          <p:nvPr/>
        </p:nvSpPr>
        <p:spPr>
          <a:xfrm>
            <a:off x="777240" y="1737360"/>
            <a:ext cx="457200" cy="457200"/>
          </a:xfrm>
          <a:prstGeom prst="ellipse">
            <a:avLst/>
          </a:prstGeom>
          <a:solidFill>
            <a:srgbClr val="12786B"/>
          </a:solidFill>
          <a:ln/>
        </p:spPr>
      </p:sp>
      <p:sp>
        <p:nvSpPr>
          <p:cNvPr id="6" name="Text 4"/>
          <p:cNvSpPr/>
          <p:nvPr/>
        </p:nvSpPr>
        <p:spPr>
          <a:xfrm>
            <a:off x="1417320" y="1764792"/>
            <a:ext cx="2514600" cy="411480"/>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Accessibility</a:t>
            </a:r>
            <a:endParaRPr lang="en-US" sz="1500" dirty="0"/>
          </a:p>
        </p:txBody>
      </p:sp>
      <p:sp>
        <p:nvSpPr>
          <p:cNvPr id="7" name="Text 5"/>
          <p:cNvSpPr/>
          <p:nvPr/>
        </p:nvSpPr>
        <p:spPr>
          <a:xfrm>
            <a:off x="777240" y="2377440"/>
            <a:ext cx="3154680" cy="1371600"/>
          </a:xfrm>
          <a:prstGeom prst="rect">
            <a:avLst/>
          </a:prstGeom>
          <a:noFill/>
          <a:ln/>
        </p:spPr>
        <p:txBody>
          <a:bodyPr wrap="square" lIns="0" tIns="0" rIns="0" bIns="0" rtlCol="0" anchor="ctr"/>
          <a:lstStyle/>
          <a:p>
            <a:pPr indent="0" marL="0">
              <a:lnSpc>
                <a:spcPct val="118000"/>
              </a:lnSpc>
              <a:buNone/>
            </a:pPr>
            <a:r>
              <a:rPr lang="en-US" sz="1100" dirty="0">
                <a:solidFill>
                  <a:srgbClr val="1C2B36"/>
                </a:solidFill>
                <a:latin typeface="Calibri" pitchFamily="34" charset="0"/>
                <a:ea typeface="Calibri" pitchFamily="34" charset="-122"/>
                <a:cs typeface="Calibri" pitchFamily="34" charset="-120"/>
              </a:rPr>
              <a:t>Plain-English SHAP narratives remove the need for statistical literacy; cold-start cohorts serve users with &lt;30 days of history.</a:t>
            </a:r>
            <a:endParaRPr lang="en-US" sz="1100" dirty="0"/>
          </a:p>
        </p:txBody>
      </p:sp>
      <p:sp>
        <p:nvSpPr>
          <p:cNvPr id="8" name="Shape 6"/>
          <p:cNvSpPr/>
          <p:nvPr/>
        </p:nvSpPr>
        <p:spPr>
          <a:xfrm>
            <a:off x="4434840" y="1508760"/>
            <a:ext cx="3611880" cy="2331720"/>
          </a:xfrm>
          <a:prstGeom prst="roundRect">
            <a:avLst>
              <a:gd name="adj" fmla="val 3529"/>
            </a:avLst>
          </a:prstGeom>
          <a:solidFill>
            <a:srgbClr val="EEF2F4"/>
          </a:solidFill>
          <a:ln/>
        </p:spPr>
      </p:sp>
      <p:sp>
        <p:nvSpPr>
          <p:cNvPr id="9" name="Shape 7"/>
          <p:cNvSpPr/>
          <p:nvPr/>
        </p:nvSpPr>
        <p:spPr>
          <a:xfrm>
            <a:off x="4663440" y="1737360"/>
            <a:ext cx="457200" cy="457200"/>
          </a:xfrm>
          <a:prstGeom prst="ellipse">
            <a:avLst/>
          </a:prstGeom>
          <a:solidFill>
            <a:srgbClr val="E3A343"/>
          </a:solidFill>
          <a:ln/>
        </p:spPr>
      </p:sp>
      <p:sp>
        <p:nvSpPr>
          <p:cNvPr id="10" name="Text 8"/>
          <p:cNvSpPr/>
          <p:nvPr/>
        </p:nvSpPr>
        <p:spPr>
          <a:xfrm>
            <a:off x="5303520" y="1764792"/>
            <a:ext cx="2514600" cy="411480"/>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Ethics</a:t>
            </a:r>
            <a:endParaRPr lang="en-US" sz="1500" dirty="0"/>
          </a:p>
        </p:txBody>
      </p:sp>
      <p:sp>
        <p:nvSpPr>
          <p:cNvPr id="11" name="Text 9"/>
          <p:cNvSpPr/>
          <p:nvPr/>
        </p:nvSpPr>
        <p:spPr>
          <a:xfrm>
            <a:off x="4663440" y="2377440"/>
            <a:ext cx="3154680" cy="1371600"/>
          </a:xfrm>
          <a:prstGeom prst="rect">
            <a:avLst/>
          </a:prstGeom>
          <a:noFill/>
          <a:ln/>
        </p:spPr>
        <p:txBody>
          <a:bodyPr wrap="square" lIns="0" tIns="0" rIns="0" bIns="0" rtlCol="0" anchor="ctr"/>
          <a:lstStyle/>
          <a:p>
            <a:pPr indent="0" marL="0">
              <a:lnSpc>
                <a:spcPct val="118000"/>
              </a:lnSpc>
              <a:buNone/>
            </a:pPr>
            <a:r>
              <a:rPr lang="en-US" sz="1100" dirty="0">
                <a:solidFill>
                  <a:srgbClr val="1C2B36"/>
                </a:solidFill>
                <a:latin typeface="Calibri" pitchFamily="34" charset="0"/>
                <a:ea typeface="Calibri" pitchFamily="34" charset="-122"/>
                <a:cs typeface="Calibri" pitchFamily="34" charset="-120"/>
              </a:rPr>
              <a:t>Users retain autonomy — every recommendation can be dismissed; the DQN coach frames cuts as options, not mandates, addressing the “too restrictive” fear.</a:t>
            </a:r>
            <a:endParaRPr lang="en-US" sz="1100" dirty="0"/>
          </a:p>
        </p:txBody>
      </p:sp>
      <p:sp>
        <p:nvSpPr>
          <p:cNvPr id="12" name="Shape 10"/>
          <p:cNvSpPr/>
          <p:nvPr/>
        </p:nvSpPr>
        <p:spPr>
          <a:xfrm>
            <a:off x="8321040" y="1508760"/>
            <a:ext cx="3611880" cy="2331720"/>
          </a:xfrm>
          <a:prstGeom prst="roundRect">
            <a:avLst>
              <a:gd name="adj" fmla="val 3529"/>
            </a:avLst>
          </a:prstGeom>
          <a:solidFill>
            <a:srgbClr val="EEF2F4"/>
          </a:solidFill>
          <a:ln/>
        </p:spPr>
      </p:sp>
      <p:sp>
        <p:nvSpPr>
          <p:cNvPr id="13" name="Shape 11"/>
          <p:cNvSpPr/>
          <p:nvPr/>
        </p:nvSpPr>
        <p:spPr>
          <a:xfrm>
            <a:off x="8549640" y="1737360"/>
            <a:ext cx="457200" cy="457200"/>
          </a:xfrm>
          <a:prstGeom prst="ellipse">
            <a:avLst/>
          </a:prstGeom>
          <a:solidFill>
            <a:srgbClr val="0B3350"/>
          </a:solidFill>
          <a:ln/>
        </p:spPr>
      </p:sp>
      <p:sp>
        <p:nvSpPr>
          <p:cNvPr id="14" name="Text 12"/>
          <p:cNvSpPr/>
          <p:nvPr/>
        </p:nvSpPr>
        <p:spPr>
          <a:xfrm>
            <a:off x="9189720" y="1764792"/>
            <a:ext cx="2514600" cy="411480"/>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Equity</a:t>
            </a:r>
            <a:endParaRPr lang="en-US" sz="1500" dirty="0"/>
          </a:p>
        </p:txBody>
      </p:sp>
      <p:sp>
        <p:nvSpPr>
          <p:cNvPr id="15" name="Text 13"/>
          <p:cNvSpPr/>
          <p:nvPr/>
        </p:nvSpPr>
        <p:spPr>
          <a:xfrm>
            <a:off x="8549640" y="2377440"/>
            <a:ext cx="3154680" cy="1371600"/>
          </a:xfrm>
          <a:prstGeom prst="rect">
            <a:avLst/>
          </a:prstGeom>
          <a:noFill/>
          <a:ln/>
        </p:spPr>
        <p:txBody>
          <a:bodyPr wrap="square" lIns="0" tIns="0" rIns="0" bIns="0" rtlCol="0" anchor="ctr"/>
          <a:lstStyle/>
          <a:p>
            <a:pPr indent="0" marL="0">
              <a:lnSpc>
                <a:spcPct val="118000"/>
              </a:lnSpc>
              <a:buNone/>
            </a:pPr>
            <a:r>
              <a:rPr lang="en-US" sz="1100" dirty="0">
                <a:solidFill>
                  <a:srgbClr val="1C2B36"/>
                </a:solidFill>
                <a:latin typeface="Calibri" pitchFamily="34" charset="0"/>
                <a:ea typeface="Calibri" pitchFamily="34" charset="-122"/>
                <a:cs typeface="Calibri" pitchFamily="34" charset="-120"/>
              </a:rPr>
              <a:t>Per-cohort bias audits guard against penalizing low-income or gig-worker income patterns; income modelled explicitly rather than assumed stable.</a:t>
            </a:r>
            <a:endParaRPr lang="en-US" sz="1100" dirty="0"/>
          </a:p>
        </p:txBody>
      </p:sp>
      <p:sp>
        <p:nvSpPr>
          <p:cNvPr id="16" name="Shape 14"/>
          <p:cNvSpPr/>
          <p:nvPr/>
        </p:nvSpPr>
        <p:spPr>
          <a:xfrm>
            <a:off x="548640" y="4069080"/>
            <a:ext cx="5440680" cy="1737360"/>
          </a:xfrm>
          <a:prstGeom prst="roundRect">
            <a:avLst>
              <a:gd name="adj" fmla="val 4737"/>
            </a:avLst>
          </a:prstGeom>
          <a:solidFill>
            <a:srgbClr val="EEF2F4"/>
          </a:solidFill>
          <a:ln/>
        </p:spPr>
      </p:sp>
      <p:sp>
        <p:nvSpPr>
          <p:cNvPr id="17" name="Shape 15"/>
          <p:cNvSpPr/>
          <p:nvPr/>
        </p:nvSpPr>
        <p:spPr>
          <a:xfrm>
            <a:off x="777240" y="4297680"/>
            <a:ext cx="457200" cy="457200"/>
          </a:xfrm>
          <a:prstGeom prst="ellipse">
            <a:avLst/>
          </a:prstGeom>
          <a:solidFill>
            <a:srgbClr val="12786B"/>
          </a:solidFill>
          <a:ln/>
        </p:spPr>
      </p:sp>
      <p:sp>
        <p:nvSpPr>
          <p:cNvPr id="18" name="Text 16"/>
          <p:cNvSpPr/>
          <p:nvPr/>
        </p:nvSpPr>
        <p:spPr>
          <a:xfrm>
            <a:off x="1417320" y="4325112"/>
            <a:ext cx="4343400" cy="411480"/>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Privacy</a:t>
            </a:r>
            <a:endParaRPr lang="en-US" sz="1500" dirty="0"/>
          </a:p>
        </p:txBody>
      </p:sp>
      <p:sp>
        <p:nvSpPr>
          <p:cNvPr id="19" name="Text 17"/>
          <p:cNvSpPr/>
          <p:nvPr/>
        </p:nvSpPr>
        <p:spPr>
          <a:xfrm>
            <a:off x="777240" y="4937760"/>
            <a:ext cx="4983480" cy="822960"/>
          </a:xfrm>
          <a:prstGeom prst="rect">
            <a:avLst/>
          </a:prstGeom>
          <a:noFill/>
          <a:ln/>
        </p:spPr>
        <p:txBody>
          <a:bodyPr wrap="square" lIns="0" tIns="0" rIns="0" bIns="0" rtlCol="0" anchor="ctr"/>
          <a:lstStyle/>
          <a:p>
            <a:pPr indent="0" marL="0">
              <a:lnSpc>
                <a:spcPct val="118000"/>
              </a:lnSpc>
              <a:buNone/>
            </a:pPr>
            <a:r>
              <a:rPr lang="en-US" sz="1100" dirty="0">
                <a:solidFill>
                  <a:srgbClr val="1C2B36"/>
                </a:solidFill>
                <a:latin typeface="Calibri" pitchFamily="34" charset="0"/>
                <a:ea typeface="Calibri" pitchFamily="34" charset="-122"/>
                <a:cs typeface="Calibri" pitchFamily="34" charset="-120"/>
              </a:rPr>
              <a:t>AES-256 encryption at rest, TLS 1.3 in transit, JWT (60-min expiry), Secrets Manager for keys; PIPEDA/GDPR data-residency requirements for Canadian users.</a:t>
            </a:r>
            <a:endParaRPr lang="en-US" sz="1100" dirty="0"/>
          </a:p>
        </p:txBody>
      </p:sp>
      <p:sp>
        <p:nvSpPr>
          <p:cNvPr id="20" name="Shape 18"/>
          <p:cNvSpPr/>
          <p:nvPr/>
        </p:nvSpPr>
        <p:spPr>
          <a:xfrm>
            <a:off x="6263640" y="4069080"/>
            <a:ext cx="5440680" cy="1737360"/>
          </a:xfrm>
          <a:prstGeom prst="roundRect">
            <a:avLst>
              <a:gd name="adj" fmla="val 4737"/>
            </a:avLst>
          </a:prstGeom>
          <a:solidFill>
            <a:srgbClr val="EEF2F4"/>
          </a:solidFill>
          <a:ln/>
        </p:spPr>
      </p:sp>
      <p:sp>
        <p:nvSpPr>
          <p:cNvPr id="21" name="Shape 19"/>
          <p:cNvSpPr/>
          <p:nvPr/>
        </p:nvSpPr>
        <p:spPr>
          <a:xfrm>
            <a:off x="6492240" y="4297680"/>
            <a:ext cx="457200" cy="457200"/>
          </a:xfrm>
          <a:prstGeom prst="ellipse">
            <a:avLst/>
          </a:prstGeom>
          <a:solidFill>
            <a:srgbClr val="E3A343"/>
          </a:solidFill>
          <a:ln/>
        </p:spPr>
      </p:sp>
      <p:sp>
        <p:nvSpPr>
          <p:cNvPr id="22" name="Text 20"/>
          <p:cNvSpPr/>
          <p:nvPr/>
        </p:nvSpPr>
        <p:spPr>
          <a:xfrm>
            <a:off x="7132320" y="4325112"/>
            <a:ext cx="4343400" cy="411480"/>
          </a:xfrm>
          <a:prstGeom prst="rect">
            <a:avLst/>
          </a:prstGeom>
          <a:noFill/>
          <a:ln/>
        </p:spPr>
        <p:txBody>
          <a:bodyPr wrap="square" lIns="0" tIns="0" rIns="0" bIns="0" rtlCol="0" anchor="ctr"/>
          <a:lstStyle/>
          <a:p>
            <a:pPr indent="0" marL="0">
              <a:buNone/>
            </a:pPr>
            <a:r>
              <a:rPr lang="en-US" sz="1500" b="1" dirty="0">
                <a:solidFill>
                  <a:srgbClr val="0B3350"/>
                </a:solidFill>
                <a:latin typeface="Calibri" pitchFamily="34" charset="0"/>
                <a:ea typeface="Calibri" pitchFamily="34" charset="-122"/>
                <a:cs typeface="Calibri" pitchFamily="34" charset="-120"/>
              </a:rPr>
              <a:t>Observability</a:t>
            </a:r>
            <a:endParaRPr lang="en-US" sz="1500" dirty="0"/>
          </a:p>
        </p:txBody>
      </p:sp>
      <p:sp>
        <p:nvSpPr>
          <p:cNvPr id="23" name="Text 21"/>
          <p:cNvSpPr/>
          <p:nvPr/>
        </p:nvSpPr>
        <p:spPr>
          <a:xfrm>
            <a:off x="6492240" y="4937760"/>
            <a:ext cx="4983480" cy="822960"/>
          </a:xfrm>
          <a:prstGeom prst="rect">
            <a:avLst/>
          </a:prstGeom>
          <a:noFill/>
          <a:ln/>
        </p:spPr>
        <p:txBody>
          <a:bodyPr wrap="square" lIns="0" tIns="0" rIns="0" bIns="0" rtlCol="0" anchor="ctr"/>
          <a:lstStyle/>
          <a:p>
            <a:pPr indent="0" marL="0">
              <a:lnSpc>
                <a:spcPct val="118000"/>
              </a:lnSpc>
              <a:buNone/>
            </a:pPr>
            <a:r>
              <a:rPr lang="en-US" sz="1100" dirty="0">
                <a:solidFill>
                  <a:srgbClr val="1C2B36"/>
                </a:solidFill>
                <a:latin typeface="Calibri" pitchFamily="34" charset="0"/>
                <a:ea typeface="Calibri" pitchFamily="34" charset="-122"/>
                <a:cs typeface="Calibri" pitchFamily="34" charset="-120"/>
              </a:rPr>
              <a:t>Every automated adjustment carries a SHAP attribution; Prometheus/Grafana + CloudWatch give a full audit and performance trail.</a:t>
            </a:r>
            <a:endParaRPr lang="en-US" sz="1100" dirty="0"/>
          </a:p>
        </p:txBody>
      </p:sp>
      <p:sp>
        <p:nvSpPr>
          <p:cNvPr id="24" name="Text 22"/>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ETHICS, EXPLAINABILITY &amp; VALIDATION</a:t>
            </a:r>
            <a:endParaRPr lang="en-US" sz="900" dirty="0"/>
          </a:p>
        </p:txBody>
      </p:sp>
      <p:sp>
        <p:nvSpPr>
          <p:cNvPr id="25" name="Text 23"/>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26" name="Text 24"/>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00" kern="0" dirty="0">
                <a:solidFill>
                  <a:srgbClr val="12786B"/>
                </a:solidFill>
                <a:latin typeface="Calibri" pitchFamily="34" charset="0"/>
                <a:ea typeface="Calibri" pitchFamily="34" charset="-122"/>
                <a:cs typeface="Calibri" pitchFamily="34" charset="-120"/>
              </a:rPr>
              <a:t>ETHICS, EXPLAINABILITY &amp; VALIDATION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B3350"/>
                </a:solidFill>
                <a:latin typeface="Cambria" pitchFamily="34" charset="0"/>
                <a:ea typeface="Cambria" pitchFamily="34" charset="-122"/>
                <a:cs typeface="Cambria" pitchFamily="34" charset="-120"/>
              </a:rPr>
              <a:t>Intrinsic &amp; Extrinsic Evaluation</a:t>
            </a:r>
            <a:endParaRPr lang="en-US" sz="3000" dirty="0"/>
          </a:p>
        </p:txBody>
      </p:sp>
      <p:sp>
        <p:nvSpPr>
          <p:cNvPr id="4" name="Shape 2"/>
          <p:cNvSpPr/>
          <p:nvPr/>
        </p:nvSpPr>
        <p:spPr>
          <a:xfrm>
            <a:off x="548640" y="1508760"/>
            <a:ext cx="5440680" cy="4480560"/>
          </a:xfrm>
          <a:prstGeom prst="roundRect">
            <a:avLst>
              <a:gd name="adj" fmla="val 1837"/>
            </a:avLst>
          </a:prstGeom>
          <a:solidFill>
            <a:srgbClr val="FFFFFF"/>
          </a:solidFill>
          <a:ln w="12700">
            <a:solidFill>
              <a:srgbClr val="DCE3E7"/>
            </a:solidFill>
            <a:prstDash val="solid"/>
          </a:ln>
        </p:spPr>
      </p:sp>
      <p:sp>
        <p:nvSpPr>
          <p:cNvPr id="5" name="Shape 3"/>
          <p:cNvSpPr/>
          <p:nvPr/>
        </p:nvSpPr>
        <p:spPr>
          <a:xfrm>
            <a:off x="548640" y="1508760"/>
            <a:ext cx="5440680" cy="594360"/>
          </a:xfrm>
          <a:prstGeom prst="roundRect">
            <a:avLst>
              <a:gd name="adj" fmla="val 13846"/>
            </a:avLst>
          </a:prstGeom>
          <a:solidFill>
            <a:srgbClr val="12786B"/>
          </a:solidFill>
          <a:ln/>
        </p:spPr>
      </p:sp>
      <p:sp>
        <p:nvSpPr>
          <p:cNvPr id="6" name="Shape 4"/>
          <p:cNvSpPr/>
          <p:nvPr/>
        </p:nvSpPr>
        <p:spPr>
          <a:xfrm>
            <a:off x="548640" y="1828800"/>
            <a:ext cx="5440680" cy="274320"/>
          </a:xfrm>
          <a:prstGeom prst="rect">
            <a:avLst/>
          </a:prstGeom>
          <a:solidFill>
            <a:srgbClr val="12786B"/>
          </a:solidFill>
          <a:ln/>
        </p:spPr>
      </p:sp>
      <p:sp>
        <p:nvSpPr>
          <p:cNvPr id="7" name="Text 5"/>
          <p:cNvSpPr/>
          <p:nvPr/>
        </p:nvSpPr>
        <p:spPr>
          <a:xfrm>
            <a:off x="777240" y="1508760"/>
            <a:ext cx="5029200" cy="5943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Intrinsic Evaluation  (model-level)</a:t>
            </a:r>
            <a:endParaRPr lang="en-US" sz="1450" dirty="0"/>
          </a:p>
        </p:txBody>
      </p:sp>
      <p:sp>
        <p:nvSpPr>
          <p:cNvPr id="8" name="Text 6"/>
          <p:cNvSpPr/>
          <p:nvPr/>
        </p:nvSpPr>
        <p:spPr>
          <a:xfrm>
            <a:off x="777240" y="2331720"/>
            <a:ext cx="5029200" cy="5943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Forecast RMSE / MAE on held-out temporal test split (70/10/20)</a:t>
            </a:r>
            <a:endParaRPr lang="en-US" sz="1100" dirty="0"/>
          </a:p>
        </p:txBody>
      </p:sp>
      <p:sp>
        <p:nvSpPr>
          <p:cNvPr id="9" name="Text 7"/>
          <p:cNvSpPr/>
          <p:nvPr/>
        </p:nvSpPr>
        <p:spPr>
          <a:xfrm>
            <a:off x="777240" y="2990088"/>
            <a:ext cx="5029200" cy="5943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Risk classifier AUC / F1 per class, with SHAP consistency checks</a:t>
            </a:r>
            <a:endParaRPr lang="en-US" sz="1100" dirty="0"/>
          </a:p>
        </p:txBody>
      </p:sp>
      <p:sp>
        <p:nvSpPr>
          <p:cNvPr id="10" name="Text 8"/>
          <p:cNvSpPr/>
          <p:nvPr/>
        </p:nvSpPr>
        <p:spPr>
          <a:xfrm>
            <a:off x="777240" y="3648456"/>
            <a:ext cx="5029200" cy="5943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Anomaly precision &amp; recall vs. 23 injected ground-truth anomalies</a:t>
            </a:r>
            <a:endParaRPr lang="en-US" sz="1100" dirty="0"/>
          </a:p>
        </p:txBody>
      </p:sp>
      <p:sp>
        <p:nvSpPr>
          <p:cNvPr id="11" name="Text 9"/>
          <p:cNvSpPr/>
          <p:nvPr/>
        </p:nvSpPr>
        <p:spPr>
          <a:xfrm>
            <a:off x="777240" y="4306824"/>
            <a:ext cx="5029200" cy="5943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DQN reward-curve convergence and policy stability across episodes</a:t>
            </a:r>
            <a:endParaRPr lang="en-US" sz="1100" dirty="0"/>
          </a:p>
        </p:txBody>
      </p:sp>
      <p:sp>
        <p:nvSpPr>
          <p:cNvPr id="12" name="Text 10"/>
          <p:cNvSpPr/>
          <p:nvPr/>
        </p:nvSpPr>
        <p:spPr>
          <a:xfrm>
            <a:off x="777240" y="4965192"/>
            <a:ext cx="5029200" cy="5943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NLP categorizer confusion matrix (&gt;90% training-vocabulary accuracy)</a:t>
            </a:r>
            <a:endParaRPr lang="en-US" sz="1100" dirty="0"/>
          </a:p>
        </p:txBody>
      </p:sp>
      <p:sp>
        <p:nvSpPr>
          <p:cNvPr id="13" name="Shape 11"/>
          <p:cNvSpPr/>
          <p:nvPr/>
        </p:nvSpPr>
        <p:spPr>
          <a:xfrm>
            <a:off x="6172200" y="1508760"/>
            <a:ext cx="5440680" cy="4480560"/>
          </a:xfrm>
          <a:prstGeom prst="roundRect">
            <a:avLst>
              <a:gd name="adj" fmla="val 1837"/>
            </a:avLst>
          </a:prstGeom>
          <a:solidFill>
            <a:srgbClr val="FFFFFF"/>
          </a:solidFill>
          <a:ln w="12700">
            <a:solidFill>
              <a:srgbClr val="DCE3E7"/>
            </a:solidFill>
            <a:prstDash val="solid"/>
          </a:ln>
        </p:spPr>
      </p:sp>
      <p:sp>
        <p:nvSpPr>
          <p:cNvPr id="14" name="Shape 12"/>
          <p:cNvSpPr/>
          <p:nvPr/>
        </p:nvSpPr>
        <p:spPr>
          <a:xfrm>
            <a:off x="6172200" y="1508760"/>
            <a:ext cx="5440680" cy="594360"/>
          </a:xfrm>
          <a:prstGeom prst="roundRect">
            <a:avLst>
              <a:gd name="adj" fmla="val 13846"/>
            </a:avLst>
          </a:prstGeom>
          <a:solidFill>
            <a:srgbClr val="E3A343"/>
          </a:solidFill>
          <a:ln/>
        </p:spPr>
      </p:sp>
      <p:sp>
        <p:nvSpPr>
          <p:cNvPr id="15" name="Shape 13"/>
          <p:cNvSpPr/>
          <p:nvPr/>
        </p:nvSpPr>
        <p:spPr>
          <a:xfrm>
            <a:off x="6172200" y="1828800"/>
            <a:ext cx="5440680" cy="274320"/>
          </a:xfrm>
          <a:prstGeom prst="rect">
            <a:avLst/>
          </a:prstGeom>
          <a:solidFill>
            <a:srgbClr val="E3A343"/>
          </a:solidFill>
          <a:ln/>
        </p:spPr>
      </p:sp>
      <p:sp>
        <p:nvSpPr>
          <p:cNvPr id="16" name="Text 14"/>
          <p:cNvSpPr/>
          <p:nvPr/>
        </p:nvSpPr>
        <p:spPr>
          <a:xfrm>
            <a:off x="6400800" y="1508760"/>
            <a:ext cx="5029200" cy="594360"/>
          </a:xfrm>
          <a:prstGeom prst="rect">
            <a:avLst/>
          </a:prstGeom>
          <a:noFill/>
          <a:ln/>
        </p:spPr>
        <p:txBody>
          <a:bodyPr wrap="square" lIns="0" tIns="0" rIns="0" bIns="0" rtlCol="0" anchor="ctr"/>
          <a:lstStyle/>
          <a:p>
            <a:pPr indent="0" marL="0">
              <a:buNone/>
            </a:pPr>
            <a:r>
              <a:rPr lang="en-US" sz="1450" b="1" dirty="0">
                <a:solidFill>
                  <a:srgbClr val="0B3350"/>
                </a:solidFill>
                <a:latin typeface="Calibri" pitchFamily="34" charset="0"/>
                <a:ea typeface="Calibri" pitchFamily="34" charset="-122"/>
                <a:cs typeface="Calibri" pitchFamily="34" charset="-120"/>
              </a:rPr>
              <a:t>Extrinsic Evaluation  (real-world outcomes)</a:t>
            </a:r>
            <a:endParaRPr lang="en-US" sz="1450" dirty="0"/>
          </a:p>
        </p:txBody>
      </p:sp>
      <p:sp>
        <p:nvSpPr>
          <p:cNvPr id="17" name="Text 15"/>
          <p:cNvSpPr/>
          <p:nvPr/>
        </p:nvSpPr>
        <p:spPr>
          <a:xfrm>
            <a:off x="6400800" y="2331720"/>
            <a:ext cx="5029200" cy="5943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Savings-rate uplift toward the 15% target, tracked monthly per user</a:t>
            </a:r>
            <a:endParaRPr lang="en-US" sz="1100" dirty="0"/>
          </a:p>
        </p:txBody>
      </p:sp>
      <p:sp>
        <p:nvSpPr>
          <p:cNvPr id="18" name="Text 16"/>
          <p:cNvSpPr/>
          <p:nvPr/>
        </p:nvSpPr>
        <p:spPr>
          <a:xfrm>
            <a:off x="6400800" y="2990088"/>
            <a:ext cx="5029200" cy="5943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≥80% of recommended budget cuts accepted and sustained 3 months</a:t>
            </a:r>
            <a:endParaRPr lang="en-US" sz="1100" dirty="0"/>
          </a:p>
        </p:txBody>
      </p:sp>
      <p:sp>
        <p:nvSpPr>
          <p:cNvPr id="19" name="Text 17"/>
          <p:cNvSpPr/>
          <p:nvPr/>
        </p:nvSpPr>
        <p:spPr>
          <a:xfrm>
            <a:off x="6400800" y="3648456"/>
            <a:ext cx="5029200" cy="5943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Onboarding completion rate against the ≥75% target</a:t>
            </a:r>
            <a:endParaRPr lang="en-US" sz="1100" dirty="0"/>
          </a:p>
        </p:txBody>
      </p:sp>
      <p:sp>
        <p:nvSpPr>
          <p:cNvPr id="20" name="Text 18"/>
          <p:cNvSpPr/>
          <p:nvPr/>
        </p:nvSpPr>
        <p:spPr>
          <a:xfrm>
            <a:off x="6400800" y="4306824"/>
            <a:ext cx="5029200" cy="5943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Reduction in negative-cash-flow / overdraft incident months</a:t>
            </a:r>
            <a:endParaRPr lang="en-US" sz="1100" dirty="0"/>
          </a:p>
        </p:txBody>
      </p:sp>
      <p:sp>
        <p:nvSpPr>
          <p:cNvPr id="21" name="Text 19"/>
          <p:cNvSpPr/>
          <p:nvPr/>
        </p:nvSpPr>
        <p:spPr>
          <a:xfrm>
            <a:off x="6400800" y="4965192"/>
            <a:ext cx="5029200" cy="594360"/>
          </a:xfrm>
          <a:prstGeom prst="rect">
            <a:avLst/>
          </a:prstGeom>
          <a:noFill/>
          <a:ln/>
        </p:spPr>
        <p:txBody>
          <a:bodyPr wrap="square" lIns="0" tIns="0" rIns="0" bIns="0" rtlCol="0" anchor="ctr"/>
          <a:lstStyle/>
          <a:p>
            <a:pPr indent="0" marL="0">
              <a:lnSpc>
                <a:spcPct val="115000"/>
              </a:lnSpc>
              <a:buNone/>
            </a:pPr>
            <a:r>
              <a:rPr lang="en-US" sz="1100" dirty="0">
                <a:solidFill>
                  <a:srgbClr val="1C2B36"/>
                </a:solidFill>
                <a:latin typeface="Calibri" pitchFamily="34" charset="0"/>
                <a:ea typeface="Calibri" pitchFamily="34" charset="-122"/>
                <a:cs typeface="Calibri" pitchFamily="34" charset="-120"/>
              </a:rPr>
              <a:t>•  Zero regulatory audit findings; bias audit passed per cohort</a:t>
            </a:r>
            <a:endParaRPr lang="en-US" sz="1100" dirty="0"/>
          </a:p>
        </p:txBody>
      </p:sp>
      <p:sp>
        <p:nvSpPr>
          <p:cNvPr id="22" name="Text 2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ETHICS, EXPLAINABILITY &amp; VALIDATION</a:t>
            </a:r>
            <a:endParaRPr lang="en-US" sz="900" dirty="0"/>
          </a:p>
        </p:txBody>
      </p:sp>
      <p:sp>
        <p:nvSpPr>
          <p:cNvPr id="23" name="Text 21"/>
          <p:cNvSpPr/>
          <p:nvPr/>
        </p:nvSpPr>
        <p:spPr>
          <a:xfrm>
            <a:off x="6858000" y="6510528"/>
            <a:ext cx="484632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BudgetAI  |  AIML_CSCN8030</a:t>
            </a:r>
            <a:endParaRPr lang="en-US" sz="900" dirty="0"/>
          </a:p>
        </p:txBody>
      </p:sp>
      <p:sp>
        <p:nvSpPr>
          <p:cNvPr id="24" name="Text 22"/>
          <p:cNvSpPr/>
          <p:nvPr/>
        </p:nvSpPr>
        <p:spPr>
          <a:xfrm>
            <a:off x="11795760" y="6510528"/>
            <a:ext cx="36576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335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F30"/>
          </a:solidFill>
          <a:ln/>
        </p:spPr>
      </p:sp>
      <p:sp>
        <p:nvSpPr>
          <p:cNvPr id="3" name="Shape 1"/>
          <p:cNvSpPr/>
          <p:nvPr/>
        </p:nvSpPr>
        <p:spPr>
          <a:xfrm>
            <a:off x="8686800" y="-2560320"/>
            <a:ext cx="6400800" cy="6400800"/>
          </a:xfrm>
          <a:prstGeom prst="ellipse">
            <a:avLst/>
          </a:prstGeom>
          <a:solidFill>
            <a:srgbClr val="12786B"/>
          </a:solidFill>
          <a:ln/>
        </p:spPr>
      </p:sp>
      <p:sp>
        <p:nvSpPr>
          <p:cNvPr id="4" name="Text 2"/>
          <p:cNvSpPr/>
          <p:nvPr/>
        </p:nvSpPr>
        <p:spPr>
          <a:xfrm>
            <a:off x="731520" y="2286000"/>
            <a:ext cx="98755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Reactive Tracking to Proactive Financial Guidance</a:t>
            </a:r>
            <a:endParaRPr lang="en-US" sz="3200" dirty="0"/>
          </a:p>
        </p:txBody>
      </p:sp>
      <p:sp>
        <p:nvSpPr>
          <p:cNvPr id="5" name="Text 3"/>
          <p:cNvSpPr/>
          <p:nvPr/>
        </p:nvSpPr>
        <p:spPr>
          <a:xfrm>
            <a:off x="731520" y="3246120"/>
            <a:ext cx="8778240" cy="822960"/>
          </a:xfrm>
          <a:prstGeom prst="rect">
            <a:avLst/>
          </a:prstGeom>
          <a:noFill/>
          <a:ln/>
        </p:spPr>
        <p:txBody>
          <a:bodyPr wrap="square" lIns="0" tIns="0" rIns="0" bIns="0" rtlCol="0" anchor="ctr"/>
          <a:lstStyle/>
          <a:p>
            <a:pPr indent="0" marL="0">
              <a:lnSpc>
                <a:spcPct val="125000"/>
              </a:lnSpc>
              <a:buNone/>
            </a:pPr>
            <a:r>
              <a:rPr lang="en-US" sz="1400" dirty="0">
                <a:solidFill>
                  <a:srgbClr val="CADCE0"/>
                </a:solidFill>
                <a:latin typeface="Calibri" pitchFamily="34" charset="0"/>
                <a:ea typeface="Calibri" pitchFamily="34" charset="-122"/>
                <a:cs typeface="Calibri" pitchFamily="34" charset="-120"/>
              </a:rPr>
              <a:t>BudgetAI pairs explainable ML forecasting and risk detection with a prescriptive RL coach — built on real transaction data, evaluated against stakeholder KPIs, and designed for equitable, auditable adoption.</a:t>
            </a:r>
            <a:endParaRPr lang="en-US" sz="1400" dirty="0"/>
          </a:p>
        </p:txBody>
      </p:sp>
      <p:sp>
        <p:nvSpPr>
          <p:cNvPr id="6" name="Text 4"/>
          <p:cNvSpPr/>
          <p:nvPr/>
        </p:nvSpPr>
        <p:spPr>
          <a:xfrm>
            <a:off x="731520" y="5120640"/>
            <a:ext cx="7315200" cy="457200"/>
          </a:xfrm>
          <a:prstGeom prst="rect">
            <a:avLst/>
          </a:prstGeom>
          <a:noFill/>
          <a:ln/>
        </p:spPr>
        <p:txBody>
          <a:bodyPr wrap="square" lIns="0" tIns="0" rIns="0" bIns="0" rtlCol="0" anchor="ctr"/>
          <a:lstStyle/>
          <a:p>
            <a:pPr indent="0" marL="0">
              <a:buNone/>
            </a:pPr>
            <a:r>
              <a:rPr lang="en-US" sz="1600" b="1" dirty="0">
                <a:solidFill>
                  <a:srgbClr val="E3A343"/>
                </a:solidFill>
                <a:latin typeface="Calibri" pitchFamily="34" charset="0"/>
                <a:ea typeface="Calibri" pitchFamily="34" charset="-122"/>
                <a:cs typeface="Calibri" pitchFamily="34" charset="-120"/>
              </a:rPr>
              <a:t>Thank you  —  Questions &amp; Discussion</a:t>
            </a:r>
            <a:endParaRPr lang="en-US" sz="1600" dirty="0"/>
          </a:p>
        </p:txBody>
      </p:sp>
      <p:sp>
        <p:nvSpPr>
          <p:cNvPr id="7" name="Text 5"/>
          <p:cNvSpPr/>
          <p:nvPr/>
        </p:nvSpPr>
        <p:spPr>
          <a:xfrm>
            <a:off x="731520" y="6263640"/>
            <a:ext cx="7315200" cy="320040"/>
          </a:xfrm>
          <a:prstGeom prst="rect">
            <a:avLst/>
          </a:prstGeom>
          <a:noFill/>
          <a:ln/>
        </p:spPr>
        <p:txBody>
          <a:bodyPr wrap="square" lIns="0" tIns="0" rIns="0" bIns="0" rtlCol="0" anchor="ctr"/>
          <a:lstStyle/>
          <a:p>
            <a:pPr indent="0" marL="0">
              <a:buNone/>
            </a:pPr>
            <a:r>
              <a:rPr lang="en-US" sz="1050" dirty="0">
                <a:solidFill>
                  <a:srgbClr val="9FB4C0"/>
                </a:solidFill>
                <a:latin typeface="Calibri" pitchFamily="34" charset="0"/>
                <a:ea typeface="Calibri" pitchFamily="34" charset="-122"/>
                <a:cs typeface="Calibri" pitchFamily="34" charset="-120"/>
              </a:rPr>
              <a:t>AIML_CSCN8030 — Artificial Intelligence for Business Decisions and Transformation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2026-08-17T22:20:39Z</dcterms:created>
  <dcterms:modified xsi:type="dcterms:W3CDTF">2026-08-17T22:20:39Z</dcterms:modified>
</cp:coreProperties>
</file>